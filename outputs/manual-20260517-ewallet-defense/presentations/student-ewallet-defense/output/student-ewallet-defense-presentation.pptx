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63f6e5fc2f42fb" /><Relationship Type="http://schemas.openxmlformats.org/officeDocument/2006/relationships/extended-properties" Target="/docProps/app.xml" Id="Rd03bba2e5aaa4ac7" /><Relationship Type="http://schemas.openxmlformats.org/officeDocument/2006/relationships/officeDocument" Target="/ppt/presentation.xml" Id="Re98cf4b2ac224e8d" /></Relationships>
</file>

<file path=ppt/presentation.xml><?xml version="1.0" encoding="utf-8"?>
<p:presentation xmlns:p="http://schemas.openxmlformats.org/presentationml/2006/main">
  <p:sldMasterIdLst>
    <p:sldMasterId xmlns:r="http://schemas.openxmlformats.org/officeDocument/2006/relationships" id="2147483648" r:id="R3e061dfb3d1940e3"/>
  </p:sldMasterIdLst>
  <p:notesMasterIdLst>
    <p:notesMasterId xmlns:r="http://schemas.openxmlformats.org/officeDocument/2006/relationships" r:id="Rc670cad21ae74855"/>
  </p:notesMasterIdLst>
  <p:sldIdLst>
    <p:sldId xmlns:r="http://schemas.openxmlformats.org/officeDocument/2006/relationships" id="256" r:id="R9de6080b7e064282"/>
    <p:sldId xmlns:r="http://schemas.openxmlformats.org/officeDocument/2006/relationships" id="257" r:id="R63e2fcf1ccf34fd0"/>
    <p:sldId xmlns:r="http://schemas.openxmlformats.org/officeDocument/2006/relationships" id="258" r:id="Rdc4436a5037a45ed"/>
    <p:sldId xmlns:r="http://schemas.openxmlformats.org/officeDocument/2006/relationships" id="259" r:id="R1bdd03abc2994f7c"/>
    <p:sldId xmlns:r="http://schemas.openxmlformats.org/officeDocument/2006/relationships" id="260" r:id="R66d845baec804837"/>
    <p:sldId xmlns:r="http://schemas.openxmlformats.org/officeDocument/2006/relationships" id="261" r:id="R90c988b5433a4763"/>
    <p:sldId xmlns:r="http://schemas.openxmlformats.org/officeDocument/2006/relationships" id="262" r:id="R3e5397cc1f0c4aca"/>
    <p:sldId xmlns:r="http://schemas.openxmlformats.org/officeDocument/2006/relationships" id="263" r:id="Reeec21fda81e4a2c"/>
    <p:sldId xmlns:r="http://schemas.openxmlformats.org/officeDocument/2006/relationships" id="264" r:id="R1f0f03bcbb564c3f"/>
    <p:sldId xmlns:r="http://schemas.openxmlformats.org/officeDocument/2006/relationships" id="265" r:id="R2d95de6eabdc4a3e"/>
    <p:sldId xmlns:r="http://schemas.openxmlformats.org/officeDocument/2006/relationships" id="266" r:id="R4e93f1b0dce848d3"/>
    <p:sldId xmlns:r="http://schemas.openxmlformats.org/officeDocument/2006/relationships" id="267" r:id="Rb2e6f1e3d1cf4b10"/>
    <p:sldId xmlns:r="http://schemas.openxmlformats.org/officeDocument/2006/relationships" id="268" r:id="R9019646ffbec4f96"/>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3e061dfb3d1940e3" /><Relationship Type="http://schemas.openxmlformats.org/officeDocument/2006/relationships/theme" Target="/ppt/theme/theme1.xml" Id="R0031f0ce51a84c02" /><Relationship Type="http://schemas.openxmlformats.org/officeDocument/2006/relationships/notesMaster" Target="/ppt/notesMasters/notesMaster1.xml" Id="Rc670cad21ae74855" /><Relationship Type="http://schemas.openxmlformats.org/officeDocument/2006/relationships/presProps" Target="/ppt/presProps.xml" Id="Ra1d682ef4ac249ca" /><Relationship Type="http://schemas.openxmlformats.org/officeDocument/2006/relationships/viewProps" Target="/ppt/viewProps.xml" Id="R64edb9c4b61744e1" /><Relationship Type="http://schemas.openxmlformats.org/officeDocument/2006/relationships/tableStyles" Target="/ppt/tableStyles.xml" Id="Rc70398c5ddbe4387" /><Relationship Type="http://schemas.openxmlformats.org/officeDocument/2006/relationships/slide" Target="/ppt/slides/slide1.xml" Id="R9de6080b7e064282" /><Relationship Type="http://schemas.openxmlformats.org/officeDocument/2006/relationships/slide" Target="/ppt/slides/slide2.xml" Id="R63e2fcf1ccf34fd0" /><Relationship Type="http://schemas.openxmlformats.org/officeDocument/2006/relationships/slide" Target="/ppt/slides/slide3.xml" Id="Rdc4436a5037a45ed" /><Relationship Type="http://schemas.openxmlformats.org/officeDocument/2006/relationships/slide" Target="/ppt/slides/slide4.xml" Id="R1bdd03abc2994f7c" /><Relationship Type="http://schemas.openxmlformats.org/officeDocument/2006/relationships/slide" Target="/ppt/slides/slide5.xml" Id="R66d845baec804837" /><Relationship Type="http://schemas.openxmlformats.org/officeDocument/2006/relationships/slide" Target="/ppt/slides/slide6.xml" Id="R90c988b5433a4763" /><Relationship Type="http://schemas.openxmlformats.org/officeDocument/2006/relationships/slide" Target="/ppt/slides/slide7.xml" Id="R3e5397cc1f0c4aca" /><Relationship Type="http://schemas.openxmlformats.org/officeDocument/2006/relationships/slide" Target="/ppt/slides/slide8.xml" Id="Reeec21fda81e4a2c" /><Relationship Type="http://schemas.openxmlformats.org/officeDocument/2006/relationships/slide" Target="/ppt/slides/slide9.xml" Id="R1f0f03bcbb564c3f" /><Relationship Type="http://schemas.openxmlformats.org/officeDocument/2006/relationships/slide" Target="/ppt/slides/slide10.xml" Id="R2d95de6eabdc4a3e" /><Relationship Type="http://schemas.openxmlformats.org/officeDocument/2006/relationships/slide" Target="/ppt/slides/slide11.xml" Id="R4e93f1b0dce848d3" /><Relationship Type="http://schemas.openxmlformats.org/officeDocument/2006/relationships/slide" Target="/ppt/slides/slide12.xml" Id="Rb2e6f1e3d1cf4b10" /><Relationship Type="http://schemas.openxmlformats.org/officeDocument/2006/relationships/slide" Target="/ppt/slides/slide13.xml" Id="R9019646ffbec4f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3ac2758736b944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1ae4bf9cd84699" /><Relationship Type="http://schemas.openxmlformats.org/officeDocument/2006/relationships/notesMaster" Target="/ppt/notesMasters/notesMaster1.xml" Id="R376bf73f09794d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ed23464a1a40d9" /><Relationship Type="http://schemas.openxmlformats.org/officeDocument/2006/relationships/notesMaster" Target="/ppt/notesMasters/notesMaster1.xml" Id="R89888afb4e384f7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7e31d9136446bb" /><Relationship Type="http://schemas.openxmlformats.org/officeDocument/2006/relationships/notesMaster" Target="/ppt/notesMasters/notesMaster1.xml" Id="Re92c7784def646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0dcc527e684da1" /><Relationship Type="http://schemas.openxmlformats.org/officeDocument/2006/relationships/notesMaster" Target="/ppt/notesMasters/notesMaster1.xml" Id="R666fdbe52bd543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dbd6d13d0f4de0" /><Relationship Type="http://schemas.openxmlformats.org/officeDocument/2006/relationships/notesMaster" Target="/ppt/notesMasters/notesMaster1.xml" Id="R96b70f32449342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9bb95e0efa4a08" /><Relationship Type="http://schemas.openxmlformats.org/officeDocument/2006/relationships/notesMaster" Target="/ppt/notesMasters/notesMaster1.xml" Id="R48c99351799a4e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779b09d47ee4dfb" /><Relationship Type="http://schemas.openxmlformats.org/officeDocument/2006/relationships/notesMaster" Target="/ppt/notesMasters/notesMaster1.xml" Id="R53ea4d6567bb41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cb5d620015e4168" /><Relationship Type="http://schemas.openxmlformats.org/officeDocument/2006/relationships/notesMaster" Target="/ppt/notesMasters/notesMaster1.xml" Id="R76048c87f9d6482f" /></Relationships>
</file>

<file path=ppt/notesSlides/_rels/notesSlide9.xml.rels>&#65279;<?xml version="1.0" encoding="utf-8"?><Relationships xmlns="http://schemas.openxmlformats.org/package/2006/relationships"><Relationship Type="http://schemas.openxmlformats.org/officeDocument/2006/relationships/slide" Target="/ppt/slides/slide9.xml" Id="R3a1e643ffdac4687" /><Relationship Type="http://schemas.openxmlformats.org/officeDocument/2006/relationships/notesMaster" Target="/ppt/notesMasters/notesMaster1.xml" Id="Rbef4d6e6b16b414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7139b6f28424029" /><Relationship Type="http://schemas.openxmlformats.org/officeDocument/2006/relationships/notesMaster" Target="/ppt/notesMasters/notesMaster1.xml" Id="R9a52e4436b6a4e8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9297c89a44a4515" /><Relationship Type="http://schemas.openxmlformats.org/officeDocument/2006/relationships/notesMaster" Target="/ppt/notesMasters/notesMaster1.xml" Id="Rfa9b18c4c12e42e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ccd9a941ae4356" /><Relationship Type="http://schemas.openxmlformats.org/officeDocument/2006/relationships/notesMaster" Target="/ppt/notesMasters/notesMaster1.xml" Id="R72b6ebbd019845c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3a01849f65947a3" /><Relationship Type="http://schemas.openxmlformats.org/officeDocument/2006/relationships/notesMaster" Target="/ppt/notesMasters/notesMaster1.xml" Id="Rb299e62eee1449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21d503ab8d04dc6"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e5b8e5851e5044f1" /><Relationship Type="http://schemas.openxmlformats.org/officeDocument/2006/relationships/slideLayout" Target="/ppt/slideLayouts/slideLayout2.xml" Id="Rd203d2642f0a4f8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03d2642f0a4f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806ce43941224402" /><Relationship Type="http://schemas.openxmlformats.org/officeDocument/2006/relationships/image" Target="/ppt/media/image.png" Id="R28a2189748194a12" /><Relationship Type="http://schemas.openxmlformats.org/officeDocument/2006/relationships/notesSlide" Target="/ppt/notesSlides/notesSlide1.xml" Id="R9af87aba72eb47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16aa4d40aee44773" /><Relationship Type="http://schemas.openxmlformats.org/officeDocument/2006/relationships/notesSlide" Target="/ppt/notesSlides/notesSlide2.xml" Id="R1a841552f87d4a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bbbb77be63444987" /><Relationship Type="http://schemas.openxmlformats.org/officeDocument/2006/relationships/notesSlide" Target="/ppt/notesSlides/notesSlide3.xml" Id="Rbaa70a31cd804e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e79e5e531d184901" /><Relationship Type="http://schemas.openxmlformats.org/officeDocument/2006/relationships/notesSlide" Target="/ppt/notesSlides/notesSlide4.xml" Id="R97f83250e4bd42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dad83a4741714ba8" /><Relationship Type="http://schemas.openxmlformats.org/officeDocument/2006/relationships/notesSlide" Target="/ppt/notesSlides/notesSlide5.xml" Id="Rd62421dc7af142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20ccfabbd4774ba1" /><Relationship Type="http://schemas.openxmlformats.org/officeDocument/2006/relationships/notesSlide" Target="/ppt/notesSlides/notesSlide6.xml" Id="R43d0a0a0b2b74e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395ac85b54fd4a7c" /><Relationship Type="http://schemas.openxmlformats.org/officeDocument/2006/relationships/notesSlide" Target="/ppt/notesSlides/notesSlide7.xml" Id="R0c922623b0a846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ceb0848d4d6c4dbe" /><Relationship Type="http://schemas.openxmlformats.org/officeDocument/2006/relationships/image" Target="/ppt/media/image.jpeg" Id="R4ee35ee430b244e5" /><Relationship Type="http://schemas.openxmlformats.org/officeDocument/2006/relationships/image" Target="/ppt/media/image2.jpeg" Id="R30121bcc6a33416a" /><Relationship Type="http://schemas.openxmlformats.org/officeDocument/2006/relationships/image" Target="/ppt/media/image3.jpeg" Id="Rf6b34b7b71724b90" /><Relationship Type="http://schemas.openxmlformats.org/officeDocument/2006/relationships/image" Target="/ppt/media/image4.jpeg" Id="R7af4695b636f4b74" /><Relationship Type="http://schemas.openxmlformats.org/officeDocument/2006/relationships/image" Target="/ppt/media/image5.jpeg" Id="R5f8ae68710f44345" /><Relationship Type="http://schemas.openxmlformats.org/officeDocument/2006/relationships/image" Target="/ppt/media/image6.jpeg" Id="R8b582207d1b74965" /><Relationship Type="http://schemas.openxmlformats.org/officeDocument/2006/relationships/notesSlide" Target="/ppt/notesSlides/notesSlide8.xml" Id="Rfef0f85515dc43fb"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12eaf1c97779413c" /><Relationship Type="http://schemas.openxmlformats.org/officeDocument/2006/relationships/notesSlide" Target="/ppt/notesSlides/notesSlide9.xml" Id="Rc6a4189675e4410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4876ed94e1ab4a91" /><Relationship Type="http://schemas.openxmlformats.org/officeDocument/2006/relationships/image" Target="/ppt/media/image7.jpeg" Id="R101462fa438c4b62" /><Relationship Type="http://schemas.openxmlformats.org/officeDocument/2006/relationships/image" Target="/ppt/media/image8.jpeg" Id="R9a28e74451be4a06" /><Relationship Type="http://schemas.openxmlformats.org/officeDocument/2006/relationships/notesSlide" Target="/ppt/notesSlides/notesSlide10.xml" Id="Rbdd1f63b5c82471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c68bb555e0fd49a6" /><Relationship Type="http://schemas.openxmlformats.org/officeDocument/2006/relationships/image" Target="/ppt/media/image2.png" Id="R4c8878af1ad349ac" /><Relationship Type="http://schemas.openxmlformats.org/officeDocument/2006/relationships/image" Target="/ppt/media/image3.png" Id="Ra41f8d94e7e74d8e" /><Relationship Type="http://schemas.openxmlformats.org/officeDocument/2006/relationships/image" Target="/ppt/media/image4.png" Id="Rbbd41d0581664604" /><Relationship Type="http://schemas.openxmlformats.org/officeDocument/2006/relationships/notesSlide" Target="/ppt/notesSlides/notesSlide11.xml" Id="Rd1487f2b51154da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e6ec4d28cc0d4084" /><Relationship Type="http://schemas.openxmlformats.org/officeDocument/2006/relationships/notesSlide" Target="/ppt/notesSlides/notesSlide12.xml" Id="R6afdc10c6ae440c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b42bd7a9ef4c40ba" /><Relationship Type="http://schemas.openxmlformats.org/officeDocument/2006/relationships/image" Target="/ppt/media/image5.png" Id="R82968dc2fef546c2" /><Relationship Type="http://schemas.openxmlformats.org/officeDocument/2006/relationships/notesSlide" Target="/ppt/notesSlides/notesSlide13.xml" Id="Ra6bbec722e15425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627C74A-7CC4-4764-ACBC-10401709AB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BFBF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5D49DAF-F0BE-416C-889C-A9572FA5EB45}"/>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B3DA72D-6AF2-4A23-98FA-2B7E56BAF265}"/>
              </a:ext>
            </a:extLst>
          </p:cNvPr>
          <p:cNvSpPr>
            <a:spLocks xmlns:a="http://schemas.openxmlformats.org/drawingml/2006/main" noGrp="1"/>
          </p:cNvSpPr>
          <p:nvPr/>
        </p:nvSpPr>
        <p:spPr>
          <a:xfrm xmlns:a="http://schemas.openxmlformats.org/drawingml/2006/main">
            <a:off x="171450" y="6429375"/>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9AA1AA"/>
                </a:solidFill>
                <a:latin typeface="Aptos"/>
                <a:ea typeface="Aptos"/>
                <a:cs typeface="Aptos"/>
              </a:defRPr>
            </a:pPr>
            <a:r>
              <a:rPr sz="600" b="0">
                <a:solidFill>
                  <a:srgbClr val="9AA1AA"/>
                </a:solidFill>
                <a:latin typeface="Aptos"/>
                <a:ea typeface="Aptos"/>
                <a:cs typeface="Aptos"/>
              </a:rPr>
              <a:t>Slide 01</a:t>
            </a:r>
          </a:p>
        </p:txBody>
      </p:sp>
      <p:sp>
        <p:nvSpPr>
          <p:cNvPr id="4" name="">
            <a:extLst xmlns:a="http://schemas.openxmlformats.org/drawingml/2006/main">
              <a:ext uri="{FF2B5EF4-FFF2-40B4-BE49-F238E27FC236}">
                <a16:creationId xmlns:a16="http://schemas.microsoft.com/office/drawing/2014/main" id="{9163E319-E890-4834-A39A-E4496028E5A8}"/>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843D79BC-7AC1-4129-B9FF-B4733D2A05B1}"/>
              </a:ext>
            </a:extLst>
          </p:cNvPr>
          <p:cNvSpPr>
            <a:spLocks xmlns:a="http://schemas.openxmlformats.org/drawingml/2006/main" noGrp="1"/>
          </p:cNvSpPr>
          <p:nvPr/>
        </p:nvSpPr>
        <p:spPr>
          <a:xfrm xmlns:a="http://schemas.openxmlformats.org/drawingml/2006/main">
            <a:off x="361950" y="514350"/>
            <a:ext cx="6143625" cy="354330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0B958702-D248-4FCC-9346-8D54F6BCEF81}"/>
              </a:ext>
            </a:extLst>
          </p:cNvPr>
          <p:cNvSpPr>
            <a:spLocks xmlns:a="http://schemas.openxmlformats.org/drawingml/2006/main" noGrp="1"/>
          </p:cNvSpPr>
          <p:nvPr/>
        </p:nvSpPr>
        <p:spPr>
          <a:xfrm xmlns:a="http://schemas.openxmlformats.org/drawingml/2006/main">
            <a:off x="819150" y="323850"/>
            <a:ext cx="6143625" cy="35433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18202C"/>
            </a:solidFill>
            <a:prstDash val="solid"/>
          </a:ln>
        </p:spPr>
      </p:sp>
      <p:sp>
        <p:nvSpPr>
          <p:cNvPr id="7" name="">
            <a:extLst xmlns:a="http://schemas.openxmlformats.org/drawingml/2006/main">
              <a:ext uri="{FF2B5EF4-FFF2-40B4-BE49-F238E27FC236}">
                <a16:creationId xmlns:a16="http://schemas.microsoft.com/office/drawing/2014/main" id="{173A349C-087F-4979-98F0-08646488CAFA}"/>
              </a:ext>
            </a:extLst>
          </p:cNvPr>
          <p:cNvSpPr>
            <a:spLocks xmlns:a="http://schemas.openxmlformats.org/drawingml/2006/main" noGrp="1"/>
          </p:cNvSpPr>
          <p:nvPr/>
        </p:nvSpPr>
        <p:spPr>
          <a:xfrm xmlns:a="http://schemas.openxmlformats.org/drawingml/2006/main">
            <a:off x="10172700" y="400050"/>
            <a:ext cx="876300" cy="30480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59DD82D9-AF42-41EC-9477-7E8E2B03AA93}"/>
              </a:ext>
            </a:extLst>
          </p:cNvPr>
          <p:cNvSpPr>
            <a:spLocks xmlns:a="http://schemas.openxmlformats.org/drawingml/2006/main" noGrp="1"/>
          </p:cNvSpPr>
          <p:nvPr/>
        </p:nvSpPr>
        <p:spPr>
          <a:xfrm xmlns:a="http://schemas.openxmlformats.org/drawingml/2006/main">
            <a:off x="10267950" y="466725"/>
            <a:ext cx="6858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UNI EWALLET</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8a2189748194a12"/>
          <a:stretch xmlns:a="http://schemas.openxmlformats.org/drawingml/2006/main"/>
        </p:blipFill>
        <p:spPr>
          <a:xfrm xmlns:a="http://schemas.openxmlformats.org/drawingml/2006/main">
            <a:off x="2349306" y="1162050"/>
            <a:ext cx="2159387" cy="20955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FE46C31E-7D55-44FB-8F5F-8DE05861B018}"/>
              </a:ext>
            </a:extLst>
          </p:cNvPr>
          <p:cNvSpPr>
            <a:spLocks xmlns:a="http://schemas.openxmlformats.org/drawingml/2006/main" noGrp="1"/>
          </p:cNvSpPr>
          <p:nvPr/>
        </p:nvSpPr>
        <p:spPr>
          <a:xfrm xmlns:a="http://schemas.openxmlformats.org/drawingml/2006/main">
            <a:off x="7239000" y="1314450"/>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45B63"/>
                </a:solidFill>
                <a:latin typeface="Aptos"/>
                <a:ea typeface="Aptos"/>
                <a:cs typeface="Aptos"/>
              </a:defRPr>
            </a:pPr>
            <a:r>
              <a:rPr sz="1125" b="1">
                <a:solidFill>
                  <a:srgbClr val="F45B63"/>
                </a:solidFill>
                <a:latin typeface="Aptos"/>
                <a:ea typeface="Aptos"/>
                <a:cs typeface="Aptos"/>
              </a:rPr>
              <a:t>KHÓA LUẬN TỐT NGHIỆP</a:t>
            </a:r>
          </a:p>
        </p:txBody>
      </p:sp>
      <p:sp>
        <p:nvSpPr>
          <p:cNvPr id="11" name="">
            <a:extLst xmlns:a="http://schemas.openxmlformats.org/drawingml/2006/main">
              <a:ext uri="{FF2B5EF4-FFF2-40B4-BE49-F238E27FC236}">
                <a16:creationId xmlns:a16="http://schemas.microsoft.com/office/drawing/2014/main" id="{B57C8610-DCC9-41BD-AFC5-DACF51DA77F7}"/>
              </a:ext>
            </a:extLst>
          </p:cNvPr>
          <p:cNvSpPr>
            <a:spLocks xmlns:a="http://schemas.openxmlformats.org/drawingml/2006/main" noGrp="1"/>
          </p:cNvSpPr>
          <p:nvPr/>
        </p:nvSpPr>
        <p:spPr>
          <a:xfrm xmlns:a="http://schemas.openxmlformats.org/drawingml/2006/main">
            <a:off x="7239000" y="1676400"/>
            <a:ext cx="39052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202631"/>
                </a:solidFill>
                <a:latin typeface="Aptos Display"/>
                <a:ea typeface="Aptos Display"/>
                <a:cs typeface="Aptos Display"/>
              </a:defRPr>
            </a:pPr>
            <a:r>
              <a:rPr sz="2550" b="1">
                <a:solidFill>
                  <a:srgbClr val="202631"/>
                </a:solidFill>
                <a:latin typeface="Aptos Display"/>
                <a:ea typeface="Aptos Display"/>
                <a:cs typeface="Aptos Display"/>
              </a:rPr>
              <a:t>Xây dựng ứng dụng ví điện tử sinh viên</a:t>
            </a:r>
          </a:p>
        </p:txBody>
      </p:sp>
      <p:sp>
        <p:nvSpPr>
          <p:cNvPr id="12" name="">
            <a:extLst xmlns:a="http://schemas.openxmlformats.org/drawingml/2006/main">
              <a:ext uri="{FF2B5EF4-FFF2-40B4-BE49-F238E27FC236}">
                <a16:creationId xmlns:a16="http://schemas.microsoft.com/office/drawing/2014/main" id="{A07089BD-C86C-49DB-B57C-D66AFFFB6613}"/>
              </a:ext>
            </a:extLst>
          </p:cNvPr>
          <p:cNvSpPr>
            <a:spLocks xmlns:a="http://schemas.openxmlformats.org/drawingml/2006/main" noGrp="1"/>
          </p:cNvSpPr>
          <p:nvPr/>
        </p:nvSpPr>
        <p:spPr>
          <a:xfrm xmlns:a="http://schemas.openxmlformats.org/drawingml/2006/main">
            <a:off x="7239000" y="2724150"/>
            <a:ext cx="39052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6B7280"/>
                </a:solidFill>
                <a:latin typeface="Aptos"/>
                <a:ea typeface="Aptos"/>
                <a:cs typeface="Aptos"/>
              </a:defRPr>
            </a:pPr>
            <a:r>
              <a:rPr sz="1425" b="0">
                <a:solidFill>
                  <a:srgbClr val="6B7280"/>
                </a:solidFill>
                <a:latin typeface="Aptos"/>
                <a:ea typeface="Aptos"/>
                <a:cs typeface="Aptos"/>
              </a:rPr>
              <a:t>Hỗ trợ thanh toán phí nội bộ trường học và tích hợp AI quản lý chi tiêu</a:t>
            </a:r>
          </a:p>
        </p:txBody>
      </p:sp>
      <p:sp>
        <p:nvSpPr>
          <p:cNvPr id="13" name="">
            <a:extLst xmlns:a="http://schemas.openxmlformats.org/drawingml/2006/main">
              <a:ext uri="{FF2B5EF4-FFF2-40B4-BE49-F238E27FC236}">
                <a16:creationId xmlns:a16="http://schemas.microsoft.com/office/drawing/2014/main" id="{E44EBBDF-F1D3-48E4-8054-E385C3AACD3C}"/>
              </a:ext>
            </a:extLst>
          </p:cNvPr>
          <p:cNvSpPr>
            <a:spLocks xmlns:a="http://schemas.openxmlformats.org/drawingml/2006/main" noGrp="1"/>
          </p:cNvSpPr>
          <p:nvPr/>
        </p:nvSpPr>
        <p:spPr>
          <a:xfrm xmlns:a="http://schemas.openxmlformats.org/drawingml/2006/main">
            <a:off x="7239000" y="3762375"/>
            <a:ext cx="3067050" cy="38100"/>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0271030D-DBE9-479F-9CD0-CA0CC7E6118C}"/>
              </a:ext>
            </a:extLst>
          </p:cNvPr>
          <p:cNvSpPr>
            <a:spLocks xmlns:a="http://schemas.openxmlformats.org/drawingml/2006/main" noGrp="1"/>
          </p:cNvSpPr>
          <p:nvPr/>
        </p:nvSpPr>
        <p:spPr>
          <a:xfrm xmlns:a="http://schemas.openxmlformats.org/drawingml/2006/main">
            <a:off x="7239000" y="4000500"/>
            <a:ext cx="40005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202631"/>
                </a:solidFill>
                <a:latin typeface="Aptos"/>
                <a:ea typeface="Aptos"/>
                <a:cs typeface="Aptos"/>
              </a:defRPr>
            </a:pPr>
            <a:r>
              <a:rPr sz="1275" b="0">
                <a:solidFill>
                  <a:srgbClr val="202631"/>
                </a:solidFill>
                <a:latin typeface="Aptos"/>
                <a:ea typeface="Aptos"/>
                <a:cs typeface="Aptos"/>
              </a:rPr>
              <a:t>SVTH: Mạc Văn Vinh - 28211152394</a:t>
            </a:r>
          </a:p>
          <a:p xmlns:a="http://schemas.openxmlformats.org/drawingml/2006/main">
            <a:pPr algn="l">
              <a:defRPr sz="1275" b="0">
                <a:solidFill>
                  <a:srgbClr val="202631"/>
                </a:solidFill>
                <a:latin typeface="Aptos"/>
                <a:ea typeface="Aptos"/>
                <a:cs typeface="Aptos"/>
              </a:defRPr>
            </a:pPr>
            <a:r>
              <a:rPr sz="1275" b="0">
                <a:solidFill>
                  <a:srgbClr val="202631"/>
                </a:solidFill>
                <a:latin typeface="Aptos"/>
                <a:ea typeface="Aptos"/>
                <a:cs typeface="Aptos"/>
              </a:rPr>
              <a:t>GVHD: Th.S Nguyễn Mạnh Đức</a:t>
            </a:r>
          </a:p>
          <a:p xmlns:a="http://schemas.openxmlformats.org/drawingml/2006/main">
            <a:pPr algn="l">
              <a:defRPr sz="1275" b="0">
                <a:solidFill>
                  <a:srgbClr val="202631"/>
                </a:solidFill>
                <a:latin typeface="Aptos"/>
                <a:ea typeface="Aptos"/>
                <a:cs typeface="Aptos"/>
              </a:defRPr>
            </a:pPr>
            <a:r>
              <a:rPr sz="1275" b="0">
                <a:solidFill>
                  <a:srgbClr val="202631"/>
                </a:solidFill>
                <a:latin typeface="Aptos"/>
                <a:ea typeface="Aptos"/>
                <a:cs typeface="Aptos"/>
              </a:rPr>
              <a:t>Đà Nẵng, 06/2026</a:t>
            </a:r>
          </a:p>
        </p:txBody>
      </p:sp>
      <p:sp>
        <p:nvSpPr>
          <p:cNvPr id="15" name="">
            <a:extLst xmlns:a="http://schemas.openxmlformats.org/drawingml/2006/main">
              <a:ext uri="{FF2B5EF4-FFF2-40B4-BE49-F238E27FC236}">
                <a16:creationId xmlns:a16="http://schemas.microsoft.com/office/drawing/2014/main" id="{C44A0CCD-AF4F-4581-AE14-4E15CD60F611}"/>
              </a:ext>
            </a:extLst>
          </p:cNvPr>
          <p:cNvSpPr>
            <a:spLocks xmlns:a="http://schemas.openxmlformats.org/drawingml/2006/main" noGrp="1"/>
          </p:cNvSpPr>
          <p:nvPr/>
        </p:nvSpPr>
        <p:spPr>
          <a:xfrm xmlns:a="http://schemas.openxmlformats.org/drawingml/2006/main">
            <a:off x="8953500" y="5829300"/>
            <a:ext cx="2571750" cy="13335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Tree>
    <p:extLst>
      <p:ext uri="{BB962C8B-B14F-4D97-AF65-F5344CB8AC3E}">
        <p14:creationId xmlns:p14="http://schemas.microsoft.com/office/powerpoint/2010/main" val="59622583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E6A3ED1-D364-4F68-8494-8411A83012F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BFBF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FBFDDB4-9399-43FA-8AE8-C70355643DDB}"/>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8CC72EC-C826-415B-BAB0-44281F4935B8}"/>
              </a:ext>
            </a:extLst>
          </p:cNvPr>
          <p:cNvSpPr>
            <a:spLocks xmlns:a="http://schemas.openxmlformats.org/drawingml/2006/main" noGrp="1"/>
          </p:cNvSpPr>
          <p:nvPr/>
        </p:nvSpPr>
        <p:spPr>
          <a:xfrm xmlns:a="http://schemas.openxmlformats.org/drawingml/2006/main">
            <a:off x="171450" y="6429375"/>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9AA1AA"/>
                </a:solidFill>
                <a:latin typeface="Aptos"/>
                <a:ea typeface="Aptos"/>
                <a:cs typeface="Aptos"/>
              </a:defRPr>
            </a:pPr>
            <a:r>
              <a:rPr sz="600" b="0">
                <a:solidFill>
                  <a:srgbClr val="9AA1AA"/>
                </a:solidFill>
                <a:latin typeface="Aptos"/>
                <a:ea typeface="Aptos"/>
                <a:cs typeface="Aptos"/>
              </a:rPr>
              <a:t>Slide 02</a:t>
            </a:r>
          </a:p>
        </p:txBody>
      </p:sp>
      <p:sp>
        <p:nvSpPr>
          <p:cNvPr id="4" name="">
            <a:extLst xmlns:a="http://schemas.openxmlformats.org/drawingml/2006/main">
              <a:ext uri="{FF2B5EF4-FFF2-40B4-BE49-F238E27FC236}">
                <a16:creationId xmlns:a16="http://schemas.microsoft.com/office/drawing/2014/main" id="{8787A7CA-FCCB-4992-A47A-362983A9F931}"/>
              </a:ext>
            </a:extLst>
          </p:cNvPr>
          <p:cNvSpPr>
            <a:spLocks xmlns:a="http://schemas.openxmlformats.org/drawingml/2006/main" noGrp="1"/>
          </p:cNvSpPr>
          <p:nvPr/>
        </p:nvSpPr>
        <p:spPr>
          <a:xfrm xmlns:a="http://schemas.openxmlformats.org/drawingml/2006/main">
            <a:off x="6334125" y="628650"/>
            <a:ext cx="2095500" cy="876300"/>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D88281AC-E7A2-4A6F-8944-AE2C4578B19C}"/>
              </a:ext>
            </a:extLst>
          </p:cNvPr>
          <p:cNvSpPr>
            <a:spLocks xmlns:a="http://schemas.openxmlformats.org/drawingml/2006/main" noGrp="1"/>
          </p:cNvSpPr>
          <p:nvPr/>
        </p:nvSpPr>
        <p:spPr>
          <a:xfrm xmlns:a="http://schemas.openxmlformats.org/drawingml/2006/main">
            <a:off x="6105525" y="495300"/>
            <a:ext cx="2095500" cy="8763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AAB0B8"/>
            </a:solidFill>
            <a:prstDash val="solid"/>
          </a:ln>
        </p:spPr>
      </p:sp>
      <p:sp>
        <p:nvSpPr>
          <p:cNvPr id="6" name="">
            <a:extLst xmlns:a="http://schemas.openxmlformats.org/drawingml/2006/main">
              <a:ext uri="{FF2B5EF4-FFF2-40B4-BE49-F238E27FC236}">
                <a16:creationId xmlns:a16="http://schemas.microsoft.com/office/drawing/2014/main" id="{D4DB475D-0192-4245-B11C-EDBA74A50FE7}"/>
              </a:ext>
            </a:extLst>
          </p:cNvPr>
          <p:cNvSpPr>
            <a:spLocks xmlns:a="http://schemas.openxmlformats.org/drawingml/2006/main" noGrp="1"/>
          </p:cNvSpPr>
          <p:nvPr/>
        </p:nvSpPr>
        <p:spPr>
          <a:xfrm xmlns:a="http://schemas.openxmlformats.org/drawingml/2006/main">
            <a:off x="6572250" y="914400"/>
            <a:ext cx="1428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725" b="1">
                <a:solidFill>
                  <a:srgbClr val="FFFFFF"/>
                </a:solidFill>
                <a:latin typeface="Aptos"/>
                <a:ea typeface="Aptos"/>
                <a:cs typeface="Aptos"/>
              </a:defRPr>
            </a:pPr>
            <a:r>
              <a:rPr sz="1725" b="1">
                <a:solidFill>
                  <a:srgbClr val="FFFFFF"/>
                </a:solidFill>
                <a:latin typeface="Aptos"/>
                <a:ea typeface="Aptos"/>
                <a:cs typeface="Aptos"/>
              </a:rPr>
              <a:t>NỘI DUNG</a:t>
            </a:r>
          </a:p>
        </p:txBody>
      </p:sp>
      <p:sp>
        <p:nvSpPr>
          <p:cNvPr id="7" name="">
            <a:extLst xmlns:a="http://schemas.openxmlformats.org/drawingml/2006/main">
              <a:ext uri="{FF2B5EF4-FFF2-40B4-BE49-F238E27FC236}">
                <a16:creationId xmlns:a16="http://schemas.microsoft.com/office/drawing/2014/main" id="{A95EC55D-9710-40CD-B06E-5B1687F8FDA3}"/>
              </a:ext>
            </a:extLst>
          </p:cNvPr>
          <p:cNvSpPr>
            <a:spLocks xmlns:a="http://schemas.openxmlformats.org/drawingml/2006/main" noGrp="1"/>
          </p:cNvSpPr>
          <p:nvPr/>
        </p:nvSpPr>
        <p:spPr>
          <a:xfrm xmlns:a="http://schemas.openxmlformats.org/drawingml/2006/main">
            <a:off x="2781300" y="2000250"/>
            <a:ext cx="400050" cy="40005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DC6ACEEB-0B7C-4DC4-B3F0-8F153F9498D7}"/>
              </a:ext>
            </a:extLst>
          </p:cNvPr>
          <p:cNvSpPr>
            <a:spLocks xmlns:a="http://schemas.openxmlformats.org/drawingml/2006/main" noGrp="1"/>
          </p:cNvSpPr>
          <p:nvPr/>
        </p:nvSpPr>
        <p:spPr>
          <a:xfrm xmlns:a="http://schemas.openxmlformats.org/drawingml/2006/main">
            <a:off x="2857500" y="2066925"/>
            <a:ext cx="247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2B5CD250-A00B-48B1-85A4-EB6141F41EED}"/>
              </a:ext>
            </a:extLst>
          </p:cNvPr>
          <p:cNvSpPr>
            <a:spLocks xmlns:a="http://schemas.openxmlformats.org/drawingml/2006/main" noGrp="1"/>
          </p:cNvSpPr>
          <p:nvPr/>
        </p:nvSpPr>
        <p:spPr>
          <a:xfrm xmlns:a="http://schemas.openxmlformats.org/drawingml/2006/main">
            <a:off x="3371850" y="2076450"/>
            <a:ext cx="4286250" cy="24765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B7A12F0F-BC1C-4F3C-8971-B64C527EEA0A}"/>
              </a:ext>
            </a:extLst>
          </p:cNvPr>
          <p:cNvSpPr>
            <a:spLocks xmlns:a="http://schemas.openxmlformats.org/drawingml/2006/main" noGrp="1"/>
          </p:cNvSpPr>
          <p:nvPr/>
        </p:nvSpPr>
        <p:spPr>
          <a:xfrm xmlns:a="http://schemas.openxmlformats.org/drawingml/2006/main">
            <a:off x="3562350" y="2124075"/>
            <a:ext cx="3810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BỐI CẢNH &amp; LÝ DO CHỌN ĐỀ TÀI</a:t>
            </a:r>
          </a:p>
        </p:txBody>
      </p:sp>
      <p:sp>
        <p:nvSpPr>
          <p:cNvPr id="11" name="">
            <a:extLst xmlns:a="http://schemas.openxmlformats.org/drawingml/2006/main">
              <a:ext uri="{FF2B5EF4-FFF2-40B4-BE49-F238E27FC236}">
                <a16:creationId xmlns:a16="http://schemas.microsoft.com/office/drawing/2014/main" id="{14562C64-C316-4428-A023-C8AB7258841C}"/>
              </a:ext>
            </a:extLst>
          </p:cNvPr>
          <p:cNvSpPr>
            <a:spLocks xmlns:a="http://schemas.openxmlformats.org/drawingml/2006/main" noGrp="1"/>
          </p:cNvSpPr>
          <p:nvPr/>
        </p:nvSpPr>
        <p:spPr>
          <a:xfrm xmlns:a="http://schemas.openxmlformats.org/drawingml/2006/main">
            <a:off x="2781300" y="2667000"/>
            <a:ext cx="400050" cy="400050"/>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3FA87D38-C925-4B4A-97C3-433E75B9BF77}"/>
              </a:ext>
            </a:extLst>
          </p:cNvPr>
          <p:cNvSpPr>
            <a:spLocks xmlns:a="http://schemas.openxmlformats.org/drawingml/2006/main" noGrp="1"/>
          </p:cNvSpPr>
          <p:nvPr/>
        </p:nvSpPr>
        <p:spPr>
          <a:xfrm xmlns:a="http://schemas.openxmlformats.org/drawingml/2006/main">
            <a:off x="2857500" y="2733675"/>
            <a:ext cx="247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E67A9F28-BB9D-465C-8B8D-EA4BBAB6DEBE}"/>
              </a:ext>
            </a:extLst>
          </p:cNvPr>
          <p:cNvSpPr>
            <a:spLocks xmlns:a="http://schemas.openxmlformats.org/drawingml/2006/main" noGrp="1"/>
          </p:cNvSpPr>
          <p:nvPr/>
        </p:nvSpPr>
        <p:spPr>
          <a:xfrm xmlns:a="http://schemas.openxmlformats.org/drawingml/2006/main">
            <a:off x="3371850" y="2743200"/>
            <a:ext cx="4286250" cy="247650"/>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9475DC17-E714-43A2-81A8-FF34AD48AF47}"/>
              </a:ext>
            </a:extLst>
          </p:cNvPr>
          <p:cNvSpPr>
            <a:spLocks xmlns:a="http://schemas.openxmlformats.org/drawingml/2006/main" noGrp="1"/>
          </p:cNvSpPr>
          <p:nvPr/>
        </p:nvSpPr>
        <p:spPr>
          <a:xfrm xmlns:a="http://schemas.openxmlformats.org/drawingml/2006/main">
            <a:off x="3562350" y="2790825"/>
            <a:ext cx="3810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MỤC TIÊU, PHẠM VI, ĐỐI TƯỢNG</a:t>
            </a:r>
          </a:p>
        </p:txBody>
      </p:sp>
      <p:sp>
        <p:nvSpPr>
          <p:cNvPr id="15" name="">
            <a:extLst xmlns:a="http://schemas.openxmlformats.org/drawingml/2006/main">
              <a:ext uri="{FF2B5EF4-FFF2-40B4-BE49-F238E27FC236}">
                <a16:creationId xmlns:a16="http://schemas.microsoft.com/office/drawing/2014/main" id="{3922092B-D97E-4690-8B66-788FBD48763C}"/>
              </a:ext>
            </a:extLst>
          </p:cNvPr>
          <p:cNvSpPr>
            <a:spLocks xmlns:a="http://schemas.openxmlformats.org/drawingml/2006/main" noGrp="1"/>
          </p:cNvSpPr>
          <p:nvPr/>
        </p:nvSpPr>
        <p:spPr>
          <a:xfrm xmlns:a="http://schemas.openxmlformats.org/drawingml/2006/main">
            <a:off x="2781300" y="3333750"/>
            <a:ext cx="400050" cy="40005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63C9277E-7DB8-4F8E-9B7F-1A2BF74A5447}"/>
              </a:ext>
            </a:extLst>
          </p:cNvPr>
          <p:cNvSpPr>
            <a:spLocks xmlns:a="http://schemas.openxmlformats.org/drawingml/2006/main" noGrp="1"/>
          </p:cNvSpPr>
          <p:nvPr/>
        </p:nvSpPr>
        <p:spPr>
          <a:xfrm xmlns:a="http://schemas.openxmlformats.org/drawingml/2006/main">
            <a:off x="2857500" y="3400425"/>
            <a:ext cx="247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3</a:t>
            </a:r>
          </a:p>
        </p:txBody>
      </p:sp>
      <p:sp>
        <p:nvSpPr>
          <p:cNvPr id="17" name="">
            <a:extLst xmlns:a="http://schemas.openxmlformats.org/drawingml/2006/main">
              <a:ext uri="{FF2B5EF4-FFF2-40B4-BE49-F238E27FC236}">
                <a16:creationId xmlns:a16="http://schemas.microsoft.com/office/drawing/2014/main" id="{6EFAA67B-E60D-4240-8759-53367BE73D1E}"/>
              </a:ext>
            </a:extLst>
          </p:cNvPr>
          <p:cNvSpPr>
            <a:spLocks xmlns:a="http://schemas.openxmlformats.org/drawingml/2006/main" noGrp="1"/>
          </p:cNvSpPr>
          <p:nvPr/>
        </p:nvSpPr>
        <p:spPr>
          <a:xfrm xmlns:a="http://schemas.openxmlformats.org/drawingml/2006/main">
            <a:off x="3371850" y="3409950"/>
            <a:ext cx="4286250" cy="24765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627E353B-9C0E-4376-81F9-8441B3DEDC32}"/>
              </a:ext>
            </a:extLst>
          </p:cNvPr>
          <p:cNvSpPr>
            <a:spLocks xmlns:a="http://schemas.openxmlformats.org/drawingml/2006/main" noGrp="1"/>
          </p:cNvSpPr>
          <p:nvPr/>
        </p:nvSpPr>
        <p:spPr>
          <a:xfrm xmlns:a="http://schemas.openxmlformats.org/drawingml/2006/main">
            <a:off x="3562350" y="3457575"/>
            <a:ext cx="3810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PHÂN TÍCH USE CASE &amp; GIẢI PHÁP</a:t>
            </a:r>
          </a:p>
        </p:txBody>
      </p:sp>
      <p:sp>
        <p:nvSpPr>
          <p:cNvPr id="19" name="">
            <a:extLst xmlns:a="http://schemas.openxmlformats.org/drawingml/2006/main">
              <a:ext uri="{FF2B5EF4-FFF2-40B4-BE49-F238E27FC236}">
                <a16:creationId xmlns:a16="http://schemas.microsoft.com/office/drawing/2014/main" id="{20B307DD-B1C8-402E-B0D3-B713B509295B}"/>
              </a:ext>
            </a:extLst>
          </p:cNvPr>
          <p:cNvSpPr>
            <a:spLocks xmlns:a="http://schemas.openxmlformats.org/drawingml/2006/main" noGrp="1"/>
          </p:cNvSpPr>
          <p:nvPr/>
        </p:nvSpPr>
        <p:spPr>
          <a:xfrm xmlns:a="http://schemas.openxmlformats.org/drawingml/2006/main">
            <a:off x="2781300" y="4000500"/>
            <a:ext cx="400050" cy="400050"/>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967A3EF8-1FB6-43A2-B269-0F7A860943A5}"/>
              </a:ext>
            </a:extLst>
          </p:cNvPr>
          <p:cNvSpPr>
            <a:spLocks xmlns:a="http://schemas.openxmlformats.org/drawingml/2006/main" noGrp="1"/>
          </p:cNvSpPr>
          <p:nvPr/>
        </p:nvSpPr>
        <p:spPr>
          <a:xfrm xmlns:a="http://schemas.openxmlformats.org/drawingml/2006/main">
            <a:off x="2857500" y="4067175"/>
            <a:ext cx="247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4</a:t>
            </a:r>
          </a:p>
        </p:txBody>
      </p:sp>
      <p:sp>
        <p:nvSpPr>
          <p:cNvPr id="21" name="">
            <a:extLst xmlns:a="http://schemas.openxmlformats.org/drawingml/2006/main">
              <a:ext uri="{FF2B5EF4-FFF2-40B4-BE49-F238E27FC236}">
                <a16:creationId xmlns:a16="http://schemas.microsoft.com/office/drawing/2014/main" id="{5D668E5B-6231-4021-9769-CCE9E80EDD17}"/>
              </a:ext>
            </a:extLst>
          </p:cNvPr>
          <p:cNvSpPr>
            <a:spLocks xmlns:a="http://schemas.openxmlformats.org/drawingml/2006/main" noGrp="1"/>
          </p:cNvSpPr>
          <p:nvPr/>
        </p:nvSpPr>
        <p:spPr>
          <a:xfrm xmlns:a="http://schemas.openxmlformats.org/drawingml/2006/main">
            <a:off x="3371850" y="4076700"/>
            <a:ext cx="4286250" cy="247650"/>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F1E7FC1E-924D-4616-A1E3-E87041095D76}"/>
              </a:ext>
            </a:extLst>
          </p:cNvPr>
          <p:cNvSpPr>
            <a:spLocks xmlns:a="http://schemas.openxmlformats.org/drawingml/2006/main" noGrp="1"/>
          </p:cNvSpPr>
          <p:nvPr/>
        </p:nvSpPr>
        <p:spPr>
          <a:xfrm xmlns:a="http://schemas.openxmlformats.org/drawingml/2006/main">
            <a:off x="3562350" y="4124325"/>
            <a:ext cx="3810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KIẾN TRÚC, CSDL, TRIỂN KHAI</a:t>
            </a:r>
          </a:p>
        </p:txBody>
      </p:sp>
      <p:sp>
        <p:nvSpPr>
          <p:cNvPr id="23" name="">
            <a:extLst xmlns:a="http://schemas.openxmlformats.org/drawingml/2006/main">
              <a:ext uri="{FF2B5EF4-FFF2-40B4-BE49-F238E27FC236}">
                <a16:creationId xmlns:a16="http://schemas.microsoft.com/office/drawing/2014/main" id="{FA4EF2B6-DBFF-4FC6-9C96-D39B6F6D3AA1}"/>
              </a:ext>
            </a:extLst>
          </p:cNvPr>
          <p:cNvSpPr>
            <a:spLocks xmlns:a="http://schemas.openxmlformats.org/drawingml/2006/main" noGrp="1"/>
          </p:cNvSpPr>
          <p:nvPr/>
        </p:nvSpPr>
        <p:spPr>
          <a:xfrm xmlns:a="http://schemas.openxmlformats.org/drawingml/2006/main">
            <a:off x="2781300" y="4667250"/>
            <a:ext cx="400050" cy="40005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420E3EB5-D2A8-4607-B55D-D9A0A069B0A5}"/>
              </a:ext>
            </a:extLst>
          </p:cNvPr>
          <p:cNvSpPr>
            <a:spLocks xmlns:a="http://schemas.openxmlformats.org/drawingml/2006/main" noGrp="1"/>
          </p:cNvSpPr>
          <p:nvPr/>
        </p:nvSpPr>
        <p:spPr>
          <a:xfrm xmlns:a="http://schemas.openxmlformats.org/drawingml/2006/main">
            <a:off x="2857500" y="4733925"/>
            <a:ext cx="247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9511F86C-DAF7-4446-B1D9-E51D3D4C59AA}"/>
              </a:ext>
            </a:extLst>
          </p:cNvPr>
          <p:cNvSpPr>
            <a:spLocks xmlns:a="http://schemas.openxmlformats.org/drawingml/2006/main" noGrp="1"/>
          </p:cNvSpPr>
          <p:nvPr/>
        </p:nvSpPr>
        <p:spPr>
          <a:xfrm xmlns:a="http://schemas.openxmlformats.org/drawingml/2006/main">
            <a:off x="3371850" y="4743450"/>
            <a:ext cx="4286250" cy="24765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6C06E3D8-2AA3-4A85-AEA9-A335A82CB111}"/>
              </a:ext>
            </a:extLst>
          </p:cNvPr>
          <p:cNvSpPr>
            <a:spLocks xmlns:a="http://schemas.openxmlformats.org/drawingml/2006/main" noGrp="1"/>
          </p:cNvSpPr>
          <p:nvPr/>
        </p:nvSpPr>
        <p:spPr>
          <a:xfrm xmlns:a="http://schemas.openxmlformats.org/drawingml/2006/main">
            <a:off x="3562350" y="4791075"/>
            <a:ext cx="3810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KẾT QUẢ, HẠN CHẾ, HƯỚNG PHÁT TRIỂN</a:t>
            </a:r>
          </a:p>
        </p:txBody>
      </p:sp>
    </p:spTree>
    <p:extLst>
      <p:ext uri="{BB962C8B-B14F-4D97-AF65-F5344CB8AC3E}">
        <p14:creationId xmlns:p14="http://schemas.microsoft.com/office/powerpoint/2010/main" val="140602381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427E5EB-6652-4120-8ACD-51B18E50458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BFBF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195C27F-93A0-4A0A-8A37-47B7BA98E8A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FE29E52-1F27-442E-AE1F-06972444B4C7}"/>
              </a:ext>
            </a:extLst>
          </p:cNvPr>
          <p:cNvSpPr>
            <a:spLocks xmlns:a="http://schemas.openxmlformats.org/drawingml/2006/main" noGrp="1"/>
          </p:cNvSpPr>
          <p:nvPr/>
        </p:nvSpPr>
        <p:spPr>
          <a:xfrm xmlns:a="http://schemas.openxmlformats.org/drawingml/2006/main">
            <a:off x="0" y="6191250"/>
            <a:ext cx="12192000" cy="9525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46CA6C10-76BB-4CBF-918D-3603B008B861}"/>
              </a:ext>
            </a:extLst>
          </p:cNvPr>
          <p:cNvSpPr>
            <a:spLocks xmlns:a="http://schemas.openxmlformats.org/drawingml/2006/main" noGrp="1"/>
          </p:cNvSpPr>
          <p:nvPr/>
        </p:nvSpPr>
        <p:spPr>
          <a:xfrm xmlns:a="http://schemas.openxmlformats.org/drawingml/2006/main">
            <a:off x="171450" y="6429375"/>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9AA1AA"/>
                </a:solidFill>
                <a:latin typeface="Aptos"/>
                <a:ea typeface="Aptos"/>
                <a:cs typeface="Aptos"/>
              </a:defRPr>
            </a:pPr>
            <a:r>
              <a:rPr sz="600" b="0">
                <a:solidFill>
                  <a:srgbClr val="9AA1AA"/>
                </a:solidFill>
                <a:latin typeface="Aptos"/>
                <a:ea typeface="Aptos"/>
                <a:cs typeface="Aptos"/>
              </a:rPr>
              <a:t>Slide 03</a:t>
            </a:r>
          </a:p>
        </p:txBody>
      </p:sp>
      <p:sp>
        <p:nvSpPr>
          <p:cNvPr id="5" name="">
            <a:extLst xmlns:a="http://schemas.openxmlformats.org/drawingml/2006/main">
              <a:ext uri="{FF2B5EF4-FFF2-40B4-BE49-F238E27FC236}">
                <a16:creationId xmlns:a16="http://schemas.microsoft.com/office/drawing/2014/main" id="{8DC6D77E-C3AB-4055-8E69-70449F0CE921}"/>
              </a:ext>
            </a:extLst>
          </p:cNvPr>
          <p:cNvSpPr>
            <a:spLocks xmlns:a="http://schemas.openxmlformats.org/drawingml/2006/main" noGrp="1"/>
          </p:cNvSpPr>
          <p:nvPr/>
        </p:nvSpPr>
        <p:spPr>
          <a:xfrm xmlns:a="http://schemas.openxmlformats.org/drawingml/2006/main">
            <a:off x="685800" y="447675"/>
            <a:ext cx="152400" cy="15240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E49868DC-3590-4ABE-9874-A69C9C39E1E5}"/>
              </a:ext>
            </a:extLst>
          </p:cNvPr>
          <p:cNvSpPr>
            <a:spLocks xmlns:a="http://schemas.openxmlformats.org/drawingml/2006/main" noGrp="1"/>
          </p:cNvSpPr>
          <p:nvPr/>
        </p:nvSpPr>
        <p:spPr>
          <a:xfrm xmlns:a="http://schemas.openxmlformats.org/drawingml/2006/main">
            <a:off x="933450" y="400050"/>
            <a:ext cx="3143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6B7280"/>
                </a:solidFill>
                <a:latin typeface="Aptos"/>
                <a:ea typeface="Aptos"/>
                <a:cs typeface="Aptos"/>
              </a:defRPr>
            </a:pPr>
            <a:r>
              <a:rPr sz="975" b="1">
                <a:solidFill>
                  <a:srgbClr val="6B7280"/>
                </a:solidFill>
                <a:latin typeface="Aptos"/>
                <a:ea typeface="Aptos"/>
                <a:cs typeface="Aptos"/>
              </a:rPr>
              <a:t>BỐI CẢNH</a:t>
            </a:r>
          </a:p>
        </p:txBody>
      </p:sp>
      <p:sp>
        <p:nvSpPr>
          <p:cNvPr id="7" name="">
            <a:extLst xmlns:a="http://schemas.openxmlformats.org/drawingml/2006/main">
              <a:ext uri="{FF2B5EF4-FFF2-40B4-BE49-F238E27FC236}">
                <a16:creationId xmlns:a16="http://schemas.microsoft.com/office/drawing/2014/main" id="{A5236A81-ECBD-4D37-9954-510E693D2EC2}"/>
              </a:ext>
            </a:extLst>
          </p:cNvPr>
          <p:cNvSpPr>
            <a:spLocks xmlns:a="http://schemas.openxmlformats.org/drawingml/2006/main" noGrp="1"/>
          </p:cNvSpPr>
          <p:nvPr/>
        </p:nvSpPr>
        <p:spPr>
          <a:xfrm xmlns:a="http://schemas.openxmlformats.org/drawingml/2006/main">
            <a:off x="685800" y="685800"/>
            <a:ext cx="93345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45B63"/>
                </a:solidFill>
                <a:latin typeface="Aptos Display"/>
                <a:ea typeface="Aptos Display"/>
                <a:cs typeface="Aptos Display"/>
              </a:defRPr>
            </a:pPr>
            <a:r>
              <a:rPr sz="2550" b="1">
                <a:solidFill>
                  <a:srgbClr val="F45B63"/>
                </a:solidFill>
                <a:latin typeface="Aptos Display"/>
                <a:ea typeface="Aptos Display"/>
                <a:cs typeface="Aptos Display"/>
              </a:rPr>
              <a:t>Thanh toán nội bộ trường học cần một ví sinh viên chuyên biệt.</a:t>
            </a:r>
          </a:p>
        </p:txBody>
      </p:sp>
      <p:sp>
        <p:nvSpPr>
          <p:cNvPr id="8" name="">
            <a:extLst xmlns:a="http://schemas.openxmlformats.org/drawingml/2006/main">
              <a:ext uri="{FF2B5EF4-FFF2-40B4-BE49-F238E27FC236}">
                <a16:creationId xmlns:a16="http://schemas.microsoft.com/office/drawing/2014/main" id="{94C82E2A-961E-44C0-BAF7-FF53AAEB7097}"/>
              </a:ext>
            </a:extLst>
          </p:cNvPr>
          <p:cNvSpPr>
            <a:spLocks xmlns:a="http://schemas.openxmlformats.org/drawingml/2006/main" noGrp="1"/>
          </p:cNvSpPr>
          <p:nvPr/>
        </p:nvSpPr>
        <p:spPr>
          <a:xfrm xmlns:a="http://schemas.openxmlformats.org/drawingml/2006/main">
            <a:off x="685800" y="1485900"/>
            <a:ext cx="10763250" cy="19050"/>
          </a:xfrm>
          <a:prstGeom xmlns:a="http://schemas.openxmlformats.org/drawingml/2006/main" prst="rect">
            <a:avLst/>
          </a:prstGeom>
          <a:solidFill xmlns:a="http://schemas.openxmlformats.org/drawingml/2006/main">
            <a:srgbClr val="EEF1F5"/>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F963775F-2C99-4532-BADC-3471427195B9}"/>
              </a:ext>
            </a:extLst>
          </p:cNvPr>
          <p:cNvSpPr>
            <a:spLocks xmlns:a="http://schemas.openxmlformats.org/drawingml/2006/main" noGrp="1"/>
          </p:cNvSpPr>
          <p:nvPr/>
        </p:nvSpPr>
        <p:spPr>
          <a:xfrm xmlns:a="http://schemas.openxmlformats.org/drawingml/2006/main">
            <a:off x="685800" y="1981200"/>
            <a:ext cx="3190875" cy="1676400"/>
          </a:xfrm>
          <a:prstGeom xmlns:a="http://schemas.openxmlformats.org/drawingml/2006/main" prst="rect">
            <a:avLst/>
          </a:prstGeom>
          <a:solidFill xmlns:a="http://schemas.openxmlformats.org/drawingml/2006/main">
            <a:srgbClr val="FFFFFF"/>
          </a:solidFill>
          <a:ln xmlns:a="http://schemas.openxmlformats.org/drawingml/2006/main" w="9525">
            <a:solidFill>
              <a:srgbClr val="EEF1F5"/>
            </a:solidFill>
            <a:prstDash val="solid"/>
          </a:ln>
        </p:spPr>
      </p:sp>
      <p:sp>
        <p:nvSpPr>
          <p:cNvPr id="10" name="">
            <a:extLst xmlns:a="http://schemas.openxmlformats.org/drawingml/2006/main">
              <a:ext uri="{FF2B5EF4-FFF2-40B4-BE49-F238E27FC236}">
                <a16:creationId xmlns:a16="http://schemas.microsoft.com/office/drawing/2014/main" id="{53E760AB-386E-4492-942B-29A3648D1B72}"/>
              </a:ext>
            </a:extLst>
          </p:cNvPr>
          <p:cNvSpPr>
            <a:spLocks xmlns:a="http://schemas.openxmlformats.org/drawingml/2006/main" noGrp="1"/>
          </p:cNvSpPr>
          <p:nvPr/>
        </p:nvSpPr>
        <p:spPr>
          <a:xfrm xmlns:a="http://schemas.openxmlformats.org/drawingml/2006/main">
            <a:off x="857250" y="2114550"/>
            <a:ext cx="284797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F45B63"/>
                </a:solidFill>
                <a:latin typeface="Aptos"/>
                <a:ea typeface="Aptos"/>
                <a:cs typeface="Aptos"/>
              </a:defRPr>
            </a:pPr>
            <a:r>
              <a:rPr sz="1200" b="1">
                <a:solidFill>
                  <a:srgbClr val="F45B63"/>
                </a:solidFill>
                <a:latin typeface="Aptos"/>
                <a:ea typeface="Aptos"/>
                <a:cs typeface="Aptos"/>
              </a:rPr>
              <a:t>Vấn đề 01</a:t>
            </a:r>
          </a:p>
        </p:txBody>
      </p:sp>
      <p:sp>
        <p:nvSpPr>
          <p:cNvPr id="11" name="">
            <a:extLst xmlns:a="http://schemas.openxmlformats.org/drawingml/2006/main">
              <a:ext uri="{FF2B5EF4-FFF2-40B4-BE49-F238E27FC236}">
                <a16:creationId xmlns:a16="http://schemas.microsoft.com/office/drawing/2014/main" id="{6BE476BB-0850-4E81-BD24-4E09DA980B40}"/>
              </a:ext>
            </a:extLst>
          </p:cNvPr>
          <p:cNvSpPr>
            <a:spLocks xmlns:a="http://schemas.openxmlformats.org/drawingml/2006/main" noGrp="1"/>
          </p:cNvSpPr>
          <p:nvPr/>
        </p:nvSpPr>
        <p:spPr>
          <a:xfrm xmlns:a="http://schemas.openxmlformats.org/drawingml/2006/main">
            <a:off x="857250" y="2419350"/>
            <a:ext cx="2847975"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02631"/>
                </a:solidFill>
                <a:latin typeface="Aptos"/>
                <a:ea typeface="Aptos"/>
                <a:cs typeface="Aptos"/>
              </a:defRPr>
            </a:pPr>
            <a:r>
              <a:rPr sz="1200" b="0">
                <a:solidFill>
                  <a:srgbClr val="202631"/>
                </a:solidFill>
                <a:latin typeface="Aptos"/>
                <a:ea typeface="Aptos"/>
                <a:cs typeface="Aptos"/>
              </a:rPr>
              <a:t>Sinh viên khó theo dõi số dư và dễ phát sinh tình huống không đủ tiền khi cần thanh toán dịch vụ.</a:t>
            </a:r>
          </a:p>
        </p:txBody>
      </p:sp>
      <p:sp>
        <p:nvSpPr>
          <p:cNvPr id="12" name="">
            <a:extLst xmlns:a="http://schemas.openxmlformats.org/drawingml/2006/main">
              <a:ext uri="{FF2B5EF4-FFF2-40B4-BE49-F238E27FC236}">
                <a16:creationId xmlns:a16="http://schemas.microsoft.com/office/drawing/2014/main" id="{91E9C4F3-9F47-4D74-88C3-3070DC712841}"/>
              </a:ext>
            </a:extLst>
          </p:cNvPr>
          <p:cNvSpPr>
            <a:spLocks xmlns:a="http://schemas.openxmlformats.org/drawingml/2006/main" noGrp="1"/>
          </p:cNvSpPr>
          <p:nvPr/>
        </p:nvSpPr>
        <p:spPr>
          <a:xfrm xmlns:a="http://schemas.openxmlformats.org/drawingml/2006/main">
            <a:off x="4495800" y="1981200"/>
            <a:ext cx="3190875" cy="1676400"/>
          </a:xfrm>
          <a:prstGeom xmlns:a="http://schemas.openxmlformats.org/drawingml/2006/main" prst="rect">
            <a:avLst/>
          </a:prstGeom>
          <a:solidFill xmlns:a="http://schemas.openxmlformats.org/drawingml/2006/main">
            <a:srgbClr val="18202C"/>
          </a:solidFill>
          <a:ln xmlns:a="http://schemas.openxmlformats.org/drawingml/2006/main" w="9525">
            <a:solidFill>
              <a:srgbClr val="18202C"/>
            </a:solidFill>
            <a:prstDash val="solid"/>
          </a:ln>
        </p:spPr>
      </p:sp>
      <p:sp>
        <p:nvSpPr>
          <p:cNvPr id="13" name="">
            <a:extLst xmlns:a="http://schemas.openxmlformats.org/drawingml/2006/main">
              <a:ext uri="{FF2B5EF4-FFF2-40B4-BE49-F238E27FC236}">
                <a16:creationId xmlns:a16="http://schemas.microsoft.com/office/drawing/2014/main" id="{E4303678-B9B8-481A-B0C0-4836367D48F1}"/>
              </a:ext>
            </a:extLst>
          </p:cNvPr>
          <p:cNvSpPr>
            <a:spLocks xmlns:a="http://schemas.openxmlformats.org/drawingml/2006/main" noGrp="1"/>
          </p:cNvSpPr>
          <p:nvPr/>
        </p:nvSpPr>
        <p:spPr>
          <a:xfrm xmlns:a="http://schemas.openxmlformats.org/drawingml/2006/main">
            <a:off x="4667250" y="2114550"/>
            <a:ext cx="284797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F45B63"/>
                </a:solidFill>
                <a:latin typeface="Aptos"/>
                <a:ea typeface="Aptos"/>
                <a:cs typeface="Aptos"/>
              </a:defRPr>
            </a:pPr>
            <a:r>
              <a:rPr sz="1200" b="1">
                <a:solidFill>
                  <a:srgbClr val="F45B63"/>
                </a:solidFill>
                <a:latin typeface="Aptos"/>
                <a:ea typeface="Aptos"/>
                <a:cs typeface="Aptos"/>
              </a:rPr>
              <a:t>Vấn đề 02</a:t>
            </a:r>
          </a:p>
        </p:txBody>
      </p:sp>
      <p:sp>
        <p:nvSpPr>
          <p:cNvPr id="14" name="">
            <a:extLst xmlns:a="http://schemas.openxmlformats.org/drawingml/2006/main">
              <a:ext uri="{FF2B5EF4-FFF2-40B4-BE49-F238E27FC236}">
                <a16:creationId xmlns:a16="http://schemas.microsoft.com/office/drawing/2014/main" id="{5FCE0A9C-258E-4802-BCB2-381B6FAC2700}"/>
              </a:ext>
            </a:extLst>
          </p:cNvPr>
          <p:cNvSpPr>
            <a:spLocks xmlns:a="http://schemas.openxmlformats.org/drawingml/2006/main" noGrp="1"/>
          </p:cNvSpPr>
          <p:nvPr/>
        </p:nvSpPr>
        <p:spPr>
          <a:xfrm xmlns:a="http://schemas.openxmlformats.org/drawingml/2006/main">
            <a:off x="4667250" y="2419350"/>
            <a:ext cx="2847975"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FFFFF"/>
                </a:solidFill>
                <a:latin typeface="Aptos"/>
                <a:ea typeface="Aptos"/>
                <a:cs typeface="Aptos"/>
              </a:defRPr>
            </a:pPr>
            <a:r>
              <a:rPr sz="1200" b="0">
                <a:solidFill>
                  <a:srgbClr val="FFFFFF"/>
                </a:solidFill>
                <a:latin typeface="Aptos"/>
                <a:ea typeface="Aptos"/>
                <a:cs typeface="Aptos"/>
              </a:rPr>
              <a:t>Thông báo học phí, dịch vụ và nhắc hạn còn phân tán; sinh viên có thể bỏ lỡ mốc quan trọng.</a:t>
            </a:r>
          </a:p>
        </p:txBody>
      </p:sp>
      <p:sp>
        <p:nvSpPr>
          <p:cNvPr id="15" name="">
            <a:extLst xmlns:a="http://schemas.openxmlformats.org/drawingml/2006/main">
              <a:ext uri="{FF2B5EF4-FFF2-40B4-BE49-F238E27FC236}">
                <a16:creationId xmlns:a16="http://schemas.microsoft.com/office/drawing/2014/main" id="{85462D04-C081-484E-B804-8DC6B6161B9A}"/>
              </a:ext>
            </a:extLst>
          </p:cNvPr>
          <p:cNvSpPr>
            <a:spLocks xmlns:a="http://schemas.openxmlformats.org/drawingml/2006/main" noGrp="1"/>
          </p:cNvSpPr>
          <p:nvPr/>
        </p:nvSpPr>
        <p:spPr>
          <a:xfrm xmlns:a="http://schemas.openxmlformats.org/drawingml/2006/main">
            <a:off x="8305800" y="1981200"/>
            <a:ext cx="3190875" cy="1676400"/>
          </a:xfrm>
          <a:prstGeom xmlns:a="http://schemas.openxmlformats.org/drawingml/2006/main" prst="rect">
            <a:avLst/>
          </a:prstGeom>
          <a:solidFill xmlns:a="http://schemas.openxmlformats.org/drawingml/2006/main">
            <a:srgbClr val="FFFFFF"/>
          </a:solidFill>
          <a:ln xmlns:a="http://schemas.openxmlformats.org/drawingml/2006/main" w="9525">
            <a:solidFill>
              <a:srgbClr val="EEF1F5"/>
            </a:solidFill>
            <a:prstDash val="solid"/>
          </a:ln>
        </p:spPr>
      </p:sp>
      <p:sp>
        <p:nvSpPr>
          <p:cNvPr id="16" name="">
            <a:extLst xmlns:a="http://schemas.openxmlformats.org/drawingml/2006/main">
              <a:ext uri="{FF2B5EF4-FFF2-40B4-BE49-F238E27FC236}">
                <a16:creationId xmlns:a16="http://schemas.microsoft.com/office/drawing/2014/main" id="{1B49421F-DBF9-4624-95D6-6453C5A019F3}"/>
              </a:ext>
            </a:extLst>
          </p:cNvPr>
          <p:cNvSpPr>
            <a:spLocks xmlns:a="http://schemas.openxmlformats.org/drawingml/2006/main" noGrp="1"/>
          </p:cNvSpPr>
          <p:nvPr/>
        </p:nvSpPr>
        <p:spPr>
          <a:xfrm xmlns:a="http://schemas.openxmlformats.org/drawingml/2006/main">
            <a:off x="8477250" y="2114550"/>
            <a:ext cx="284797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F45B63"/>
                </a:solidFill>
                <a:latin typeface="Aptos"/>
                <a:ea typeface="Aptos"/>
                <a:cs typeface="Aptos"/>
              </a:defRPr>
            </a:pPr>
            <a:r>
              <a:rPr sz="1200" b="1">
                <a:solidFill>
                  <a:srgbClr val="F45B63"/>
                </a:solidFill>
                <a:latin typeface="Aptos"/>
                <a:ea typeface="Aptos"/>
                <a:cs typeface="Aptos"/>
              </a:rPr>
              <a:t>Vấn đề 03</a:t>
            </a:r>
          </a:p>
        </p:txBody>
      </p:sp>
      <p:sp>
        <p:nvSpPr>
          <p:cNvPr id="17" name="">
            <a:extLst xmlns:a="http://schemas.openxmlformats.org/drawingml/2006/main">
              <a:ext uri="{FF2B5EF4-FFF2-40B4-BE49-F238E27FC236}">
                <a16:creationId xmlns:a16="http://schemas.microsoft.com/office/drawing/2014/main" id="{A11EBDA9-54A6-4F38-B648-7737358E3163}"/>
              </a:ext>
            </a:extLst>
          </p:cNvPr>
          <p:cNvSpPr>
            <a:spLocks xmlns:a="http://schemas.openxmlformats.org/drawingml/2006/main" noGrp="1"/>
          </p:cNvSpPr>
          <p:nvPr/>
        </p:nvSpPr>
        <p:spPr>
          <a:xfrm xmlns:a="http://schemas.openxmlformats.org/drawingml/2006/main">
            <a:off x="8477250" y="2419350"/>
            <a:ext cx="2847975"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202631"/>
                </a:solidFill>
                <a:latin typeface="Aptos"/>
                <a:ea typeface="Aptos"/>
                <a:cs typeface="Aptos"/>
              </a:defRPr>
            </a:pPr>
            <a:r>
              <a:rPr sz="1200" b="0">
                <a:solidFill>
                  <a:srgbClr val="202631"/>
                </a:solidFill>
                <a:latin typeface="Aptos"/>
                <a:ea typeface="Aptos"/>
                <a:cs typeface="Aptos"/>
              </a:rPr>
              <a:t>Ví điện tử phổ biến chưa được thiết kế riêng cho nghiệp vụ và dữ liệu trong môi trường giáo dục.</a:t>
            </a:r>
          </a:p>
        </p:txBody>
      </p:sp>
      <p:sp>
        <p:nvSpPr>
          <p:cNvPr id="18" name="">
            <a:extLst xmlns:a="http://schemas.openxmlformats.org/drawingml/2006/main">
              <a:ext uri="{FF2B5EF4-FFF2-40B4-BE49-F238E27FC236}">
                <a16:creationId xmlns:a16="http://schemas.microsoft.com/office/drawing/2014/main" id="{402B31ED-B22C-4168-AC92-AE757ED5CFFB}"/>
              </a:ext>
            </a:extLst>
          </p:cNvPr>
          <p:cNvSpPr>
            <a:spLocks xmlns:a="http://schemas.openxmlformats.org/drawingml/2006/main" noGrp="1"/>
          </p:cNvSpPr>
          <p:nvPr/>
        </p:nvSpPr>
        <p:spPr>
          <a:xfrm xmlns:a="http://schemas.openxmlformats.org/drawingml/2006/main">
            <a:off x="1095375" y="4324350"/>
            <a:ext cx="2476500" cy="1200150"/>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9F0B773C-E5FF-4327-A472-D0553A01F92B}"/>
              </a:ext>
            </a:extLst>
          </p:cNvPr>
          <p:cNvSpPr>
            <a:spLocks xmlns:a="http://schemas.openxmlformats.org/drawingml/2006/main" noGrp="1"/>
          </p:cNvSpPr>
          <p:nvPr/>
        </p:nvSpPr>
        <p:spPr>
          <a:xfrm xmlns:a="http://schemas.openxmlformats.org/drawingml/2006/main">
            <a:off x="1247775" y="4438650"/>
            <a:ext cx="21717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2250" b="1">
                <a:solidFill>
                  <a:srgbClr val="FFFFFF"/>
                </a:solidFill>
                <a:latin typeface="Aptos"/>
                <a:ea typeface="Aptos"/>
                <a:cs typeface="Aptos"/>
              </a:defRPr>
            </a:pPr>
            <a:r>
              <a:rPr sz="2250" b="1">
                <a:solidFill>
                  <a:srgbClr val="FFFFFF"/>
                </a:solidFill>
                <a:latin typeface="Aptos"/>
                <a:ea typeface="Aptos"/>
                <a:cs typeface="Aptos"/>
              </a:rPr>
              <a:t>85%</a:t>
            </a:r>
          </a:p>
        </p:txBody>
      </p:sp>
      <p:sp>
        <p:nvSpPr>
          <p:cNvPr id="20" name="">
            <a:extLst xmlns:a="http://schemas.openxmlformats.org/drawingml/2006/main">
              <a:ext uri="{FF2B5EF4-FFF2-40B4-BE49-F238E27FC236}">
                <a16:creationId xmlns:a16="http://schemas.microsoft.com/office/drawing/2014/main" id="{86DAE35A-DC7E-4C17-B3D6-EFB1C58F7561}"/>
              </a:ext>
            </a:extLst>
          </p:cNvPr>
          <p:cNvSpPr>
            <a:spLocks xmlns:a="http://schemas.openxmlformats.org/drawingml/2006/main" noGrp="1"/>
          </p:cNvSpPr>
          <p:nvPr/>
        </p:nvSpPr>
        <p:spPr>
          <a:xfrm xmlns:a="http://schemas.openxmlformats.org/drawingml/2006/main">
            <a:off x="1247775" y="4857750"/>
            <a:ext cx="21717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DBE1EA"/>
                </a:solidFill>
                <a:latin typeface="Aptos"/>
                <a:ea typeface="Aptos"/>
                <a:cs typeface="Aptos"/>
              </a:defRPr>
            </a:pPr>
            <a:r>
              <a:rPr sz="975" b="0">
                <a:solidFill>
                  <a:srgbClr val="DBE1EA"/>
                </a:solidFill>
                <a:latin typeface="Aptos"/>
                <a:ea typeface="Aptos"/>
                <a:cs typeface="Aptos"/>
              </a:rPr>
              <a:t>người dùng Internet tại Việt Nam sở hữu ít nhất một ví điện tử theo báo cáo trích dẫn trong luận văn.</a:t>
            </a:r>
          </a:p>
        </p:txBody>
      </p:sp>
      <p:sp>
        <p:nvSpPr>
          <p:cNvPr id="21" name="">
            <a:extLst xmlns:a="http://schemas.openxmlformats.org/drawingml/2006/main">
              <a:ext uri="{FF2B5EF4-FFF2-40B4-BE49-F238E27FC236}">
                <a16:creationId xmlns:a16="http://schemas.microsoft.com/office/drawing/2014/main" id="{37C78180-2957-4701-A652-2FB7E3460FA9}"/>
              </a:ext>
            </a:extLst>
          </p:cNvPr>
          <p:cNvSpPr>
            <a:spLocks xmlns:a="http://schemas.openxmlformats.org/drawingml/2006/main" noGrp="1"/>
          </p:cNvSpPr>
          <p:nvPr/>
        </p:nvSpPr>
        <p:spPr>
          <a:xfrm xmlns:a="http://schemas.openxmlformats.org/drawingml/2006/main">
            <a:off x="4857750" y="4324350"/>
            <a:ext cx="2476500" cy="120015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3AD616C3-7783-406A-BB69-983692B85D72}"/>
              </a:ext>
            </a:extLst>
          </p:cNvPr>
          <p:cNvSpPr>
            <a:spLocks xmlns:a="http://schemas.openxmlformats.org/drawingml/2006/main" noGrp="1"/>
          </p:cNvSpPr>
          <p:nvPr/>
        </p:nvSpPr>
        <p:spPr>
          <a:xfrm xmlns:a="http://schemas.openxmlformats.org/drawingml/2006/main">
            <a:off x="5010150" y="4438650"/>
            <a:ext cx="21717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2250" b="1">
                <a:solidFill>
                  <a:srgbClr val="FFFFFF"/>
                </a:solidFill>
                <a:latin typeface="Aptos"/>
                <a:ea typeface="Aptos"/>
                <a:cs typeface="Aptos"/>
              </a:defRPr>
            </a:pPr>
            <a:r>
              <a:rPr sz="2250" b="1">
                <a:solidFill>
                  <a:srgbClr val="FFFFFF"/>
                </a:solidFill>
                <a:latin typeface="Aptos"/>
                <a:ea typeface="Aptos"/>
                <a:cs typeface="Aptos"/>
              </a:rPr>
              <a:t>71%</a:t>
            </a:r>
          </a:p>
        </p:txBody>
      </p:sp>
      <p:sp>
        <p:nvSpPr>
          <p:cNvPr id="23" name="">
            <a:extLst xmlns:a="http://schemas.openxmlformats.org/drawingml/2006/main">
              <a:ext uri="{FF2B5EF4-FFF2-40B4-BE49-F238E27FC236}">
                <a16:creationId xmlns:a16="http://schemas.microsoft.com/office/drawing/2014/main" id="{67D7AB64-24E5-4213-B38E-99C018D67715}"/>
              </a:ext>
            </a:extLst>
          </p:cNvPr>
          <p:cNvSpPr>
            <a:spLocks xmlns:a="http://schemas.openxmlformats.org/drawingml/2006/main" noGrp="1"/>
          </p:cNvSpPr>
          <p:nvPr/>
        </p:nvSpPr>
        <p:spPr>
          <a:xfrm xmlns:a="http://schemas.openxmlformats.org/drawingml/2006/main">
            <a:off x="5010150" y="4857750"/>
            <a:ext cx="21717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DBE1EA"/>
                </a:solidFill>
                <a:latin typeface="Aptos"/>
                <a:ea typeface="Aptos"/>
                <a:cs typeface="Aptos"/>
              </a:defRPr>
            </a:pPr>
            <a:r>
              <a:rPr sz="975" b="0">
                <a:solidFill>
                  <a:srgbClr val="DBE1EA"/>
                </a:solidFill>
                <a:latin typeface="Aptos"/>
                <a:ea typeface="Aptos"/>
                <a:cs typeface="Aptos"/>
              </a:rPr>
              <a:t>sử dụng ví điện tử hàng tuần, cho thấy hành vi thanh toán số đã đủ quen thuộc.</a:t>
            </a:r>
          </a:p>
        </p:txBody>
      </p:sp>
      <p:sp>
        <p:nvSpPr>
          <p:cNvPr id="24" name="">
            <a:extLst xmlns:a="http://schemas.openxmlformats.org/drawingml/2006/main">
              <a:ext uri="{FF2B5EF4-FFF2-40B4-BE49-F238E27FC236}">
                <a16:creationId xmlns:a16="http://schemas.microsoft.com/office/drawing/2014/main" id="{8A07CAB1-9708-4A72-9480-BAFC74BAD43A}"/>
              </a:ext>
            </a:extLst>
          </p:cNvPr>
          <p:cNvSpPr>
            <a:spLocks xmlns:a="http://schemas.openxmlformats.org/drawingml/2006/main" noGrp="1"/>
          </p:cNvSpPr>
          <p:nvPr/>
        </p:nvSpPr>
        <p:spPr>
          <a:xfrm xmlns:a="http://schemas.openxmlformats.org/drawingml/2006/main">
            <a:off x="8620125" y="4324350"/>
            <a:ext cx="2476500" cy="1200150"/>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FA0F0D5B-CABF-4C48-89F2-B4AD8686D7D4}"/>
              </a:ext>
            </a:extLst>
          </p:cNvPr>
          <p:cNvSpPr>
            <a:spLocks xmlns:a="http://schemas.openxmlformats.org/drawingml/2006/main" noGrp="1"/>
          </p:cNvSpPr>
          <p:nvPr/>
        </p:nvSpPr>
        <p:spPr>
          <a:xfrm xmlns:a="http://schemas.openxmlformats.org/drawingml/2006/main">
            <a:off x="8772525" y="4438650"/>
            <a:ext cx="21717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2250" b="1">
                <a:solidFill>
                  <a:srgbClr val="FFFFFF"/>
                </a:solidFill>
                <a:latin typeface="Aptos"/>
                <a:ea typeface="Aptos"/>
                <a:cs typeface="Aptos"/>
              </a:defRPr>
            </a:pPr>
            <a:r>
              <a:rPr sz="2250" b="1">
                <a:solidFill>
                  <a:srgbClr val="FFFFFF"/>
                </a:solidFill>
                <a:latin typeface="Aptos"/>
                <a:ea typeface="Aptos"/>
                <a:cs typeface="Aptos"/>
              </a:rPr>
              <a:t>1 hệ sinh thái</a:t>
            </a:r>
          </a:p>
        </p:txBody>
      </p:sp>
      <p:sp>
        <p:nvSpPr>
          <p:cNvPr id="26" name="">
            <a:extLst xmlns:a="http://schemas.openxmlformats.org/drawingml/2006/main">
              <a:ext uri="{FF2B5EF4-FFF2-40B4-BE49-F238E27FC236}">
                <a16:creationId xmlns:a16="http://schemas.microsoft.com/office/drawing/2014/main" id="{A245151B-A112-4738-A552-DC885A6A3EA8}"/>
              </a:ext>
            </a:extLst>
          </p:cNvPr>
          <p:cNvSpPr>
            <a:spLocks xmlns:a="http://schemas.openxmlformats.org/drawingml/2006/main" noGrp="1"/>
          </p:cNvSpPr>
          <p:nvPr/>
        </p:nvSpPr>
        <p:spPr>
          <a:xfrm xmlns:a="http://schemas.openxmlformats.org/drawingml/2006/main">
            <a:off x="8772525" y="4857750"/>
            <a:ext cx="21717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0">
                <a:solidFill>
                  <a:srgbClr val="DBE1EA"/>
                </a:solidFill>
                <a:latin typeface="Aptos"/>
                <a:ea typeface="Aptos"/>
                <a:cs typeface="Aptos"/>
              </a:defRPr>
            </a:pPr>
            <a:r>
              <a:rPr sz="975" b="0">
                <a:solidFill>
                  <a:srgbClr val="DBE1EA"/>
                </a:solidFill>
                <a:latin typeface="Aptos"/>
                <a:ea typeface="Aptos"/>
                <a:cs typeface="Aptos"/>
              </a:rPr>
              <a:t>đề tài hướng đến ví + dịch vụ trường + phân tích chi tiêu + quản trị.</a:t>
            </a:r>
          </a:p>
        </p:txBody>
      </p:sp>
    </p:spTree>
    <p:extLst>
      <p:ext uri="{BB962C8B-B14F-4D97-AF65-F5344CB8AC3E}">
        <p14:creationId xmlns:p14="http://schemas.microsoft.com/office/powerpoint/2010/main" val="182932767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43F5FD3-8A57-4342-B02A-B0E629BB1DA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BFBF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EF8F3A9-52A1-42CC-8C8B-0D608D663BB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0A1FF17-1993-4B4B-90B9-A040B4298674}"/>
              </a:ext>
            </a:extLst>
          </p:cNvPr>
          <p:cNvSpPr>
            <a:spLocks xmlns:a="http://schemas.openxmlformats.org/drawingml/2006/main" noGrp="1"/>
          </p:cNvSpPr>
          <p:nvPr/>
        </p:nvSpPr>
        <p:spPr>
          <a:xfrm xmlns:a="http://schemas.openxmlformats.org/drawingml/2006/main">
            <a:off x="0" y="6191250"/>
            <a:ext cx="12192000" cy="9525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D8312389-6B77-41C4-B6FD-1AE422F8153F}"/>
              </a:ext>
            </a:extLst>
          </p:cNvPr>
          <p:cNvSpPr>
            <a:spLocks xmlns:a="http://schemas.openxmlformats.org/drawingml/2006/main" noGrp="1"/>
          </p:cNvSpPr>
          <p:nvPr/>
        </p:nvSpPr>
        <p:spPr>
          <a:xfrm xmlns:a="http://schemas.openxmlformats.org/drawingml/2006/main">
            <a:off x="171450" y="6429375"/>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9AA1AA"/>
                </a:solidFill>
                <a:latin typeface="Aptos"/>
                <a:ea typeface="Aptos"/>
                <a:cs typeface="Aptos"/>
              </a:defRPr>
            </a:pPr>
            <a:r>
              <a:rPr sz="600" b="0">
                <a:solidFill>
                  <a:srgbClr val="9AA1AA"/>
                </a:solidFill>
                <a:latin typeface="Aptos"/>
                <a:ea typeface="Aptos"/>
                <a:cs typeface="Aptos"/>
              </a:rPr>
              <a:t>Slide 04</a:t>
            </a:r>
          </a:p>
        </p:txBody>
      </p:sp>
      <p:sp>
        <p:nvSpPr>
          <p:cNvPr id="5" name="">
            <a:extLst xmlns:a="http://schemas.openxmlformats.org/drawingml/2006/main">
              <a:ext uri="{FF2B5EF4-FFF2-40B4-BE49-F238E27FC236}">
                <a16:creationId xmlns:a16="http://schemas.microsoft.com/office/drawing/2014/main" id="{DD479FD9-3118-4AAE-A133-8D04208DB94A}"/>
              </a:ext>
            </a:extLst>
          </p:cNvPr>
          <p:cNvSpPr>
            <a:spLocks xmlns:a="http://schemas.openxmlformats.org/drawingml/2006/main" noGrp="1"/>
          </p:cNvSpPr>
          <p:nvPr/>
        </p:nvSpPr>
        <p:spPr>
          <a:xfrm xmlns:a="http://schemas.openxmlformats.org/drawingml/2006/main">
            <a:off x="0" y="514350"/>
            <a:ext cx="12192000" cy="53340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A895475F-4820-4B27-854D-9421081A9E70}"/>
              </a:ext>
            </a:extLst>
          </p:cNvPr>
          <p:cNvSpPr>
            <a:spLocks xmlns:a="http://schemas.openxmlformats.org/drawingml/2006/main" noGrp="1"/>
          </p:cNvSpPr>
          <p:nvPr/>
        </p:nvSpPr>
        <p:spPr>
          <a:xfrm xmlns:a="http://schemas.openxmlformats.org/drawingml/2006/main">
            <a:off x="685800" y="361950"/>
            <a:ext cx="304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B7280"/>
                </a:solidFill>
                <a:latin typeface="Aptos"/>
                <a:ea typeface="Aptos"/>
                <a:cs typeface="Aptos"/>
              </a:defRPr>
            </a:pPr>
            <a:r>
              <a:rPr sz="900" b="1">
                <a:solidFill>
                  <a:srgbClr val="6B7280"/>
                </a:solidFill>
                <a:latin typeface="Aptos"/>
                <a:ea typeface="Aptos"/>
                <a:cs typeface="Aptos"/>
              </a:rPr>
              <a:t>MỤC TIÊU</a:t>
            </a:r>
          </a:p>
        </p:txBody>
      </p:sp>
      <p:sp>
        <p:nvSpPr>
          <p:cNvPr id="7" name="">
            <a:extLst xmlns:a="http://schemas.openxmlformats.org/drawingml/2006/main">
              <a:ext uri="{FF2B5EF4-FFF2-40B4-BE49-F238E27FC236}">
                <a16:creationId xmlns:a16="http://schemas.microsoft.com/office/drawing/2014/main" id="{CDFC99DA-6E9A-4DEB-A347-B248BFB947E8}"/>
              </a:ext>
            </a:extLst>
          </p:cNvPr>
          <p:cNvSpPr>
            <a:spLocks xmlns:a="http://schemas.openxmlformats.org/drawingml/2006/main" noGrp="1"/>
          </p:cNvSpPr>
          <p:nvPr/>
        </p:nvSpPr>
        <p:spPr>
          <a:xfrm xmlns:a="http://schemas.openxmlformats.org/drawingml/2006/main">
            <a:off x="685800" y="628650"/>
            <a:ext cx="10287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ptos"/>
                <a:ea typeface="Aptos"/>
                <a:cs typeface="Aptos"/>
              </a:defRPr>
            </a:pPr>
            <a:r>
              <a:rPr sz="1800" b="1">
                <a:solidFill>
                  <a:srgbClr val="FFFFFF"/>
                </a:solidFill>
                <a:latin typeface="Aptos"/>
                <a:ea typeface="Aptos"/>
                <a:cs typeface="Aptos"/>
              </a:rPr>
              <a:t>Đề tài tập trung vào ví iOS cho sinh viên và cổng quản trị cho nhà trường.</a:t>
            </a:r>
          </a:p>
        </p:txBody>
      </p:sp>
      <p:sp>
        <p:nvSpPr>
          <p:cNvPr id="8" name="">
            <a:extLst xmlns:a="http://schemas.openxmlformats.org/drawingml/2006/main">
              <a:ext uri="{FF2B5EF4-FFF2-40B4-BE49-F238E27FC236}">
                <a16:creationId xmlns:a16="http://schemas.microsoft.com/office/drawing/2014/main" id="{7B5A34DD-B16B-4BBF-BDF0-2ED999E025A1}"/>
              </a:ext>
            </a:extLst>
          </p:cNvPr>
          <p:cNvSpPr>
            <a:spLocks xmlns:a="http://schemas.openxmlformats.org/drawingml/2006/main" noGrp="1"/>
          </p:cNvSpPr>
          <p:nvPr/>
        </p:nvSpPr>
        <p:spPr>
          <a:xfrm xmlns:a="http://schemas.openxmlformats.org/drawingml/2006/main">
            <a:off x="762000" y="1619250"/>
            <a:ext cx="3048000" cy="66675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9822B030-9F15-4145-AFD2-C934B25932BD}"/>
              </a:ext>
            </a:extLst>
          </p:cNvPr>
          <p:cNvSpPr>
            <a:spLocks xmlns:a="http://schemas.openxmlformats.org/drawingml/2006/main" noGrp="1"/>
          </p:cNvSpPr>
          <p:nvPr/>
        </p:nvSpPr>
        <p:spPr>
          <a:xfrm xmlns:a="http://schemas.openxmlformats.org/drawingml/2006/main">
            <a:off x="933450" y="1828800"/>
            <a:ext cx="2667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MỤC ĐÍCH</a:t>
            </a:r>
          </a:p>
        </p:txBody>
      </p:sp>
      <p:sp>
        <p:nvSpPr>
          <p:cNvPr id="10" name="">
            <a:extLst xmlns:a="http://schemas.openxmlformats.org/drawingml/2006/main">
              <a:ext uri="{FF2B5EF4-FFF2-40B4-BE49-F238E27FC236}">
                <a16:creationId xmlns:a16="http://schemas.microsoft.com/office/drawing/2014/main" id="{29DB167D-C66B-49B4-8A43-F1138ACA597A}"/>
              </a:ext>
            </a:extLst>
          </p:cNvPr>
          <p:cNvSpPr>
            <a:spLocks xmlns:a="http://schemas.openxmlformats.org/drawingml/2006/main" noGrp="1"/>
          </p:cNvSpPr>
          <p:nvPr/>
        </p:nvSpPr>
        <p:spPr>
          <a:xfrm xmlns:a="http://schemas.openxmlformats.org/drawingml/2006/main">
            <a:off x="762000" y="2476500"/>
            <a:ext cx="3048000" cy="21907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txBody>
          <a:bodyPr xmlns:a="http://schemas.openxmlformats.org/drawingml/2006/main" lIns="152400" tIns="114300" rIns="133350" bIns="95250" anchor="t"/>
          <a:lstStyle xmlns:a="http://schemas.openxmlformats.org/drawingml/2006/main"/>
          <a:p xmlns:a="http://schemas.openxmlformats.org/drawingml/2006/main">
            <a:pPr algn="l">
              <a:defRPr sz="1275" b="0">
                <a:solidFill>
                  <a:srgbClr val="202631"/>
                </a:solidFill>
                <a:latin typeface="Aptos"/>
                <a:ea typeface="Aptos"/>
                <a:cs typeface="Aptos"/>
              </a:defRPr>
            </a:pPr>
            <a:r>
              <a:rPr sz="1275" b="0">
                <a:solidFill>
                  <a:srgbClr val="202631"/>
                </a:solidFill>
                <a:latin typeface="Aptos"/>
                <a:ea typeface="Aptos"/>
                <a:cs typeface="Aptos"/>
              </a:rPr>
              <a:t>- Nghiên cứu kiến trúc hệ thống ví điện tử.</a:t>
            </a:r>
          </a:p>
          <a:p xmlns:a="http://schemas.openxmlformats.org/drawingml/2006/main">
            <a:pPr algn="l">
              <a:defRPr sz="1275" b="0">
                <a:solidFill>
                  <a:srgbClr val="202631"/>
                </a:solidFill>
                <a:latin typeface="Aptos"/>
                <a:ea typeface="Aptos"/>
                <a:cs typeface="Aptos"/>
              </a:defRPr>
            </a:pPr>
            <a:r>
              <a:rPr sz="1275" b="0">
                <a:solidFill>
                  <a:srgbClr val="202631"/>
                </a:solidFill>
                <a:latin typeface="Aptos"/>
                <a:ea typeface="Aptos"/>
                <a:cs typeface="Aptos"/>
              </a:rPr>
              <a:t>- Ứng dụng UIKit và Express để xây dựng sản phẩm.</a:t>
            </a:r>
          </a:p>
          <a:p xmlns:a="http://schemas.openxmlformats.org/drawingml/2006/main">
            <a:pPr algn="l">
              <a:defRPr sz="1275" b="0">
                <a:solidFill>
                  <a:srgbClr val="202631"/>
                </a:solidFill>
                <a:latin typeface="Aptos"/>
                <a:ea typeface="Aptos"/>
                <a:cs typeface="Aptos"/>
              </a:defRPr>
            </a:pPr>
            <a:r>
              <a:rPr sz="1275" b="0">
                <a:solidFill>
                  <a:srgbClr val="202631"/>
                </a:solidFill>
                <a:latin typeface="Aptos"/>
                <a:ea typeface="Aptos"/>
                <a:cs typeface="Aptos"/>
              </a:rPr>
              <a:t>- Hỗ trợ thanh toán không tiền mặt trong trường học.</a:t>
            </a:r>
          </a:p>
        </p:txBody>
      </p:sp>
      <p:sp>
        <p:nvSpPr>
          <p:cNvPr id="11" name="">
            <a:extLst xmlns:a="http://schemas.openxmlformats.org/drawingml/2006/main">
              <a:ext uri="{FF2B5EF4-FFF2-40B4-BE49-F238E27FC236}">
                <a16:creationId xmlns:a16="http://schemas.microsoft.com/office/drawing/2014/main" id="{98F22CE3-8584-4612-8242-ACD65DFF0797}"/>
              </a:ext>
            </a:extLst>
          </p:cNvPr>
          <p:cNvSpPr>
            <a:spLocks xmlns:a="http://schemas.openxmlformats.org/drawingml/2006/main" noGrp="1"/>
          </p:cNvSpPr>
          <p:nvPr/>
        </p:nvSpPr>
        <p:spPr>
          <a:xfrm xmlns:a="http://schemas.openxmlformats.org/drawingml/2006/main">
            <a:off x="4476750" y="1619250"/>
            <a:ext cx="3048000" cy="666750"/>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4C7E2098-B6E2-412D-A482-C3A3FD2D3A19}"/>
              </a:ext>
            </a:extLst>
          </p:cNvPr>
          <p:cNvSpPr>
            <a:spLocks xmlns:a="http://schemas.openxmlformats.org/drawingml/2006/main" noGrp="1"/>
          </p:cNvSpPr>
          <p:nvPr/>
        </p:nvSpPr>
        <p:spPr>
          <a:xfrm xmlns:a="http://schemas.openxmlformats.org/drawingml/2006/main">
            <a:off x="4648200" y="1828800"/>
            <a:ext cx="2667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ĐỐI TƯỢNG</a:t>
            </a:r>
          </a:p>
        </p:txBody>
      </p:sp>
      <p:sp>
        <p:nvSpPr>
          <p:cNvPr id="13" name="">
            <a:extLst xmlns:a="http://schemas.openxmlformats.org/drawingml/2006/main">
              <a:ext uri="{FF2B5EF4-FFF2-40B4-BE49-F238E27FC236}">
                <a16:creationId xmlns:a16="http://schemas.microsoft.com/office/drawing/2014/main" id="{7D33E4CF-3231-4C6A-8B45-22C864364B0C}"/>
              </a:ext>
            </a:extLst>
          </p:cNvPr>
          <p:cNvSpPr>
            <a:spLocks xmlns:a="http://schemas.openxmlformats.org/drawingml/2006/main" noGrp="1"/>
          </p:cNvSpPr>
          <p:nvPr/>
        </p:nvSpPr>
        <p:spPr>
          <a:xfrm xmlns:a="http://schemas.openxmlformats.org/drawingml/2006/main">
            <a:off x="4476750" y="2476500"/>
            <a:ext cx="3048000" cy="21907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txBody>
          <a:bodyPr xmlns:a="http://schemas.openxmlformats.org/drawingml/2006/main" lIns="152400" tIns="114300" rIns="133350" bIns="95250" anchor="t"/>
          <a:lstStyle xmlns:a="http://schemas.openxmlformats.org/drawingml/2006/main"/>
          <a:p xmlns:a="http://schemas.openxmlformats.org/drawingml/2006/main">
            <a:pPr algn="l">
              <a:defRPr sz="1275" b="0">
                <a:solidFill>
                  <a:srgbClr val="202631"/>
                </a:solidFill>
                <a:latin typeface="Aptos"/>
                <a:ea typeface="Aptos"/>
                <a:cs typeface="Aptos"/>
              </a:defRPr>
            </a:pPr>
            <a:r>
              <a:rPr sz="1275" b="0">
                <a:solidFill>
                  <a:srgbClr val="202631"/>
                </a:solidFill>
                <a:latin typeface="Aptos"/>
                <a:ea typeface="Aptos"/>
                <a:cs typeface="Aptos"/>
              </a:rPr>
              <a:t>- Học sinh, sinh viên cần chuyển tiền và thanh toán dịch vụ.</a:t>
            </a:r>
          </a:p>
          <a:p xmlns:a="http://schemas.openxmlformats.org/drawingml/2006/main">
            <a:pPr algn="l">
              <a:defRPr sz="1275" b="0">
                <a:solidFill>
                  <a:srgbClr val="202631"/>
                </a:solidFill>
                <a:latin typeface="Aptos"/>
                <a:ea typeface="Aptos"/>
                <a:cs typeface="Aptos"/>
              </a:defRPr>
            </a:pPr>
            <a:r>
              <a:rPr sz="1275" b="0">
                <a:solidFill>
                  <a:srgbClr val="202631"/>
                </a:solidFill>
                <a:latin typeface="Aptos"/>
                <a:ea typeface="Aptos"/>
                <a:cs typeface="Aptos"/>
              </a:rPr>
              <a:t>- Trường học cần quản lý phí, dịch vụ và thông báo.</a:t>
            </a:r>
          </a:p>
          <a:p xmlns:a="http://schemas.openxmlformats.org/drawingml/2006/main">
            <a:pPr algn="l">
              <a:defRPr sz="1275" b="0">
                <a:solidFill>
                  <a:srgbClr val="202631"/>
                </a:solidFill>
                <a:latin typeface="Aptos"/>
                <a:ea typeface="Aptos"/>
                <a:cs typeface="Aptos"/>
              </a:defRPr>
            </a:pPr>
            <a:r>
              <a:rPr sz="1275" b="0">
                <a:solidFill>
                  <a:srgbClr val="202631"/>
                </a:solidFill>
                <a:latin typeface="Aptos"/>
                <a:ea typeface="Aptos"/>
                <a:cs typeface="Aptos"/>
              </a:rPr>
              <a:t>- Quản trị viên theo dõi vận hành hệ thống.</a:t>
            </a:r>
          </a:p>
        </p:txBody>
      </p:sp>
      <p:sp>
        <p:nvSpPr>
          <p:cNvPr id="14" name="">
            <a:extLst xmlns:a="http://schemas.openxmlformats.org/drawingml/2006/main">
              <a:ext uri="{FF2B5EF4-FFF2-40B4-BE49-F238E27FC236}">
                <a16:creationId xmlns:a16="http://schemas.microsoft.com/office/drawing/2014/main" id="{7422DB4B-D1BF-4E38-85DF-352D7D01C531}"/>
              </a:ext>
            </a:extLst>
          </p:cNvPr>
          <p:cNvSpPr>
            <a:spLocks xmlns:a="http://schemas.openxmlformats.org/drawingml/2006/main" noGrp="1"/>
          </p:cNvSpPr>
          <p:nvPr/>
        </p:nvSpPr>
        <p:spPr>
          <a:xfrm xmlns:a="http://schemas.openxmlformats.org/drawingml/2006/main">
            <a:off x="8191500" y="1619250"/>
            <a:ext cx="3048000" cy="66675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A7C20191-537A-40E1-8CC7-922B002DBDB0}"/>
              </a:ext>
            </a:extLst>
          </p:cNvPr>
          <p:cNvSpPr>
            <a:spLocks xmlns:a="http://schemas.openxmlformats.org/drawingml/2006/main" noGrp="1"/>
          </p:cNvSpPr>
          <p:nvPr/>
        </p:nvSpPr>
        <p:spPr>
          <a:xfrm xmlns:a="http://schemas.openxmlformats.org/drawingml/2006/main">
            <a:off x="8362950" y="1828800"/>
            <a:ext cx="2667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FFFFFF"/>
                </a:solidFill>
                <a:latin typeface="Aptos"/>
                <a:ea typeface="Aptos"/>
                <a:cs typeface="Aptos"/>
              </a:defRPr>
            </a:pPr>
            <a:r>
              <a:rPr sz="1500" b="1">
                <a:solidFill>
                  <a:srgbClr val="FFFFFF"/>
                </a:solidFill>
                <a:latin typeface="Aptos"/>
                <a:ea typeface="Aptos"/>
                <a:cs typeface="Aptos"/>
              </a:rPr>
              <a:t>PHẠM VI</a:t>
            </a:r>
          </a:p>
        </p:txBody>
      </p:sp>
      <p:sp>
        <p:nvSpPr>
          <p:cNvPr id="16" name="">
            <a:extLst xmlns:a="http://schemas.openxmlformats.org/drawingml/2006/main">
              <a:ext uri="{FF2B5EF4-FFF2-40B4-BE49-F238E27FC236}">
                <a16:creationId xmlns:a16="http://schemas.microsoft.com/office/drawing/2014/main" id="{3C94AA7B-BA12-4CB7-A882-59D1918555CA}"/>
              </a:ext>
            </a:extLst>
          </p:cNvPr>
          <p:cNvSpPr>
            <a:spLocks xmlns:a="http://schemas.openxmlformats.org/drawingml/2006/main" noGrp="1"/>
          </p:cNvSpPr>
          <p:nvPr/>
        </p:nvSpPr>
        <p:spPr>
          <a:xfrm xmlns:a="http://schemas.openxmlformats.org/drawingml/2006/main">
            <a:off x="8191500" y="2476500"/>
            <a:ext cx="3048000" cy="21907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txBody>
          <a:bodyPr xmlns:a="http://schemas.openxmlformats.org/drawingml/2006/main" lIns="152400" tIns="114300" rIns="133350" bIns="95250" anchor="t"/>
          <a:lstStyle xmlns:a="http://schemas.openxmlformats.org/drawingml/2006/main"/>
          <a:p xmlns:a="http://schemas.openxmlformats.org/drawingml/2006/main">
            <a:pPr algn="l">
              <a:defRPr sz="1275" b="0">
                <a:solidFill>
                  <a:srgbClr val="202631"/>
                </a:solidFill>
                <a:latin typeface="Aptos"/>
                <a:ea typeface="Aptos"/>
                <a:cs typeface="Aptos"/>
              </a:defRPr>
            </a:pPr>
            <a:r>
              <a:rPr sz="1275" b="0">
                <a:solidFill>
                  <a:srgbClr val="202631"/>
                </a:solidFill>
                <a:latin typeface="Aptos"/>
                <a:ea typeface="Aptos"/>
                <a:cs typeface="Aptos"/>
              </a:rPr>
              <a:t>- Phân tích yêu cầu và thiết kế giao diện.</a:t>
            </a:r>
          </a:p>
          <a:p xmlns:a="http://schemas.openxmlformats.org/drawingml/2006/main">
            <a:pPr algn="l">
              <a:defRPr sz="1275" b="0">
                <a:solidFill>
                  <a:srgbClr val="202631"/>
                </a:solidFill>
                <a:latin typeface="Aptos"/>
                <a:ea typeface="Aptos"/>
                <a:cs typeface="Aptos"/>
              </a:defRPr>
            </a:pPr>
            <a:r>
              <a:rPr sz="1275" b="0">
                <a:solidFill>
                  <a:srgbClr val="202631"/>
                </a:solidFill>
                <a:latin typeface="Aptos"/>
                <a:ea typeface="Aptos"/>
                <a:cs typeface="Aptos"/>
              </a:rPr>
              <a:t>- Phát triển iOS app, backend và admin web.</a:t>
            </a:r>
          </a:p>
          <a:p xmlns:a="http://schemas.openxmlformats.org/drawingml/2006/main">
            <a:pPr algn="l">
              <a:defRPr sz="1275" b="0">
                <a:solidFill>
                  <a:srgbClr val="202631"/>
                </a:solidFill>
                <a:latin typeface="Aptos"/>
                <a:ea typeface="Aptos"/>
                <a:cs typeface="Aptos"/>
              </a:defRPr>
            </a:pPr>
            <a:r>
              <a:rPr sz="1275" b="0">
                <a:solidFill>
                  <a:srgbClr val="202631"/>
                </a:solidFill>
                <a:latin typeface="Aptos"/>
                <a:ea typeface="Aptos"/>
                <a:cs typeface="Aptos"/>
              </a:rPr>
              <a:t>- Kiểm thử các chức năng người dùng chính.</a:t>
            </a:r>
          </a:p>
        </p:txBody>
      </p:sp>
      <p:sp>
        <p:nvSpPr>
          <p:cNvPr id="17" name="">
            <a:extLst xmlns:a="http://schemas.openxmlformats.org/drawingml/2006/main">
              <a:ext uri="{FF2B5EF4-FFF2-40B4-BE49-F238E27FC236}">
                <a16:creationId xmlns:a16="http://schemas.microsoft.com/office/drawing/2014/main" id="{279B3617-EDA2-400B-A12A-24AB0CCD0970}"/>
              </a:ext>
            </a:extLst>
          </p:cNvPr>
          <p:cNvSpPr>
            <a:spLocks xmlns:a="http://schemas.openxmlformats.org/drawingml/2006/main" noGrp="1"/>
          </p:cNvSpPr>
          <p:nvPr/>
        </p:nvSpPr>
        <p:spPr>
          <a:xfrm xmlns:a="http://schemas.openxmlformats.org/drawingml/2006/main">
            <a:off x="1524000" y="5191125"/>
            <a:ext cx="9144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202631"/>
                </a:solidFill>
                <a:latin typeface="Aptos"/>
                <a:ea typeface="Aptos"/>
                <a:cs typeface="Aptos"/>
              </a:defRPr>
            </a:pPr>
            <a:r>
              <a:rPr sz="1500" b="1">
                <a:solidFill>
                  <a:srgbClr val="202631"/>
                </a:solidFill>
                <a:latin typeface="Aptos"/>
                <a:ea typeface="Aptos"/>
                <a:cs typeface="Aptos"/>
              </a:rPr>
              <a:t>Kết quả kỳ vọng: hoàn thành các chức năng cơ bản của hệ thống trong thời gian triển khai khóa luận.</a:t>
            </a:r>
          </a:p>
        </p:txBody>
      </p:sp>
    </p:spTree>
    <p:extLst>
      <p:ext uri="{BB962C8B-B14F-4D97-AF65-F5344CB8AC3E}">
        <p14:creationId xmlns:p14="http://schemas.microsoft.com/office/powerpoint/2010/main" val="193796316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CF42503-F3EA-467C-97CA-801FDA6FA7A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BFBF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5A56ED6-DD4B-4C64-A55B-ED657AFA35E1}"/>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AF18B5E-652C-42A8-94D0-B2A387BA3B39}"/>
              </a:ext>
            </a:extLst>
          </p:cNvPr>
          <p:cNvSpPr>
            <a:spLocks xmlns:a="http://schemas.openxmlformats.org/drawingml/2006/main" noGrp="1"/>
          </p:cNvSpPr>
          <p:nvPr/>
        </p:nvSpPr>
        <p:spPr>
          <a:xfrm xmlns:a="http://schemas.openxmlformats.org/drawingml/2006/main">
            <a:off x="0" y="6191250"/>
            <a:ext cx="12192000" cy="9525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557D08ED-41E6-4918-B41F-D92409AB8A88}"/>
              </a:ext>
            </a:extLst>
          </p:cNvPr>
          <p:cNvSpPr>
            <a:spLocks xmlns:a="http://schemas.openxmlformats.org/drawingml/2006/main" noGrp="1"/>
          </p:cNvSpPr>
          <p:nvPr/>
        </p:nvSpPr>
        <p:spPr>
          <a:xfrm xmlns:a="http://schemas.openxmlformats.org/drawingml/2006/main">
            <a:off x="171450" y="6429375"/>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9AA1AA"/>
                </a:solidFill>
                <a:latin typeface="Aptos"/>
                <a:ea typeface="Aptos"/>
                <a:cs typeface="Aptos"/>
              </a:defRPr>
            </a:pPr>
            <a:r>
              <a:rPr sz="600" b="0">
                <a:solidFill>
                  <a:srgbClr val="9AA1AA"/>
                </a:solidFill>
                <a:latin typeface="Aptos"/>
                <a:ea typeface="Aptos"/>
                <a:cs typeface="Aptos"/>
              </a:rPr>
              <a:t>Slide 05</a:t>
            </a:r>
          </a:p>
        </p:txBody>
      </p:sp>
      <p:sp>
        <p:nvSpPr>
          <p:cNvPr id="5" name="">
            <a:extLst xmlns:a="http://schemas.openxmlformats.org/drawingml/2006/main">
              <a:ext uri="{FF2B5EF4-FFF2-40B4-BE49-F238E27FC236}">
                <a16:creationId xmlns:a16="http://schemas.microsoft.com/office/drawing/2014/main" id="{FA4B0080-EECD-4B40-8D0E-96D406C34BDA}"/>
              </a:ext>
            </a:extLst>
          </p:cNvPr>
          <p:cNvSpPr>
            <a:spLocks xmlns:a="http://schemas.openxmlformats.org/drawingml/2006/main" noGrp="1"/>
          </p:cNvSpPr>
          <p:nvPr/>
        </p:nvSpPr>
        <p:spPr>
          <a:xfrm xmlns:a="http://schemas.openxmlformats.org/drawingml/2006/main">
            <a:off x="685800" y="447675"/>
            <a:ext cx="152400" cy="15240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E6F9D456-52D7-4955-89E7-D002BB9132FD}"/>
              </a:ext>
            </a:extLst>
          </p:cNvPr>
          <p:cNvSpPr>
            <a:spLocks xmlns:a="http://schemas.openxmlformats.org/drawingml/2006/main" noGrp="1"/>
          </p:cNvSpPr>
          <p:nvPr/>
        </p:nvSpPr>
        <p:spPr>
          <a:xfrm xmlns:a="http://schemas.openxmlformats.org/drawingml/2006/main">
            <a:off x="933450" y="400050"/>
            <a:ext cx="3143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6B7280"/>
                </a:solidFill>
                <a:latin typeface="Aptos"/>
                <a:ea typeface="Aptos"/>
                <a:cs typeface="Aptos"/>
              </a:defRPr>
            </a:pPr>
            <a:r>
              <a:rPr sz="975" b="1">
                <a:solidFill>
                  <a:srgbClr val="6B7280"/>
                </a:solidFill>
                <a:latin typeface="Aptos"/>
                <a:ea typeface="Aptos"/>
                <a:cs typeface="Aptos"/>
              </a:rPr>
              <a:t>GIẢI PHÁP</a:t>
            </a:r>
          </a:p>
        </p:txBody>
      </p:sp>
      <p:sp>
        <p:nvSpPr>
          <p:cNvPr id="7" name="">
            <a:extLst xmlns:a="http://schemas.openxmlformats.org/drawingml/2006/main">
              <a:ext uri="{FF2B5EF4-FFF2-40B4-BE49-F238E27FC236}">
                <a16:creationId xmlns:a16="http://schemas.microsoft.com/office/drawing/2014/main" id="{301810A5-5AC2-4D1B-936D-6E6B4D01713A}"/>
              </a:ext>
            </a:extLst>
          </p:cNvPr>
          <p:cNvSpPr>
            <a:spLocks xmlns:a="http://schemas.openxmlformats.org/drawingml/2006/main" noGrp="1"/>
          </p:cNvSpPr>
          <p:nvPr/>
        </p:nvSpPr>
        <p:spPr>
          <a:xfrm xmlns:a="http://schemas.openxmlformats.org/drawingml/2006/main">
            <a:off x="685800" y="685800"/>
            <a:ext cx="93345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45B63"/>
                </a:solidFill>
                <a:latin typeface="Aptos Display"/>
                <a:ea typeface="Aptos Display"/>
                <a:cs typeface="Aptos Display"/>
              </a:defRPr>
            </a:pPr>
            <a:r>
              <a:rPr sz="2550" b="1">
                <a:solidFill>
                  <a:srgbClr val="F45B63"/>
                </a:solidFill>
                <a:latin typeface="Aptos Display"/>
                <a:ea typeface="Aptos Display"/>
                <a:cs typeface="Aptos Display"/>
              </a:rPr>
              <a:t>Ba nhóm người dùng cùng vận hành trên một hệ sinh thái ví.</a:t>
            </a:r>
          </a:p>
        </p:txBody>
      </p:sp>
      <p:sp>
        <p:nvSpPr>
          <p:cNvPr id="8" name="">
            <a:extLst xmlns:a="http://schemas.openxmlformats.org/drawingml/2006/main">
              <a:ext uri="{FF2B5EF4-FFF2-40B4-BE49-F238E27FC236}">
                <a16:creationId xmlns:a16="http://schemas.microsoft.com/office/drawing/2014/main" id="{B6D4409D-2BC3-4223-B008-56A77DAA2F2F}"/>
              </a:ext>
            </a:extLst>
          </p:cNvPr>
          <p:cNvSpPr>
            <a:spLocks xmlns:a="http://schemas.openxmlformats.org/drawingml/2006/main" noGrp="1"/>
          </p:cNvSpPr>
          <p:nvPr/>
        </p:nvSpPr>
        <p:spPr>
          <a:xfrm xmlns:a="http://schemas.openxmlformats.org/drawingml/2006/main">
            <a:off x="685800" y="1485900"/>
            <a:ext cx="10763250" cy="19050"/>
          </a:xfrm>
          <a:prstGeom xmlns:a="http://schemas.openxmlformats.org/drawingml/2006/main" prst="rect">
            <a:avLst/>
          </a:prstGeom>
          <a:solidFill xmlns:a="http://schemas.openxmlformats.org/drawingml/2006/main">
            <a:srgbClr val="EEF1F5"/>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E1D87BE9-D0F5-407E-8F69-CF3AEDBA3DD7}"/>
              </a:ext>
            </a:extLst>
          </p:cNvPr>
          <p:cNvSpPr>
            <a:spLocks xmlns:a="http://schemas.openxmlformats.org/drawingml/2006/main" noGrp="1"/>
          </p:cNvSpPr>
          <p:nvPr/>
        </p:nvSpPr>
        <p:spPr>
          <a:xfrm xmlns:a="http://schemas.openxmlformats.org/drawingml/2006/main">
            <a:off x="781050" y="2400300"/>
            <a:ext cx="2190750" cy="87630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6E01992C-1B3C-4217-943A-71650E4BB6F7}"/>
              </a:ext>
            </a:extLst>
          </p:cNvPr>
          <p:cNvSpPr>
            <a:spLocks xmlns:a="http://schemas.openxmlformats.org/drawingml/2006/main" noGrp="1"/>
          </p:cNvSpPr>
          <p:nvPr/>
        </p:nvSpPr>
        <p:spPr>
          <a:xfrm xmlns:a="http://schemas.openxmlformats.org/drawingml/2006/main">
            <a:off x="876300" y="2495550"/>
            <a:ext cx="20002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Người dùng chưa đăng ký</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Đăng ký - Đăng nhập</a:t>
            </a:r>
          </a:p>
        </p:txBody>
      </p:sp>
      <p:sp>
        <p:nvSpPr>
          <p:cNvPr id="11" name="">
            <a:extLst xmlns:a="http://schemas.openxmlformats.org/drawingml/2006/main">
              <a:ext uri="{FF2B5EF4-FFF2-40B4-BE49-F238E27FC236}">
                <a16:creationId xmlns:a16="http://schemas.microsoft.com/office/drawing/2014/main" id="{2CCFAFF8-0F1B-4AAD-9766-C3DE97328087}"/>
              </a:ext>
            </a:extLst>
          </p:cNvPr>
          <p:cNvSpPr>
            <a:spLocks xmlns:a="http://schemas.openxmlformats.org/drawingml/2006/main" noGrp="1"/>
          </p:cNvSpPr>
          <p:nvPr/>
        </p:nvSpPr>
        <p:spPr>
          <a:xfrm xmlns:a="http://schemas.openxmlformats.org/drawingml/2006/main">
            <a:off x="4857750" y="2209800"/>
            <a:ext cx="2476500" cy="1257300"/>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491FA0C7-9430-4A9A-A10A-10E340A2570F}"/>
              </a:ext>
            </a:extLst>
          </p:cNvPr>
          <p:cNvSpPr>
            <a:spLocks xmlns:a="http://schemas.openxmlformats.org/drawingml/2006/main" noGrp="1"/>
          </p:cNvSpPr>
          <p:nvPr/>
        </p:nvSpPr>
        <p:spPr>
          <a:xfrm xmlns:a="http://schemas.openxmlformats.org/drawingml/2006/main">
            <a:off x="4953000" y="2305050"/>
            <a:ext cx="2286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Sinh viên</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Ví - Dịch vụ - AI - Tiết kiệm</a:t>
            </a:r>
          </a:p>
        </p:txBody>
      </p:sp>
      <p:sp>
        <p:nvSpPr>
          <p:cNvPr id="13" name="">
            <a:extLst xmlns:a="http://schemas.openxmlformats.org/drawingml/2006/main">
              <a:ext uri="{FF2B5EF4-FFF2-40B4-BE49-F238E27FC236}">
                <a16:creationId xmlns:a16="http://schemas.microsoft.com/office/drawing/2014/main" id="{2781E400-5F57-46BE-AA69-C9A8FFA25D87}"/>
              </a:ext>
            </a:extLst>
          </p:cNvPr>
          <p:cNvSpPr>
            <a:spLocks xmlns:a="http://schemas.openxmlformats.org/drawingml/2006/main" noGrp="1"/>
          </p:cNvSpPr>
          <p:nvPr/>
        </p:nvSpPr>
        <p:spPr>
          <a:xfrm xmlns:a="http://schemas.openxmlformats.org/drawingml/2006/main">
            <a:off x="9124950" y="2400300"/>
            <a:ext cx="2190750" cy="87630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F4C28F57-E181-4D4C-B4A3-B7B1E01E40D4}"/>
              </a:ext>
            </a:extLst>
          </p:cNvPr>
          <p:cNvSpPr>
            <a:spLocks xmlns:a="http://schemas.openxmlformats.org/drawingml/2006/main" noGrp="1"/>
          </p:cNvSpPr>
          <p:nvPr/>
        </p:nvSpPr>
        <p:spPr>
          <a:xfrm xmlns:a="http://schemas.openxmlformats.org/drawingml/2006/main">
            <a:off x="9220200" y="2495550"/>
            <a:ext cx="20002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Quản trị</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Dữ liệu - Dịch vụ - Thông báo</a:t>
            </a:r>
          </a:p>
        </p:txBody>
      </p:sp>
      <p:sp>
        <p:nvSpPr>
          <p:cNvPr id="15" name="">
            <a:extLst xmlns:a="http://schemas.openxmlformats.org/drawingml/2006/main">
              <a:ext uri="{FF2B5EF4-FFF2-40B4-BE49-F238E27FC236}">
                <a16:creationId xmlns:a16="http://schemas.microsoft.com/office/drawing/2014/main" id="{67C99529-45DC-4FBE-BED7-FC53CA873DCF}"/>
              </a:ext>
            </a:extLst>
          </p:cNvPr>
          <p:cNvSpPr>
            <a:spLocks xmlns:a="http://schemas.openxmlformats.org/drawingml/2006/main" noGrp="1"/>
          </p:cNvSpPr>
          <p:nvPr/>
        </p:nvSpPr>
        <p:spPr>
          <a:xfrm xmlns:a="http://schemas.openxmlformats.org/drawingml/2006/main">
            <a:off x="2971800" y="2838450"/>
            <a:ext cx="1885950" cy="28575"/>
          </a:xfrm>
          <a:prstGeom xmlns:a="http://schemas.openxmlformats.org/drawingml/2006/main" prst="rect">
            <a:avLst/>
          </a:prstGeom>
          <a:solidFill xmlns:a="http://schemas.openxmlformats.org/drawingml/2006/main">
            <a:srgbClr val="6B7280"/>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76A08454-0047-4F8B-9ECF-2365B66AD6AC}"/>
              </a:ext>
            </a:extLst>
          </p:cNvPr>
          <p:cNvSpPr>
            <a:spLocks xmlns:a="http://schemas.openxmlformats.org/drawingml/2006/main" noGrp="1"/>
          </p:cNvSpPr>
          <p:nvPr/>
        </p:nvSpPr>
        <p:spPr>
          <a:xfrm xmlns:a="http://schemas.openxmlformats.org/drawingml/2006/main">
            <a:off x="7334250" y="2838450"/>
            <a:ext cx="1790700" cy="28575"/>
          </a:xfrm>
          <a:prstGeom xmlns:a="http://schemas.openxmlformats.org/drawingml/2006/main" prst="rect">
            <a:avLst/>
          </a:prstGeom>
          <a:solidFill xmlns:a="http://schemas.openxmlformats.org/drawingml/2006/main">
            <a:srgbClr val="6B7280"/>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0629FB8C-F9F0-4CC8-B156-1E9E313AA43E}"/>
              </a:ext>
            </a:extLst>
          </p:cNvPr>
          <p:cNvSpPr>
            <a:spLocks xmlns:a="http://schemas.openxmlformats.org/drawingml/2006/main" noGrp="1"/>
          </p:cNvSpPr>
          <p:nvPr/>
        </p:nvSpPr>
        <p:spPr>
          <a:xfrm xmlns:a="http://schemas.openxmlformats.org/drawingml/2006/main">
            <a:off x="1638300" y="4191000"/>
            <a:ext cx="1809750" cy="342900"/>
          </a:xfrm>
          <a:prstGeom xmlns:a="http://schemas.openxmlformats.org/drawingml/2006/main" prst="rect">
            <a:avLst/>
          </a:prstGeom>
          <a:solidFill xmlns:a="http://schemas.openxmlformats.org/drawingml/2006/main">
            <a:srgbClr val="EEF1F5"/>
          </a:solidFill>
          <a:ln xmlns:a="http://schemas.openxmlformats.org/drawingml/2006/main" w="9525">
            <a:solidFill>
              <a:srgbClr val="DDE2E8"/>
            </a:solidFill>
            <a:prstDash val="solid"/>
          </a:ln>
        </p:spPr>
      </p:sp>
      <p:sp>
        <p:nvSpPr>
          <p:cNvPr id="18" name="">
            <a:extLst xmlns:a="http://schemas.openxmlformats.org/drawingml/2006/main">
              <a:ext uri="{FF2B5EF4-FFF2-40B4-BE49-F238E27FC236}">
                <a16:creationId xmlns:a16="http://schemas.microsoft.com/office/drawing/2014/main" id="{4EA44740-FE54-4057-A170-FB519D8CAB02}"/>
              </a:ext>
            </a:extLst>
          </p:cNvPr>
          <p:cNvSpPr>
            <a:spLocks xmlns:a="http://schemas.openxmlformats.org/drawingml/2006/main" noGrp="1"/>
          </p:cNvSpPr>
          <p:nvPr/>
        </p:nvSpPr>
        <p:spPr>
          <a:xfrm xmlns:a="http://schemas.openxmlformats.org/drawingml/2006/main">
            <a:off x="1733550" y="4276725"/>
            <a:ext cx="1619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02631"/>
                </a:solidFill>
                <a:latin typeface="Aptos"/>
                <a:ea typeface="Aptos"/>
                <a:cs typeface="Aptos"/>
              </a:defRPr>
            </a:pPr>
            <a:r>
              <a:rPr sz="1050" b="1">
                <a:solidFill>
                  <a:srgbClr val="202631"/>
                </a:solidFill>
                <a:latin typeface="Aptos"/>
                <a:ea typeface="Aptos"/>
                <a:cs typeface="Aptos"/>
              </a:rPr>
              <a:t>Xác thực sinh viên</a:t>
            </a:r>
          </a:p>
        </p:txBody>
      </p:sp>
      <p:sp>
        <p:nvSpPr>
          <p:cNvPr id="19" name="">
            <a:extLst xmlns:a="http://schemas.openxmlformats.org/drawingml/2006/main">
              <a:ext uri="{FF2B5EF4-FFF2-40B4-BE49-F238E27FC236}">
                <a16:creationId xmlns:a16="http://schemas.microsoft.com/office/drawing/2014/main" id="{E114C8A0-BF1B-4DF0-A061-FA100A7578EF}"/>
              </a:ext>
            </a:extLst>
          </p:cNvPr>
          <p:cNvSpPr>
            <a:spLocks xmlns:a="http://schemas.openxmlformats.org/drawingml/2006/main" noGrp="1"/>
          </p:cNvSpPr>
          <p:nvPr/>
        </p:nvSpPr>
        <p:spPr>
          <a:xfrm xmlns:a="http://schemas.openxmlformats.org/drawingml/2006/main">
            <a:off x="3876675" y="4191000"/>
            <a:ext cx="1809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DDE2E8"/>
            </a:solidFill>
            <a:prstDash val="solid"/>
          </a:ln>
        </p:spPr>
      </p:sp>
      <p:sp>
        <p:nvSpPr>
          <p:cNvPr id="20" name="">
            <a:extLst xmlns:a="http://schemas.openxmlformats.org/drawingml/2006/main">
              <a:ext uri="{FF2B5EF4-FFF2-40B4-BE49-F238E27FC236}">
                <a16:creationId xmlns:a16="http://schemas.microsoft.com/office/drawing/2014/main" id="{9797CBEC-9FDF-42F6-BC94-CCBD22232425}"/>
              </a:ext>
            </a:extLst>
          </p:cNvPr>
          <p:cNvSpPr>
            <a:spLocks xmlns:a="http://schemas.openxmlformats.org/drawingml/2006/main" noGrp="1"/>
          </p:cNvSpPr>
          <p:nvPr/>
        </p:nvSpPr>
        <p:spPr>
          <a:xfrm xmlns:a="http://schemas.openxmlformats.org/drawingml/2006/main">
            <a:off x="3971925" y="4276725"/>
            <a:ext cx="1619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02631"/>
                </a:solidFill>
                <a:latin typeface="Aptos"/>
                <a:ea typeface="Aptos"/>
                <a:cs typeface="Aptos"/>
              </a:defRPr>
            </a:pPr>
            <a:r>
              <a:rPr sz="1050" b="1">
                <a:solidFill>
                  <a:srgbClr val="202631"/>
                </a:solidFill>
                <a:latin typeface="Aptos"/>
                <a:ea typeface="Aptos"/>
                <a:cs typeface="Aptos"/>
              </a:rPr>
              <a:t>Xem số dư</a:t>
            </a:r>
          </a:p>
        </p:txBody>
      </p:sp>
      <p:sp>
        <p:nvSpPr>
          <p:cNvPr id="21" name="">
            <a:extLst xmlns:a="http://schemas.openxmlformats.org/drawingml/2006/main">
              <a:ext uri="{FF2B5EF4-FFF2-40B4-BE49-F238E27FC236}">
                <a16:creationId xmlns:a16="http://schemas.microsoft.com/office/drawing/2014/main" id="{AB684C63-B8C1-47A7-8D05-FCA5CF861AAF}"/>
              </a:ext>
            </a:extLst>
          </p:cNvPr>
          <p:cNvSpPr>
            <a:spLocks xmlns:a="http://schemas.openxmlformats.org/drawingml/2006/main" noGrp="1"/>
          </p:cNvSpPr>
          <p:nvPr/>
        </p:nvSpPr>
        <p:spPr>
          <a:xfrm xmlns:a="http://schemas.openxmlformats.org/drawingml/2006/main">
            <a:off x="6115050" y="4191000"/>
            <a:ext cx="1809750" cy="342900"/>
          </a:xfrm>
          <a:prstGeom xmlns:a="http://schemas.openxmlformats.org/drawingml/2006/main" prst="rect">
            <a:avLst/>
          </a:prstGeom>
          <a:solidFill xmlns:a="http://schemas.openxmlformats.org/drawingml/2006/main">
            <a:srgbClr val="EEF1F5"/>
          </a:solidFill>
          <a:ln xmlns:a="http://schemas.openxmlformats.org/drawingml/2006/main" w="9525">
            <a:solidFill>
              <a:srgbClr val="DDE2E8"/>
            </a:solidFill>
            <a:prstDash val="solid"/>
          </a:ln>
        </p:spPr>
      </p:sp>
      <p:sp>
        <p:nvSpPr>
          <p:cNvPr id="22" name="">
            <a:extLst xmlns:a="http://schemas.openxmlformats.org/drawingml/2006/main">
              <a:ext uri="{FF2B5EF4-FFF2-40B4-BE49-F238E27FC236}">
                <a16:creationId xmlns:a16="http://schemas.microsoft.com/office/drawing/2014/main" id="{A4947E78-1A58-4E07-BC52-CDCB080538E9}"/>
              </a:ext>
            </a:extLst>
          </p:cNvPr>
          <p:cNvSpPr>
            <a:spLocks xmlns:a="http://schemas.openxmlformats.org/drawingml/2006/main" noGrp="1"/>
          </p:cNvSpPr>
          <p:nvPr/>
        </p:nvSpPr>
        <p:spPr>
          <a:xfrm xmlns:a="http://schemas.openxmlformats.org/drawingml/2006/main">
            <a:off x="6210300" y="4276725"/>
            <a:ext cx="1619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02631"/>
                </a:solidFill>
                <a:latin typeface="Aptos"/>
                <a:ea typeface="Aptos"/>
                <a:cs typeface="Aptos"/>
              </a:defRPr>
            </a:pPr>
            <a:r>
              <a:rPr sz="1050" b="1">
                <a:solidFill>
                  <a:srgbClr val="202631"/>
                </a:solidFill>
                <a:latin typeface="Aptos"/>
                <a:ea typeface="Aptos"/>
                <a:cs typeface="Aptos"/>
              </a:rPr>
              <a:t>Nạp tiền</a:t>
            </a:r>
          </a:p>
        </p:txBody>
      </p:sp>
      <p:sp>
        <p:nvSpPr>
          <p:cNvPr id="23" name="">
            <a:extLst xmlns:a="http://schemas.openxmlformats.org/drawingml/2006/main">
              <a:ext uri="{FF2B5EF4-FFF2-40B4-BE49-F238E27FC236}">
                <a16:creationId xmlns:a16="http://schemas.microsoft.com/office/drawing/2014/main" id="{70D0FDC5-AAD4-4BF0-9824-D6FD3D005981}"/>
              </a:ext>
            </a:extLst>
          </p:cNvPr>
          <p:cNvSpPr>
            <a:spLocks xmlns:a="http://schemas.openxmlformats.org/drawingml/2006/main" noGrp="1"/>
          </p:cNvSpPr>
          <p:nvPr/>
        </p:nvSpPr>
        <p:spPr>
          <a:xfrm xmlns:a="http://schemas.openxmlformats.org/drawingml/2006/main">
            <a:off x="8353425" y="4191000"/>
            <a:ext cx="1809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DDE2E8"/>
            </a:solidFill>
            <a:prstDash val="solid"/>
          </a:ln>
        </p:spPr>
      </p:sp>
      <p:sp>
        <p:nvSpPr>
          <p:cNvPr id="24" name="">
            <a:extLst xmlns:a="http://schemas.openxmlformats.org/drawingml/2006/main">
              <a:ext uri="{FF2B5EF4-FFF2-40B4-BE49-F238E27FC236}">
                <a16:creationId xmlns:a16="http://schemas.microsoft.com/office/drawing/2014/main" id="{5E2D8769-4B28-4368-9962-CDFDCCAA45D2}"/>
              </a:ext>
            </a:extLst>
          </p:cNvPr>
          <p:cNvSpPr>
            <a:spLocks xmlns:a="http://schemas.openxmlformats.org/drawingml/2006/main" noGrp="1"/>
          </p:cNvSpPr>
          <p:nvPr/>
        </p:nvSpPr>
        <p:spPr>
          <a:xfrm xmlns:a="http://schemas.openxmlformats.org/drawingml/2006/main">
            <a:off x="8448675" y="4276725"/>
            <a:ext cx="1619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02631"/>
                </a:solidFill>
                <a:latin typeface="Aptos"/>
                <a:ea typeface="Aptos"/>
                <a:cs typeface="Aptos"/>
              </a:defRPr>
            </a:pPr>
            <a:r>
              <a:rPr sz="1050" b="1">
                <a:solidFill>
                  <a:srgbClr val="202631"/>
                </a:solidFill>
                <a:latin typeface="Aptos"/>
                <a:ea typeface="Aptos"/>
                <a:cs typeface="Aptos"/>
              </a:rPr>
              <a:t>Chuyển tiền</a:t>
            </a:r>
          </a:p>
        </p:txBody>
      </p:sp>
      <p:sp>
        <p:nvSpPr>
          <p:cNvPr id="25" name="">
            <a:extLst xmlns:a="http://schemas.openxmlformats.org/drawingml/2006/main">
              <a:ext uri="{FF2B5EF4-FFF2-40B4-BE49-F238E27FC236}">
                <a16:creationId xmlns:a16="http://schemas.microsoft.com/office/drawing/2014/main" id="{57DC9869-78A5-482B-8FDE-6C8AAE48E1BE}"/>
              </a:ext>
            </a:extLst>
          </p:cNvPr>
          <p:cNvSpPr>
            <a:spLocks xmlns:a="http://schemas.openxmlformats.org/drawingml/2006/main" noGrp="1"/>
          </p:cNvSpPr>
          <p:nvPr/>
        </p:nvSpPr>
        <p:spPr>
          <a:xfrm xmlns:a="http://schemas.openxmlformats.org/drawingml/2006/main">
            <a:off x="1638300" y="4743450"/>
            <a:ext cx="1809750" cy="342900"/>
          </a:xfrm>
          <a:prstGeom xmlns:a="http://schemas.openxmlformats.org/drawingml/2006/main" prst="rect">
            <a:avLst/>
          </a:prstGeom>
          <a:solidFill xmlns:a="http://schemas.openxmlformats.org/drawingml/2006/main">
            <a:srgbClr val="EEF1F5"/>
          </a:solidFill>
          <a:ln xmlns:a="http://schemas.openxmlformats.org/drawingml/2006/main" w="9525">
            <a:solidFill>
              <a:srgbClr val="DDE2E8"/>
            </a:solidFill>
            <a:prstDash val="solid"/>
          </a:ln>
        </p:spPr>
      </p:sp>
      <p:sp>
        <p:nvSpPr>
          <p:cNvPr id="26" name="">
            <a:extLst xmlns:a="http://schemas.openxmlformats.org/drawingml/2006/main">
              <a:ext uri="{FF2B5EF4-FFF2-40B4-BE49-F238E27FC236}">
                <a16:creationId xmlns:a16="http://schemas.microsoft.com/office/drawing/2014/main" id="{88982FFE-EDC4-4619-AF72-270745367F92}"/>
              </a:ext>
            </a:extLst>
          </p:cNvPr>
          <p:cNvSpPr>
            <a:spLocks xmlns:a="http://schemas.openxmlformats.org/drawingml/2006/main" noGrp="1"/>
          </p:cNvSpPr>
          <p:nvPr/>
        </p:nvSpPr>
        <p:spPr>
          <a:xfrm xmlns:a="http://schemas.openxmlformats.org/drawingml/2006/main">
            <a:off x="1733550" y="4829175"/>
            <a:ext cx="1619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02631"/>
                </a:solidFill>
                <a:latin typeface="Aptos"/>
                <a:ea typeface="Aptos"/>
                <a:cs typeface="Aptos"/>
              </a:defRPr>
            </a:pPr>
            <a:r>
              <a:rPr sz="1050" b="1">
                <a:solidFill>
                  <a:srgbClr val="202631"/>
                </a:solidFill>
                <a:latin typeface="Aptos"/>
                <a:ea typeface="Aptos"/>
                <a:cs typeface="Aptos"/>
              </a:rPr>
              <a:t>Thanh toán dịch vụ</a:t>
            </a:r>
          </a:p>
        </p:txBody>
      </p:sp>
      <p:sp>
        <p:nvSpPr>
          <p:cNvPr id="27" name="">
            <a:extLst xmlns:a="http://schemas.openxmlformats.org/drawingml/2006/main">
              <a:ext uri="{FF2B5EF4-FFF2-40B4-BE49-F238E27FC236}">
                <a16:creationId xmlns:a16="http://schemas.microsoft.com/office/drawing/2014/main" id="{09015C16-4F6B-4EDD-B73E-38F1496F8A99}"/>
              </a:ext>
            </a:extLst>
          </p:cNvPr>
          <p:cNvSpPr>
            <a:spLocks xmlns:a="http://schemas.openxmlformats.org/drawingml/2006/main" noGrp="1"/>
          </p:cNvSpPr>
          <p:nvPr/>
        </p:nvSpPr>
        <p:spPr>
          <a:xfrm xmlns:a="http://schemas.openxmlformats.org/drawingml/2006/main">
            <a:off x="3876675" y="4743450"/>
            <a:ext cx="1809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DDE2E8"/>
            </a:solidFill>
            <a:prstDash val="solid"/>
          </a:ln>
        </p:spPr>
      </p:sp>
      <p:sp>
        <p:nvSpPr>
          <p:cNvPr id="28" name="">
            <a:extLst xmlns:a="http://schemas.openxmlformats.org/drawingml/2006/main">
              <a:ext uri="{FF2B5EF4-FFF2-40B4-BE49-F238E27FC236}">
                <a16:creationId xmlns:a16="http://schemas.microsoft.com/office/drawing/2014/main" id="{7977F87F-2B78-401B-A63A-020870FC85BE}"/>
              </a:ext>
            </a:extLst>
          </p:cNvPr>
          <p:cNvSpPr>
            <a:spLocks xmlns:a="http://schemas.openxmlformats.org/drawingml/2006/main" noGrp="1"/>
          </p:cNvSpPr>
          <p:nvPr/>
        </p:nvSpPr>
        <p:spPr>
          <a:xfrm xmlns:a="http://schemas.openxmlformats.org/drawingml/2006/main">
            <a:off x="3971925" y="4829175"/>
            <a:ext cx="1619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02631"/>
                </a:solidFill>
                <a:latin typeface="Aptos"/>
                <a:ea typeface="Aptos"/>
                <a:cs typeface="Aptos"/>
              </a:defRPr>
            </a:pPr>
            <a:r>
              <a:rPr sz="1050" b="1">
                <a:solidFill>
                  <a:srgbClr val="202631"/>
                </a:solidFill>
                <a:latin typeface="Aptos"/>
                <a:ea typeface="Aptos"/>
                <a:cs typeface="Aptos"/>
              </a:rPr>
              <a:t>Lịch sử giao dịch</a:t>
            </a:r>
          </a:p>
        </p:txBody>
      </p:sp>
      <p:sp>
        <p:nvSpPr>
          <p:cNvPr id="29" name="">
            <a:extLst xmlns:a="http://schemas.openxmlformats.org/drawingml/2006/main">
              <a:ext uri="{FF2B5EF4-FFF2-40B4-BE49-F238E27FC236}">
                <a16:creationId xmlns:a16="http://schemas.microsoft.com/office/drawing/2014/main" id="{00257BA7-EC37-4F0C-8D6C-203FFAE9913B}"/>
              </a:ext>
            </a:extLst>
          </p:cNvPr>
          <p:cNvSpPr>
            <a:spLocks xmlns:a="http://schemas.openxmlformats.org/drawingml/2006/main" noGrp="1"/>
          </p:cNvSpPr>
          <p:nvPr/>
        </p:nvSpPr>
        <p:spPr>
          <a:xfrm xmlns:a="http://schemas.openxmlformats.org/drawingml/2006/main">
            <a:off x="6115050" y="4743450"/>
            <a:ext cx="1809750" cy="342900"/>
          </a:xfrm>
          <a:prstGeom xmlns:a="http://schemas.openxmlformats.org/drawingml/2006/main" prst="rect">
            <a:avLst/>
          </a:prstGeom>
          <a:solidFill xmlns:a="http://schemas.openxmlformats.org/drawingml/2006/main">
            <a:srgbClr val="EEF1F5"/>
          </a:solidFill>
          <a:ln xmlns:a="http://schemas.openxmlformats.org/drawingml/2006/main" w="9525">
            <a:solidFill>
              <a:srgbClr val="DDE2E8"/>
            </a:solidFill>
            <a:prstDash val="solid"/>
          </a:ln>
        </p:spPr>
      </p:sp>
      <p:sp>
        <p:nvSpPr>
          <p:cNvPr id="30" name="">
            <a:extLst xmlns:a="http://schemas.openxmlformats.org/drawingml/2006/main">
              <a:ext uri="{FF2B5EF4-FFF2-40B4-BE49-F238E27FC236}">
                <a16:creationId xmlns:a16="http://schemas.microsoft.com/office/drawing/2014/main" id="{237229CE-EBE4-4BF4-BF26-5261EB11BA67}"/>
              </a:ext>
            </a:extLst>
          </p:cNvPr>
          <p:cNvSpPr>
            <a:spLocks xmlns:a="http://schemas.openxmlformats.org/drawingml/2006/main" noGrp="1"/>
          </p:cNvSpPr>
          <p:nvPr/>
        </p:nvSpPr>
        <p:spPr>
          <a:xfrm xmlns:a="http://schemas.openxmlformats.org/drawingml/2006/main">
            <a:off x="6210300" y="4829175"/>
            <a:ext cx="1619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02631"/>
                </a:solidFill>
                <a:latin typeface="Aptos"/>
                <a:ea typeface="Aptos"/>
                <a:cs typeface="Aptos"/>
              </a:defRPr>
            </a:pPr>
            <a:r>
              <a:rPr sz="1050" b="1">
                <a:solidFill>
                  <a:srgbClr val="202631"/>
                </a:solidFill>
                <a:latin typeface="Aptos"/>
                <a:ea typeface="Aptos"/>
                <a:cs typeface="Aptos"/>
              </a:rPr>
              <a:t>Thống kê &amp; AI</a:t>
            </a:r>
          </a:p>
        </p:txBody>
      </p:sp>
      <p:sp>
        <p:nvSpPr>
          <p:cNvPr id="31" name="">
            <a:extLst xmlns:a="http://schemas.openxmlformats.org/drawingml/2006/main">
              <a:ext uri="{FF2B5EF4-FFF2-40B4-BE49-F238E27FC236}">
                <a16:creationId xmlns:a16="http://schemas.microsoft.com/office/drawing/2014/main" id="{7D5CAFAC-41A2-4D5D-879B-0C8A2FA28EB6}"/>
              </a:ext>
            </a:extLst>
          </p:cNvPr>
          <p:cNvSpPr>
            <a:spLocks xmlns:a="http://schemas.openxmlformats.org/drawingml/2006/main" noGrp="1"/>
          </p:cNvSpPr>
          <p:nvPr/>
        </p:nvSpPr>
        <p:spPr>
          <a:xfrm xmlns:a="http://schemas.openxmlformats.org/drawingml/2006/main">
            <a:off x="8353425" y="4743450"/>
            <a:ext cx="1809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DDE2E8"/>
            </a:solidFill>
            <a:prstDash val="solid"/>
          </a:ln>
        </p:spPr>
      </p:sp>
      <p:sp>
        <p:nvSpPr>
          <p:cNvPr id="32" name="">
            <a:extLst xmlns:a="http://schemas.openxmlformats.org/drawingml/2006/main">
              <a:ext uri="{FF2B5EF4-FFF2-40B4-BE49-F238E27FC236}">
                <a16:creationId xmlns:a16="http://schemas.microsoft.com/office/drawing/2014/main" id="{E680AC25-93CF-478C-945C-9CB79FF5D3B6}"/>
              </a:ext>
            </a:extLst>
          </p:cNvPr>
          <p:cNvSpPr>
            <a:spLocks xmlns:a="http://schemas.openxmlformats.org/drawingml/2006/main" noGrp="1"/>
          </p:cNvSpPr>
          <p:nvPr/>
        </p:nvSpPr>
        <p:spPr>
          <a:xfrm xmlns:a="http://schemas.openxmlformats.org/drawingml/2006/main">
            <a:off x="8448675" y="4829175"/>
            <a:ext cx="1619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02631"/>
                </a:solidFill>
                <a:latin typeface="Aptos"/>
                <a:ea typeface="Aptos"/>
                <a:cs typeface="Aptos"/>
              </a:defRPr>
            </a:pPr>
            <a:r>
              <a:rPr sz="1050" b="1">
                <a:solidFill>
                  <a:srgbClr val="202631"/>
                </a:solidFill>
                <a:latin typeface="Aptos"/>
                <a:ea typeface="Aptos"/>
                <a:cs typeface="Aptos"/>
              </a:rPr>
              <a:t>Hũ tiết kiệm</a:t>
            </a:r>
          </a:p>
        </p:txBody>
      </p:sp>
    </p:spTree>
    <p:extLst>
      <p:ext uri="{BB962C8B-B14F-4D97-AF65-F5344CB8AC3E}">
        <p14:creationId xmlns:p14="http://schemas.microsoft.com/office/powerpoint/2010/main" val="92229358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A9ACC7E-D936-4BDD-82A4-4B4B618267D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BFBF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F9D9BA7-2581-448D-8343-34A6558DBC0C}"/>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22D6876-6991-478F-AA55-5EE8F70378E2}"/>
              </a:ext>
            </a:extLst>
          </p:cNvPr>
          <p:cNvSpPr>
            <a:spLocks xmlns:a="http://schemas.openxmlformats.org/drawingml/2006/main" noGrp="1"/>
          </p:cNvSpPr>
          <p:nvPr/>
        </p:nvSpPr>
        <p:spPr>
          <a:xfrm xmlns:a="http://schemas.openxmlformats.org/drawingml/2006/main">
            <a:off x="0" y="6191250"/>
            <a:ext cx="12192000" cy="9525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6C5566BD-1DB5-4FD6-8299-C2D51D41F0E4}"/>
              </a:ext>
            </a:extLst>
          </p:cNvPr>
          <p:cNvSpPr>
            <a:spLocks xmlns:a="http://schemas.openxmlformats.org/drawingml/2006/main" noGrp="1"/>
          </p:cNvSpPr>
          <p:nvPr/>
        </p:nvSpPr>
        <p:spPr>
          <a:xfrm xmlns:a="http://schemas.openxmlformats.org/drawingml/2006/main">
            <a:off x="171450" y="6429375"/>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9AA1AA"/>
                </a:solidFill>
                <a:latin typeface="Aptos"/>
                <a:ea typeface="Aptos"/>
                <a:cs typeface="Aptos"/>
              </a:defRPr>
            </a:pPr>
            <a:r>
              <a:rPr sz="600" b="0">
                <a:solidFill>
                  <a:srgbClr val="9AA1AA"/>
                </a:solidFill>
                <a:latin typeface="Aptos"/>
                <a:ea typeface="Aptos"/>
                <a:cs typeface="Aptos"/>
              </a:rPr>
              <a:t>Slide 06</a:t>
            </a:r>
          </a:p>
        </p:txBody>
      </p:sp>
      <p:sp>
        <p:nvSpPr>
          <p:cNvPr id="5" name="">
            <a:extLst xmlns:a="http://schemas.openxmlformats.org/drawingml/2006/main">
              <a:ext uri="{FF2B5EF4-FFF2-40B4-BE49-F238E27FC236}">
                <a16:creationId xmlns:a16="http://schemas.microsoft.com/office/drawing/2014/main" id="{3800B649-806B-4635-8BC9-33F465EA524A}"/>
              </a:ext>
            </a:extLst>
          </p:cNvPr>
          <p:cNvSpPr>
            <a:spLocks xmlns:a="http://schemas.openxmlformats.org/drawingml/2006/main" noGrp="1"/>
          </p:cNvSpPr>
          <p:nvPr/>
        </p:nvSpPr>
        <p:spPr>
          <a:xfrm xmlns:a="http://schemas.openxmlformats.org/drawingml/2006/main">
            <a:off x="0" y="514350"/>
            <a:ext cx="12192000" cy="53340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DBD41C81-6015-498F-8610-2AEFE067AA05}"/>
              </a:ext>
            </a:extLst>
          </p:cNvPr>
          <p:cNvSpPr>
            <a:spLocks xmlns:a="http://schemas.openxmlformats.org/drawingml/2006/main" noGrp="1"/>
          </p:cNvSpPr>
          <p:nvPr/>
        </p:nvSpPr>
        <p:spPr>
          <a:xfrm xmlns:a="http://schemas.openxmlformats.org/drawingml/2006/main">
            <a:off x="685800" y="361950"/>
            <a:ext cx="304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B7280"/>
                </a:solidFill>
                <a:latin typeface="Aptos"/>
                <a:ea typeface="Aptos"/>
                <a:cs typeface="Aptos"/>
              </a:defRPr>
            </a:pPr>
            <a:r>
              <a:rPr sz="900" b="1">
                <a:solidFill>
                  <a:srgbClr val="6B7280"/>
                </a:solidFill>
                <a:latin typeface="Aptos"/>
                <a:ea typeface="Aptos"/>
                <a:cs typeface="Aptos"/>
              </a:rPr>
              <a:t>KIẾN TRÚC</a:t>
            </a:r>
          </a:p>
        </p:txBody>
      </p:sp>
      <p:sp>
        <p:nvSpPr>
          <p:cNvPr id="7" name="">
            <a:extLst xmlns:a="http://schemas.openxmlformats.org/drawingml/2006/main">
              <a:ext uri="{FF2B5EF4-FFF2-40B4-BE49-F238E27FC236}">
                <a16:creationId xmlns:a16="http://schemas.microsoft.com/office/drawing/2014/main" id="{FE918734-85AE-47A9-90E2-8136337CB197}"/>
              </a:ext>
            </a:extLst>
          </p:cNvPr>
          <p:cNvSpPr>
            <a:spLocks xmlns:a="http://schemas.openxmlformats.org/drawingml/2006/main" noGrp="1"/>
          </p:cNvSpPr>
          <p:nvPr/>
        </p:nvSpPr>
        <p:spPr>
          <a:xfrm xmlns:a="http://schemas.openxmlformats.org/drawingml/2006/main">
            <a:off x="685800" y="628650"/>
            <a:ext cx="10287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ptos"/>
                <a:ea typeface="Aptos"/>
                <a:cs typeface="Aptos"/>
              </a:defRPr>
            </a:pPr>
            <a:r>
              <a:rPr sz="1800" b="1">
                <a:solidFill>
                  <a:srgbClr val="FFFFFF"/>
                </a:solidFill>
                <a:latin typeface="Aptos"/>
                <a:ea typeface="Aptos"/>
                <a:cs typeface="Aptos"/>
              </a:rPr>
              <a:t>REST API liên kết app iOS, admin web, cơ sở dữ liệu và các dịch vụ xử lý.</a:t>
            </a:r>
          </a:p>
        </p:txBody>
      </p:sp>
      <p:sp>
        <p:nvSpPr>
          <p:cNvPr id="8" name="">
            <a:extLst xmlns:a="http://schemas.openxmlformats.org/drawingml/2006/main">
              <a:ext uri="{FF2B5EF4-FFF2-40B4-BE49-F238E27FC236}">
                <a16:creationId xmlns:a16="http://schemas.microsoft.com/office/drawing/2014/main" id="{CF30597A-5967-4883-AEDE-FF61244D2A41}"/>
              </a:ext>
            </a:extLst>
          </p:cNvPr>
          <p:cNvSpPr>
            <a:spLocks xmlns:a="http://schemas.openxmlformats.org/drawingml/2006/main" noGrp="1"/>
          </p:cNvSpPr>
          <p:nvPr/>
        </p:nvSpPr>
        <p:spPr>
          <a:xfrm xmlns:a="http://schemas.openxmlformats.org/drawingml/2006/main">
            <a:off x="1047750" y="1809750"/>
            <a:ext cx="1809750" cy="81915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75F8C05E-A752-425D-BF8D-F09F7331AD9E}"/>
              </a:ext>
            </a:extLst>
          </p:cNvPr>
          <p:cNvSpPr>
            <a:spLocks xmlns:a="http://schemas.openxmlformats.org/drawingml/2006/main" noGrp="1"/>
          </p:cNvSpPr>
          <p:nvPr/>
        </p:nvSpPr>
        <p:spPr>
          <a:xfrm xmlns:a="http://schemas.openxmlformats.org/drawingml/2006/main">
            <a:off x="1143000" y="1905000"/>
            <a:ext cx="16192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iOS App</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Swift + UIKit</a:t>
            </a:r>
          </a:p>
        </p:txBody>
      </p:sp>
      <p:sp>
        <p:nvSpPr>
          <p:cNvPr id="10" name="">
            <a:extLst xmlns:a="http://schemas.openxmlformats.org/drawingml/2006/main">
              <a:ext uri="{FF2B5EF4-FFF2-40B4-BE49-F238E27FC236}">
                <a16:creationId xmlns:a16="http://schemas.microsoft.com/office/drawing/2014/main" id="{EF33A763-0BEB-4B99-A0BA-F69E91E9281E}"/>
              </a:ext>
            </a:extLst>
          </p:cNvPr>
          <p:cNvSpPr>
            <a:spLocks xmlns:a="http://schemas.openxmlformats.org/drawingml/2006/main" noGrp="1"/>
          </p:cNvSpPr>
          <p:nvPr/>
        </p:nvSpPr>
        <p:spPr>
          <a:xfrm xmlns:a="http://schemas.openxmlformats.org/drawingml/2006/main">
            <a:off x="1047750" y="3667125"/>
            <a:ext cx="1809750" cy="819150"/>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FDBCECBF-1814-4A87-99F4-880B3F4F9273}"/>
              </a:ext>
            </a:extLst>
          </p:cNvPr>
          <p:cNvSpPr>
            <a:spLocks xmlns:a="http://schemas.openxmlformats.org/drawingml/2006/main" noGrp="1"/>
          </p:cNvSpPr>
          <p:nvPr/>
        </p:nvSpPr>
        <p:spPr>
          <a:xfrm xmlns:a="http://schemas.openxmlformats.org/drawingml/2006/main">
            <a:off x="1143000" y="3762375"/>
            <a:ext cx="16192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Admin Web</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Vite + JS</a:t>
            </a:r>
          </a:p>
        </p:txBody>
      </p:sp>
      <p:sp>
        <p:nvSpPr>
          <p:cNvPr id="12" name="">
            <a:extLst xmlns:a="http://schemas.openxmlformats.org/drawingml/2006/main">
              <a:ext uri="{FF2B5EF4-FFF2-40B4-BE49-F238E27FC236}">
                <a16:creationId xmlns:a16="http://schemas.microsoft.com/office/drawing/2014/main" id="{8455A07F-CBF6-423E-ABFC-E6FC776E596F}"/>
              </a:ext>
            </a:extLst>
          </p:cNvPr>
          <p:cNvSpPr>
            <a:spLocks xmlns:a="http://schemas.openxmlformats.org/drawingml/2006/main" noGrp="1"/>
          </p:cNvSpPr>
          <p:nvPr/>
        </p:nvSpPr>
        <p:spPr>
          <a:xfrm xmlns:a="http://schemas.openxmlformats.org/drawingml/2006/main">
            <a:off x="4495800" y="2571750"/>
            <a:ext cx="3238500" cy="120015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051F4808-3E6B-46B0-AA36-CFBFB624663D}"/>
              </a:ext>
            </a:extLst>
          </p:cNvPr>
          <p:cNvSpPr>
            <a:spLocks xmlns:a="http://schemas.openxmlformats.org/drawingml/2006/main" noGrp="1"/>
          </p:cNvSpPr>
          <p:nvPr/>
        </p:nvSpPr>
        <p:spPr>
          <a:xfrm xmlns:a="http://schemas.openxmlformats.org/drawingml/2006/main">
            <a:off x="4591050" y="2667000"/>
            <a:ext cx="3048000" cy="1009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202631"/>
                </a:solidFill>
                <a:latin typeface="Aptos"/>
                <a:ea typeface="Aptos"/>
                <a:cs typeface="Aptos"/>
              </a:defRPr>
            </a:pPr>
            <a:r>
              <a:rPr sz="1200" b="1">
                <a:solidFill>
                  <a:srgbClr val="202631"/>
                </a:solidFill>
                <a:latin typeface="Aptos"/>
                <a:ea typeface="Aptos"/>
                <a:cs typeface="Aptos"/>
              </a:rPr>
              <a:t>Express API Server</a:t>
            </a:r>
          </a:p>
          <a:p xmlns:a="http://schemas.openxmlformats.org/drawingml/2006/main">
            <a:pPr algn="ctr">
              <a:defRPr sz="1200" b="1">
                <a:solidFill>
                  <a:srgbClr val="202631"/>
                </a:solidFill>
                <a:latin typeface="Aptos"/>
                <a:ea typeface="Aptos"/>
                <a:cs typeface="Aptos"/>
              </a:defRPr>
            </a:pPr>
            <a:r>
              <a:rPr sz="1200" b="1">
                <a:solidFill>
                  <a:srgbClr val="202631"/>
                </a:solidFill>
                <a:latin typeface="Aptos"/>
                <a:ea typeface="Aptos"/>
                <a:cs typeface="Aptos"/>
              </a:rPr>
              <a:t>Auth / Wallet / Transfer / Payment / Analytics</a:t>
            </a:r>
          </a:p>
        </p:txBody>
      </p:sp>
      <p:sp>
        <p:nvSpPr>
          <p:cNvPr id="14" name="">
            <a:extLst xmlns:a="http://schemas.openxmlformats.org/drawingml/2006/main">
              <a:ext uri="{FF2B5EF4-FFF2-40B4-BE49-F238E27FC236}">
                <a16:creationId xmlns:a16="http://schemas.microsoft.com/office/drawing/2014/main" id="{A578646A-FFFC-4153-A073-5E537D393310}"/>
              </a:ext>
            </a:extLst>
          </p:cNvPr>
          <p:cNvSpPr>
            <a:spLocks xmlns:a="http://schemas.openxmlformats.org/drawingml/2006/main" noGrp="1"/>
          </p:cNvSpPr>
          <p:nvPr/>
        </p:nvSpPr>
        <p:spPr>
          <a:xfrm xmlns:a="http://schemas.openxmlformats.org/drawingml/2006/main">
            <a:off x="9239250" y="1809750"/>
            <a:ext cx="1809750" cy="819150"/>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17ADB533-DC06-4FE0-8616-5CB5E86A3157}"/>
              </a:ext>
            </a:extLst>
          </p:cNvPr>
          <p:cNvSpPr>
            <a:spLocks xmlns:a="http://schemas.openxmlformats.org/drawingml/2006/main" noGrp="1"/>
          </p:cNvSpPr>
          <p:nvPr/>
        </p:nvSpPr>
        <p:spPr>
          <a:xfrm xmlns:a="http://schemas.openxmlformats.org/drawingml/2006/main">
            <a:off x="9334500" y="1905000"/>
            <a:ext cx="16192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MongoDB</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Collections nghiệp vụ</a:t>
            </a:r>
          </a:p>
        </p:txBody>
      </p:sp>
      <p:sp>
        <p:nvSpPr>
          <p:cNvPr id="16" name="">
            <a:extLst xmlns:a="http://schemas.openxmlformats.org/drawingml/2006/main">
              <a:ext uri="{FF2B5EF4-FFF2-40B4-BE49-F238E27FC236}">
                <a16:creationId xmlns:a16="http://schemas.microsoft.com/office/drawing/2014/main" id="{64949FB8-719E-498E-B70C-EC2F50CD299B}"/>
              </a:ext>
            </a:extLst>
          </p:cNvPr>
          <p:cNvSpPr>
            <a:spLocks xmlns:a="http://schemas.openxmlformats.org/drawingml/2006/main" noGrp="1"/>
          </p:cNvSpPr>
          <p:nvPr/>
        </p:nvSpPr>
        <p:spPr>
          <a:xfrm xmlns:a="http://schemas.openxmlformats.org/drawingml/2006/main">
            <a:off x="8934450" y="3667125"/>
            <a:ext cx="2419350" cy="81915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D67752B0-14E3-41A4-9756-E65B440DFC5E}"/>
              </a:ext>
            </a:extLst>
          </p:cNvPr>
          <p:cNvSpPr>
            <a:spLocks xmlns:a="http://schemas.openxmlformats.org/drawingml/2006/main" noGrp="1"/>
          </p:cNvSpPr>
          <p:nvPr/>
        </p:nvSpPr>
        <p:spPr>
          <a:xfrm xmlns:a="http://schemas.openxmlformats.org/drawingml/2006/main">
            <a:off x="9029700" y="3762375"/>
            <a:ext cx="22288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VNPay + AI Engine</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Top-up callback / gợi ý chi tiêu</a:t>
            </a:r>
          </a:p>
        </p:txBody>
      </p:sp>
      <p:sp>
        <p:nvSpPr>
          <p:cNvPr id="18" name="">
            <a:extLst xmlns:a="http://schemas.openxmlformats.org/drawingml/2006/main">
              <a:ext uri="{FF2B5EF4-FFF2-40B4-BE49-F238E27FC236}">
                <a16:creationId xmlns:a16="http://schemas.microsoft.com/office/drawing/2014/main" id="{9853A455-6652-4B6B-B2DC-3CFE7B7F4144}"/>
              </a:ext>
            </a:extLst>
          </p:cNvPr>
          <p:cNvSpPr>
            <a:spLocks xmlns:a="http://schemas.openxmlformats.org/drawingml/2006/main" noGrp="1"/>
          </p:cNvSpPr>
          <p:nvPr/>
        </p:nvSpPr>
        <p:spPr>
          <a:xfrm xmlns:a="http://schemas.openxmlformats.org/drawingml/2006/main">
            <a:off x="2857500" y="2219325"/>
            <a:ext cx="1638300" cy="28575"/>
          </a:xfrm>
          <a:prstGeom xmlns:a="http://schemas.openxmlformats.org/drawingml/2006/main" prst="rect">
            <a:avLst/>
          </a:prstGeom>
          <a:solidFill xmlns:a="http://schemas.openxmlformats.org/drawingml/2006/main">
            <a:srgbClr val="6B7280"/>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997A9B80-21C4-42EC-805C-1BC2DECE4522}"/>
              </a:ext>
            </a:extLst>
          </p:cNvPr>
          <p:cNvSpPr>
            <a:spLocks xmlns:a="http://schemas.openxmlformats.org/drawingml/2006/main" noGrp="1"/>
          </p:cNvSpPr>
          <p:nvPr/>
        </p:nvSpPr>
        <p:spPr>
          <a:xfrm xmlns:a="http://schemas.openxmlformats.org/drawingml/2006/main">
            <a:off x="2857500" y="4076700"/>
            <a:ext cx="1638300" cy="28575"/>
          </a:xfrm>
          <a:prstGeom xmlns:a="http://schemas.openxmlformats.org/drawingml/2006/main" prst="rect">
            <a:avLst/>
          </a:prstGeom>
          <a:solidFill xmlns:a="http://schemas.openxmlformats.org/drawingml/2006/main">
            <a:srgbClr val="6B7280"/>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979AFF11-1FEF-4112-8AA6-CCECE173F7D2}"/>
              </a:ext>
            </a:extLst>
          </p:cNvPr>
          <p:cNvSpPr>
            <a:spLocks xmlns:a="http://schemas.openxmlformats.org/drawingml/2006/main" noGrp="1"/>
          </p:cNvSpPr>
          <p:nvPr/>
        </p:nvSpPr>
        <p:spPr>
          <a:xfrm xmlns:a="http://schemas.openxmlformats.org/drawingml/2006/main">
            <a:off x="7734300" y="2981325"/>
            <a:ext cx="1504950" cy="28575"/>
          </a:xfrm>
          <a:prstGeom xmlns:a="http://schemas.openxmlformats.org/drawingml/2006/main" prst="rect">
            <a:avLst/>
          </a:prstGeom>
          <a:solidFill xmlns:a="http://schemas.openxmlformats.org/drawingml/2006/main">
            <a:srgbClr val="6B7280"/>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7F2F4243-8CC6-495A-847D-EED4F5305BDA}"/>
              </a:ext>
            </a:extLst>
          </p:cNvPr>
          <p:cNvSpPr>
            <a:spLocks xmlns:a="http://schemas.openxmlformats.org/drawingml/2006/main" noGrp="1"/>
          </p:cNvSpPr>
          <p:nvPr/>
        </p:nvSpPr>
        <p:spPr>
          <a:xfrm xmlns:a="http://schemas.openxmlformats.org/drawingml/2006/main">
            <a:off x="8324850" y="2381250"/>
            <a:ext cx="28575" cy="1695450"/>
          </a:xfrm>
          <a:prstGeom xmlns:a="http://schemas.openxmlformats.org/drawingml/2006/main" prst="rect">
            <a:avLst/>
          </a:prstGeom>
          <a:solidFill xmlns:a="http://schemas.openxmlformats.org/drawingml/2006/main">
            <a:srgbClr val="6B7280"/>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804B5F57-9461-4FFC-B2A8-6EFC9B8ED593}"/>
              </a:ext>
            </a:extLst>
          </p:cNvPr>
          <p:cNvSpPr>
            <a:spLocks xmlns:a="http://schemas.openxmlformats.org/drawingml/2006/main" noGrp="1"/>
          </p:cNvSpPr>
          <p:nvPr/>
        </p:nvSpPr>
        <p:spPr>
          <a:xfrm xmlns:a="http://schemas.openxmlformats.org/drawingml/2006/main">
            <a:off x="7734300" y="4076700"/>
            <a:ext cx="1200150" cy="28575"/>
          </a:xfrm>
          <a:prstGeom xmlns:a="http://schemas.openxmlformats.org/drawingml/2006/main" prst="rect">
            <a:avLst/>
          </a:prstGeom>
          <a:solidFill xmlns:a="http://schemas.openxmlformats.org/drawingml/2006/main">
            <a:srgbClr val="6B7280"/>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BD489103-1C12-4C64-9DAD-89EA7793BF1E}"/>
              </a:ext>
            </a:extLst>
          </p:cNvPr>
          <p:cNvSpPr>
            <a:spLocks xmlns:a="http://schemas.openxmlformats.org/drawingml/2006/main" noGrp="1"/>
          </p:cNvSpPr>
          <p:nvPr/>
        </p:nvSpPr>
        <p:spPr>
          <a:xfrm xmlns:a="http://schemas.openxmlformats.org/drawingml/2006/main">
            <a:off x="1581150" y="5219700"/>
            <a:ext cx="8953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0">
                <a:solidFill>
                  <a:srgbClr val="6B7280"/>
                </a:solidFill>
                <a:latin typeface="Aptos"/>
                <a:ea typeface="Aptos"/>
                <a:cs typeface="Aptos"/>
              </a:defRPr>
            </a:pPr>
            <a:r>
              <a:rPr sz="1350" b="0">
                <a:solidFill>
                  <a:srgbClr val="6B7280"/>
                </a:solidFill>
                <a:latin typeface="Aptos"/>
                <a:ea typeface="Aptos"/>
                <a:cs typeface="Aptos"/>
              </a:rPr>
              <a:t>Node.js/Express định tuyến API; middleware JWT bảo vệ tài nguyên; MongoDB lưu user, wallet, transaction, payment, service, notification và savings jar.</a:t>
            </a:r>
          </a:p>
        </p:txBody>
      </p:sp>
    </p:spTree>
    <p:extLst>
      <p:ext uri="{BB962C8B-B14F-4D97-AF65-F5344CB8AC3E}">
        <p14:creationId xmlns:p14="http://schemas.microsoft.com/office/powerpoint/2010/main" val="40175581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7FBDDCA-1D60-479A-9122-673C742BBDE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BFBF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112164B-C58B-4DA6-A131-97A4CA6A6288}"/>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5AE910A-C0D9-4C50-A460-648E8E3C13B3}"/>
              </a:ext>
            </a:extLst>
          </p:cNvPr>
          <p:cNvSpPr>
            <a:spLocks xmlns:a="http://schemas.openxmlformats.org/drawingml/2006/main" noGrp="1"/>
          </p:cNvSpPr>
          <p:nvPr/>
        </p:nvSpPr>
        <p:spPr>
          <a:xfrm xmlns:a="http://schemas.openxmlformats.org/drawingml/2006/main">
            <a:off x="0" y="6191250"/>
            <a:ext cx="12192000" cy="9525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153A4BA4-D785-4D74-B734-2A6A6D87A3AE}"/>
              </a:ext>
            </a:extLst>
          </p:cNvPr>
          <p:cNvSpPr>
            <a:spLocks xmlns:a="http://schemas.openxmlformats.org/drawingml/2006/main" noGrp="1"/>
          </p:cNvSpPr>
          <p:nvPr/>
        </p:nvSpPr>
        <p:spPr>
          <a:xfrm xmlns:a="http://schemas.openxmlformats.org/drawingml/2006/main">
            <a:off x="171450" y="6429375"/>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9AA1AA"/>
                </a:solidFill>
                <a:latin typeface="Aptos"/>
                <a:ea typeface="Aptos"/>
                <a:cs typeface="Aptos"/>
              </a:defRPr>
            </a:pPr>
            <a:r>
              <a:rPr sz="600" b="0">
                <a:solidFill>
                  <a:srgbClr val="9AA1AA"/>
                </a:solidFill>
                <a:latin typeface="Aptos"/>
                <a:ea typeface="Aptos"/>
                <a:cs typeface="Aptos"/>
              </a:rPr>
              <a:t>Slide 07</a:t>
            </a:r>
          </a:p>
        </p:txBody>
      </p:sp>
      <p:sp>
        <p:nvSpPr>
          <p:cNvPr id="5" name="">
            <a:extLst xmlns:a="http://schemas.openxmlformats.org/drawingml/2006/main">
              <a:ext uri="{FF2B5EF4-FFF2-40B4-BE49-F238E27FC236}">
                <a16:creationId xmlns:a16="http://schemas.microsoft.com/office/drawing/2014/main" id="{15D89094-3767-433A-BE6E-922CC09E2340}"/>
              </a:ext>
            </a:extLst>
          </p:cNvPr>
          <p:cNvSpPr>
            <a:spLocks xmlns:a="http://schemas.openxmlformats.org/drawingml/2006/main" noGrp="1"/>
          </p:cNvSpPr>
          <p:nvPr/>
        </p:nvSpPr>
        <p:spPr>
          <a:xfrm xmlns:a="http://schemas.openxmlformats.org/drawingml/2006/main">
            <a:off x="685800" y="447675"/>
            <a:ext cx="152400" cy="15240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076FFC8D-5FF6-4EC5-990F-AA660CBAC8B1}"/>
              </a:ext>
            </a:extLst>
          </p:cNvPr>
          <p:cNvSpPr>
            <a:spLocks xmlns:a="http://schemas.openxmlformats.org/drawingml/2006/main" noGrp="1"/>
          </p:cNvSpPr>
          <p:nvPr/>
        </p:nvSpPr>
        <p:spPr>
          <a:xfrm xmlns:a="http://schemas.openxmlformats.org/drawingml/2006/main">
            <a:off x="933450" y="400050"/>
            <a:ext cx="3143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6B7280"/>
                </a:solidFill>
                <a:latin typeface="Aptos"/>
                <a:ea typeface="Aptos"/>
                <a:cs typeface="Aptos"/>
              </a:defRPr>
            </a:pPr>
            <a:r>
              <a:rPr sz="975" b="1">
                <a:solidFill>
                  <a:srgbClr val="6B7280"/>
                </a:solidFill>
                <a:latin typeface="Aptos"/>
                <a:ea typeface="Aptos"/>
                <a:cs typeface="Aptos"/>
              </a:rPr>
              <a:t>CƠ SỞ DỮ LIỆU</a:t>
            </a:r>
          </a:p>
        </p:txBody>
      </p:sp>
      <p:sp>
        <p:nvSpPr>
          <p:cNvPr id="7" name="">
            <a:extLst xmlns:a="http://schemas.openxmlformats.org/drawingml/2006/main">
              <a:ext uri="{FF2B5EF4-FFF2-40B4-BE49-F238E27FC236}">
                <a16:creationId xmlns:a16="http://schemas.microsoft.com/office/drawing/2014/main" id="{8318B10D-A918-46DF-8E05-CEB492148ACB}"/>
              </a:ext>
            </a:extLst>
          </p:cNvPr>
          <p:cNvSpPr>
            <a:spLocks xmlns:a="http://schemas.openxmlformats.org/drawingml/2006/main" noGrp="1"/>
          </p:cNvSpPr>
          <p:nvPr/>
        </p:nvSpPr>
        <p:spPr>
          <a:xfrm xmlns:a="http://schemas.openxmlformats.org/drawingml/2006/main">
            <a:off x="685800" y="685800"/>
            <a:ext cx="93345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45B63"/>
                </a:solidFill>
                <a:latin typeface="Aptos Display"/>
                <a:ea typeface="Aptos Display"/>
                <a:cs typeface="Aptos Display"/>
              </a:defRPr>
            </a:pPr>
            <a:r>
              <a:rPr sz="2550" b="1">
                <a:solidFill>
                  <a:srgbClr val="F45B63"/>
                </a:solidFill>
                <a:latin typeface="Aptos Display"/>
                <a:ea typeface="Aptos Display"/>
                <a:cs typeface="Aptos Display"/>
              </a:rPr>
              <a:t>Thiết kế MongoDB tách rõ danh tính, tiền, dịch vụ và tương tác.</a:t>
            </a:r>
          </a:p>
        </p:txBody>
      </p:sp>
      <p:sp>
        <p:nvSpPr>
          <p:cNvPr id="8" name="">
            <a:extLst xmlns:a="http://schemas.openxmlformats.org/drawingml/2006/main">
              <a:ext uri="{FF2B5EF4-FFF2-40B4-BE49-F238E27FC236}">
                <a16:creationId xmlns:a16="http://schemas.microsoft.com/office/drawing/2014/main" id="{CB43032B-5665-4EA9-8B5A-B428BB9D27C3}"/>
              </a:ext>
            </a:extLst>
          </p:cNvPr>
          <p:cNvSpPr>
            <a:spLocks xmlns:a="http://schemas.openxmlformats.org/drawingml/2006/main" noGrp="1"/>
          </p:cNvSpPr>
          <p:nvPr/>
        </p:nvSpPr>
        <p:spPr>
          <a:xfrm xmlns:a="http://schemas.openxmlformats.org/drawingml/2006/main">
            <a:off x="685800" y="1485900"/>
            <a:ext cx="10763250" cy="19050"/>
          </a:xfrm>
          <a:prstGeom xmlns:a="http://schemas.openxmlformats.org/drawingml/2006/main" prst="rect">
            <a:avLst/>
          </a:prstGeom>
          <a:solidFill xmlns:a="http://schemas.openxmlformats.org/drawingml/2006/main">
            <a:srgbClr val="EEF1F5"/>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122E62A3-19F7-4914-A76F-1AF957A362FF}"/>
              </a:ext>
            </a:extLst>
          </p:cNvPr>
          <p:cNvSpPr>
            <a:spLocks xmlns:a="http://schemas.openxmlformats.org/drawingml/2006/main" noGrp="1"/>
          </p:cNvSpPr>
          <p:nvPr/>
        </p:nvSpPr>
        <p:spPr>
          <a:xfrm xmlns:a="http://schemas.openxmlformats.org/drawingml/2006/main">
            <a:off x="742950" y="2000250"/>
            <a:ext cx="1762125" cy="838200"/>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67099B6E-0957-4B3C-9B11-220180C10164}"/>
              </a:ext>
            </a:extLst>
          </p:cNvPr>
          <p:cNvSpPr>
            <a:spLocks xmlns:a="http://schemas.openxmlformats.org/drawingml/2006/main" noGrp="1"/>
          </p:cNvSpPr>
          <p:nvPr/>
        </p:nvSpPr>
        <p:spPr>
          <a:xfrm xmlns:a="http://schemas.openxmlformats.org/drawingml/2006/main">
            <a:off x="857250" y="2143125"/>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users</a:t>
            </a:r>
          </a:p>
        </p:txBody>
      </p:sp>
      <p:sp>
        <p:nvSpPr>
          <p:cNvPr id="11" name="">
            <a:extLst xmlns:a="http://schemas.openxmlformats.org/drawingml/2006/main">
              <a:ext uri="{FF2B5EF4-FFF2-40B4-BE49-F238E27FC236}">
                <a16:creationId xmlns:a16="http://schemas.microsoft.com/office/drawing/2014/main" id="{ADF2455C-370B-48C5-8BC3-3B9A5EC01A32}"/>
              </a:ext>
            </a:extLst>
          </p:cNvPr>
          <p:cNvSpPr>
            <a:spLocks xmlns:a="http://schemas.openxmlformats.org/drawingml/2006/main" noGrp="1"/>
          </p:cNvSpPr>
          <p:nvPr/>
        </p:nvSpPr>
        <p:spPr>
          <a:xfrm xmlns:a="http://schemas.openxmlformats.org/drawingml/2006/main">
            <a:off x="876300" y="2409825"/>
            <a:ext cx="1495425"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F3F4F6"/>
                </a:solidFill>
                <a:latin typeface="Aptos"/>
                <a:ea typeface="Aptos"/>
                <a:cs typeface="Aptos"/>
              </a:defRPr>
            </a:pPr>
            <a:r>
              <a:rPr sz="900" b="0">
                <a:solidFill>
                  <a:srgbClr val="F3F4F6"/>
                </a:solidFill>
                <a:latin typeface="Aptos"/>
                <a:ea typeface="Aptos"/>
                <a:cs typeface="Aptos"/>
              </a:rPr>
              <a:t>tài khoản, vai trò, xác thực</a:t>
            </a:r>
          </a:p>
        </p:txBody>
      </p:sp>
      <p:sp>
        <p:nvSpPr>
          <p:cNvPr id="12" name="">
            <a:extLst xmlns:a="http://schemas.openxmlformats.org/drawingml/2006/main">
              <a:ext uri="{FF2B5EF4-FFF2-40B4-BE49-F238E27FC236}">
                <a16:creationId xmlns:a16="http://schemas.microsoft.com/office/drawing/2014/main" id="{FF57A61C-1520-433F-B8FB-E3CEF7575EC5}"/>
              </a:ext>
            </a:extLst>
          </p:cNvPr>
          <p:cNvSpPr>
            <a:spLocks xmlns:a="http://schemas.openxmlformats.org/drawingml/2006/main" noGrp="1"/>
          </p:cNvSpPr>
          <p:nvPr/>
        </p:nvSpPr>
        <p:spPr>
          <a:xfrm xmlns:a="http://schemas.openxmlformats.org/drawingml/2006/main">
            <a:off x="2952750" y="2000250"/>
            <a:ext cx="1762125" cy="83820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01826062-6ECD-4315-890D-F44A7A3D5FC4}"/>
              </a:ext>
            </a:extLst>
          </p:cNvPr>
          <p:cNvSpPr>
            <a:spLocks xmlns:a="http://schemas.openxmlformats.org/drawingml/2006/main" noGrp="1"/>
          </p:cNvSpPr>
          <p:nvPr/>
        </p:nvSpPr>
        <p:spPr>
          <a:xfrm xmlns:a="http://schemas.openxmlformats.org/drawingml/2006/main">
            <a:off x="3067050" y="2143125"/>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students</a:t>
            </a:r>
          </a:p>
        </p:txBody>
      </p:sp>
      <p:sp>
        <p:nvSpPr>
          <p:cNvPr id="14" name="">
            <a:extLst xmlns:a="http://schemas.openxmlformats.org/drawingml/2006/main">
              <a:ext uri="{FF2B5EF4-FFF2-40B4-BE49-F238E27FC236}">
                <a16:creationId xmlns:a16="http://schemas.microsoft.com/office/drawing/2014/main" id="{FC21F9C4-AADC-404C-B4C5-8FA2C90655CC}"/>
              </a:ext>
            </a:extLst>
          </p:cNvPr>
          <p:cNvSpPr>
            <a:spLocks xmlns:a="http://schemas.openxmlformats.org/drawingml/2006/main" noGrp="1"/>
          </p:cNvSpPr>
          <p:nvPr/>
        </p:nvSpPr>
        <p:spPr>
          <a:xfrm xmlns:a="http://schemas.openxmlformats.org/drawingml/2006/main">
            <a:off x="3086100" y="2409825"/>
            <a:ext cx="1495425"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F3F4F6"/>
                </a:solidFill>
                <a:latin typeface="Aptos"/>
                <a:ea typeface="Aptos"/>
                <a:cs typeface="Aptos"/>
              </a:defRPr>
            </a:pPr>
            <a:r>
              <a:rPr sz="900" b="0">
                <a:solidFill>
                  <a:srgbClr val="F3F4F6"/>
                </a:solidFill>
                <a:latin typeface="Aptos"/>
                <a:ea typeface="Aptos"/>
                <a:cs typeface="Aptos"/>
              </a:rPr>
              <a:t>danh sách sinh viên đối chiếu</a:t>
            </a:r>
          </a:p>
        </p:txBody>
      </p:sp>
      <p:sp>
        <p:nvSpPr>
          <p:cNvPr id="15" name="">
            <a:extLst xmlns:a="http://schemas.openxmlformats.org/drawingml/2006/main">
              <a:ext uri="{FF2B5EF4-FFF2-40B4-BE49-F238E27FC236}">
                <a16:creationId xmlns:a16="http://schemas.microsoft.com/office/drawing/2014/main" id="{B96B43BF-108D-48C3-9898-F433398230B2}"/>
              </a:ext>
            </a:extLst>
          </p:cNvPr>
          <p:cNvSpPr>
            <a:spLocks xmlns:a="http://schemas.openxmlformats.org/drawingml/2006/main" noGrp="1"/>
          </p:cNvSpPr>
          <p:nvPr/>
        </p:nvSpPr>
        <p:spPr>
          <a:xfrm xmlns:a="http://schemas.openxmlformats.org/drawingml/2006/main">
            <a:off x="5162550" y="2000250"/>
            <a:ext cx="1762125" cy="838200"/>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785B7361-4B56-495B-99D1-CEE6B61388DE}"/>
              </a:ext>
            </a:extLst>
          </p:cNvPr>
          <p:cNvSpPr>
            <a:spLocks xmlns:a="http://schemas.openxmlformats.org/drawingml/2006/main" noGrp="1"/>
          </p:cNvSpPr>
          <p:nvPr/>
        </p:nvSpPr>
        <p:spPr>
          <a:xfrm xmlns:a="http://schemas.openxmlformats.org/drawingml/2006/main">
            <a:off x="5276850" y="2143125"/>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wallets</a:t>
            </a:r>
          </a:p>
        </p:txBody>
      </p:sp>
      <p:sp>
        <p:nvSpPr>
          <p:cNvPr id="17" name="">
            <a:extLst xmlns:a="http://schemas.openxmlformats.org/drawingml/2006/main">
              <a:ext uri="{FF2B5EF4-FFF2-40B4-BE49-F238E27FC236}">
                <a16:creationId xmlns:a16="http://schemas.microsoft.com/office/drawing/2014/main" id="{85C7CD8C-6ACD-494E-B99D-6A4B5B320791}"/>
              </a:ext>
            </a:extLst>
          </p:cNvPr>
          <p:cNvSpPr>
            <a:spLocks xmlns:a="http://schemas.openxmlformats.org/drawingml/2006/main" noGrp="1"/>
          </p:cNvSpPr>
          <p:nvPr/>
        </p:nvSpPr>
        <p:spPr>
          <a:xfrm xmlns:a="http://schemas.openxmlformats.org/drawingml/2006/main">
            <a:off x="5295900" y="2409825"/>
            <a:ext cx="1495425"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F3F4F6"/>
                </a:solidFill>
                <a:latin typeface="Aptos"/>
                <a:ea typeface="Aptos"/>
                <a:cs typeface="Aptos"/>
              </a:defRPr>
            </a:pPr>
            <a:r>
              <a:rPr sz="900" b="0">
                <a:solidFill>
                  <a:srgbClr val="F3F4F6"/>
                </a:solidFill>
                <a:latin typeface="Aptos"/>
                <a:ea typeface="Aptos"/>
                <a:cs typeface="Aptos"/>
              </a:rPr>
              <a:t>số dư, tiền tệ, PIN, trạng thái</a:t>
            </a:r>
          </a:p>
        </p:txBody>
      </p:sp>
      <p:sp>
        <p:nvSpPr>
          <p:cNvPr id="18" name="">
            <a:extLst xmlns:a="http://schemas.openxmlformats.org/drawingml/2006/main">
              <a:ext uri="{FF2B5EF4-FFF2-40B4-BE49-F238E27FC236}">
                <a16:creationId xmlns:a16="http://schemas.microsoft.com/office/drawing/2014/main" id="{8A1EFA80-0F58-4063-BB75-17EB82D3B388}"/>
              </a:ext>
            </a:extLst>
          </p:cNvPr>
          <p:cNvSpPr>
            <a:spLocks xmlns:a="http://schemas.openxmlformats.org/drawingml/2006/main" noGrp="1"/>
          </p:cNvSpPr>
          <p:nvPr/>
        </p:nvSpPr>
        <p:spPr>
          <a:xfrm xmlns:a="http://schemas.openxmlformats.org/drawingml/2006/main">
            <a:off x="7372350" y="2000250"/>
            <a:ext cx="1762125" cy="83820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12E042AF-3C75-462B-AC2B-57390839CE49}"/>
              </a:ext>
            </a:extLst>
          </p:cNvPr>
          <p:cNvSpPr>
            <a:spLocks xmlns:a="http://schemas.openxmlformats.org/drawingml/2006/main" noGrp="1"/>
          </p:cNvSpPr>
          <p:nvPr/>
        </p:nvSpPr>
        <p:spPr>
          <a:xfrm xmlns:a="http://schemas.openxmlformats.org/drawingml/2006/main">
            <a:off x="7486650" y="2143125"/>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transactions</a:t>
            </a:r>
          </a:p>
        </p:txBody>
      </p:sp>
      <p:sp>
        <p:nvSpPr>
          <p:cNvPr id="20" name="">
            <a:extLst xmlns:a="http://schemas.openxmlformats.org/drawingml/2006/main">
              <a:ext uri="{FF2B5EF4-FFF2-40B4-BE49-F238E27FC236}">
                <a16:creationId xmlns:a16="http://schemas.microsoft.com/office/drawing/2014/main" id="{22D80262-22B0-418A-A70D-1B2441451D15}"/>
              </a:ext>
            </a:extLst>
          </p:cNvPr>
          <p:cNvSpPr>
            <a:spLocks xmlns:a="http://schemas.openxmlformats.org/drawingml/2006/main" noGrp="1"/>
          </p:cNvSpPr>
          <p:nvPr/>
        </p:nvSpPr>
        <p:spPr>
          <a:xfrm xmlns:a="http://schemas.openxmlformats.org/drawingml/2006/main">
            <a:off x="7505700" y="2409825"/>
            <a:ext cx="1495425"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F3F4F6"/>
                </a:solidFill>
                <a:latin typeface="Aptos"/>
                <a:ea typeface="Aptos"/>
                <a:cs typeface="Aptos"/>
              </a:defRPr>
            </a:pPr>
            <a:r>
              <a:rPr sz="900" b="0">
                <a:solidFill>
                  <a:srgbClr val="F3F4F6"/>
                </a:solidFill>
                <a:latin typeface="Aptos"/>
                <a:ea typeface="Aptos"/>
                <a:cs typeface="Aptos"/>
              </a:rPr>
              <a:t>topup, payment, transfer, savings</a:t>
            </a:r>
          </a:p>
        </p:txBody>
      </p:sp>
      <p:sp>
        <p:nvSpPr>
          <p:cNvPr id="21" name="">
            <a:extLst xmlns:a="http://schemas.openxmlformats.org/drawingml/2006/main">
              <a:ext uri="{FF2B5EF4-FFF2-40B4-BE49-F238E27FC236}">
                <a16:creationId xmlns:a16="http://schemas.microsoft.com/office/drawing/2014/main" id="{0D30439E-6AE9-429A-9877-509A72B59D86}"/>
              </a:ext>
            </a:extLst>
          </p:cNvPr>
          <p:cNvSpPr>
            <a:spLocks xmlns:a="http://schemas.openxmlformats.org/drawingml/2006/main" noGrp="1"/>
          </p:cNvSpPr>
          <p:nvPr/>
        </p:nvSpPr>
        <p:spPr>
          <a:xfrm xmlns:a="http://schemas.openxmlformats.org/drawingml/2006/main">
            <a:off x="9582150" y="2000250"/>
            <a:ext cx="1762125" cy="838200"/>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D1851069-D6A2-4940-9F85-AACF5E25BFEC}"/>
              </a:ext>
            </a:extLst>
          </p:cNvPr>
          <p:cNvSpPr>
            <a:spLocks xmlns:a="http://schemas.openxmlformats.org/drawingml/2006/main" noGrp="1"/>
          </p:cNvSpPr>
          <p:nvPr/>
        </p:nvSpPr>
        <p:spPr>
          <a:xfrm xmlns:a="http://schemas.openxmlformats.org/drawingml/2006/main">
            <a:off x="9696450" y="2143125"/>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services</a:t>
            </a:r>
          </a:p>
        </p:txBody>
      </p:sp>
      <p:sp>
        <p:nvSpPr>
          <p:cNvPr id="23" name="">
            <a:extLst xmlns:a="http://schemas.openxmlformats.org/drawingml/2006/main">
              <a:ext uri="{FF2B5EF4-FFF2-40B4-BE49-F238E27FC236}">
                <a16:creationId xmlns:a16="http://schemas.microsoft.com/office/drawing/2014/main" id="{EC95FDEF-ABE1-4874-BB3F-243D0AA9DAE5}"/>
              </a:ext>
            </a:extLst>
          </p:cNvPr>
          <p:cNvSpPr>
            <a:spLocks xmlns:a="http://schemas.openxmlformats.org/drawingml/2006/main" noGrp="1"/>
          </p:cNvSpPr>
          <p:nvPr/>
        </p:nvSpPr>
        <p:spPr>
          <a:xfrm xmlns:a="http://schemas.openxmlformats.org/drawingml/2006/main">
            <a:off x="9715500" y="2409825"/>
            <a:ext cx="1495425"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F3F4F6"/>
                </a:solidFill>
                <a:latin typeface="Aptos"/>
                <a:ea typeface="Aptos"/>
                <a:cs typeface="Aptos"/>
              </a:defRPr>
            </a:pPr>
            <a:r>
              <a:rPr sz="900" b="0">
                <a:solidFill>
                  <a:srgbClr val="F3F4F6"/>
                </a:solidFill>
                <a:latin typeface="Aptos"/>
                <a:ea typeface="Aptos"/>
                <a:cs typeface="Aptos"/>
              </a:rPr>
              <a:t>dịch vụ nội bộ và thương mại</a:t>
            </a:r>
          </a:p>
        </p:txBody>
      </p:sp>
      <p:sp>
        <p:nvSpPr>
          <p:cNvPr id="24" name="">
            <a:extLst xmlns:a="http://schemas.openxmlformats.org/drawingml/2006/main">
              <a:ext uri="{FF2B5EF4-FFF2-40B4-BE49-F238E27FC236}">
                <a16:creationId xmlns:a16="http://schemas.microsoft.com/office/drawing/2014/main" id="{7C751E19-0974-46F2-9FD7-B7C34182C54D}"/>
              </a:ext>
            </a:extLst>
          </p:cNvPr>
          <p:cNvSpPr>
            <a:spLocks xmlns:a="http://schemas.openxmlformats.org/drawingml/2006/main" noGrp="1"/>
          </p:cNvSpPr>
          <p:nvPr/>
        </p:nvSpPr>
        <p:spPr>
          <a:xfrm xmlns:a="http://schemas.openxmlformats.org/drawingml/2006/main">
            <a:off x="742950" y="3352800"/>
            <a:ext cx="1762125" cy="83820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7CC941C7-8FAC-41AC-9982-F21944F3A4BB}"/>
              </a:ext>
            </a:extLst>
          </p:cNvPr>
          <p:cNvSpPr>
            <a:spLocks xmlns:a="http://schemas.openxmlformats.org/drawingml/2006/main" noGrp="1"/>
          </p:cNvSpPr>
          <p:nvPr/>
        </p:nvSpPr>
        <p:spPr>
          <a:xfrm xmlns:a="http://schemas.openxmlformats.org/drawingml/2006/main">
            <a:off x="857250" y="3495675"/>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payments</a:t>
            </a:r>
          </a:p>
        </p:txBody>
      </p:sp>
      <p:sp>
        <p:nvSpPr>
          <p:cNvPr id="26" name="">
            <a:extLst xmlns:a="http://schemas.openxmlformats.org/drawingml/2006/main">
              <a:ext uri="{FF2B5EF4-FFF2-40B4-BE49-F238E27FC236}">
                <a16:creationId xmlns:a16="http://schemas.microsoft.com/office/drawing/2014/main" id="{36D9A6E8-4432-4AE3-B576-56856F34CF76}"/>
              </a:ext>
            </a:extLst>
          </p:cNvPr>
          <p:cNvSpPr>
            <a:spLocks xmlns:a="http://schemas.openxmlformats.org/drawingml/2006/main" noGrp="1"/>
          </p:cNvSpPr>
          <p:nvPr/>
        </p:nvSpPr>
        <p:spPr>
          <a:xfrm xmlns:a="http://schemas.openxmlformats.org/drawingml/2006/main">
            <a:off x="876300" y="3762375"/>
            <a:ext cx="1495425"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F3F4F6"/>
                </a:solidFill>
                <a:latin typeface="Aptos"/>
                <a:ea typeface="Aptos"/>
                <a:cs typeface="Aptos"/>
              </a:defRPr>
            </a:pPr>
            <a:r>
              <a:rPr sz="900" b="0">
                <a:solidFill>
                  <a:srgbClr val="F3F4F6"/>
                </a:solidFill>
                <a:latin typeface="Aptos"/>
                <a:ea typeface="Aptos"/>
                <a:cs typeface="Aptos"/>
              </a:rPr>
              <a:t>ghi nhận thanh toán dịch vụ</a:t>
            </a:r>
          </a:p>
        </p:txBody>
      </p:sp>
      <p:sp>
        <p:nvSpPr>
          <p:cNvPr id="27" name="">
            <a:extLst xmlns:a="http://schemas.openxmlformats.org/drawingml/2006/main">
              <a:ext uri="{FF2B5EF4-FFF2-40B4-BE49-F238E27FC236}">
                <a16:creationId xmlns:a16="http://schemas.microsoft.com/office/drawing/2014/main" id="{3C6B4EE0-2751-4358-92F3-8C366A5C71B4}"/>
              </a:ext>
            </a:extLst>
          </p:cNvPr>
          <p:cNvSpPr>
            <a:spLocks xmlns:a="http://schemas.openxmlformats.org/drawingml/2006/main" noGrp="1"/>
          </p:cNvSpPr>
          <p:nvPr/>
        </p:nvSpPr>
        <p:spPr>
          <a:xfrm xmlns:a="http://schemas.openxmlformats.org/drawingml/2006/main">
            <a:off x="2952750" y="3352800"/>
            <a:ext cx="1762125" cy="838200"/>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FB4A9B3B-4764-4BEA-95D7-EC3EBBF0B68F}"/>
              </a:ext>
            </a:extLst>
          </p:cNvPr>
          <p:cNvSpPr>
            <a:spLocks xmlns:a="http://schemas.openxmlformats.org/drawingml/2006/main" noGrp="1"/>
          </p:cNvSpPr>
          <p:nvPr/>
        </p:nvSpPr>
        <p:spPr>
          <a:xfrm xmlns:a="http://schemas.openxmlformats.org/drawingml/2006/main">
            <a:off x="3067050" y="3495675"/>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vnpay_transactions</a:t>
            </a:r>
          </a:p>
        </p:txBody>
      </p:sp>
      <p:sp>
        <p:nvSpPr>
          <p:cNvPr id="29" name="">
            <a:extLst xmlns:a="http://schemas.openxmlformats.org/drawingml/2006/main">
              <a:ext uri="{FF2B5EF4-FFF2-40B4-BE49-F238E27FC236}">
                <a16:creationId xmlns:a16="http://schemas.microsoft.com/office/drawing/2014/main" id="{C9AFC50A-4819-48FA-A53C-0DFD03762092}"/>
              </a:ext>
            </a:extLst>
          </p:cNvPr>
          <p:cNvSpPr>
            <a:spLocks xmlns:a="http://schemas.openxmlformats.org/drawingml/2006/main" noGrp="1"/>
          </p:cNvSpPr>
          <p:nvPr/>
        </p:nvSpPr>
        <p:spPr>
          <a:xfrm xmlns:a="http://schemas.openxmlformats.org/drawingml/2006/main">
            <a:off x="3086100" y="3762375"/>
            <a:ext cx="1495425"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F3F4F6"/>
                </a:solidFill>
                <a:latin typeface="Aptos"/>
                <a:ea typeface="Aptos"/>
                <a:cs typeface="Aptos"/>
              </a:defRPr>
            </a:pPr>
            <a:r>
              <a:rPr sz="900" b="0">
                <a:solidFill>
                  <a:srgbClr val="F3F4F6"/>
                </a:solidFill>
                <a:latin typeface="Aptos"/>
                <a:ea typeface="Aptos"/>
                <a:cs typeface="Aptos"/>
              </a:rPr>
              <a:t>phiên nạp tiền qua VNPay</a:t>
            </a:r>
          </a:p>
        </p:txBody>
      </p:sp>
      <p:sp>
        <p:nvSpPr>
          <p:cNvPr id="30" name="">
            <a:extLst xmlns:a="http://schemas.openxmlformats.org/drawingml/2006/main">
              <a:ext uri="{FF2B5EF4-FFF2-40B4-BE49-F238E27FC236}">
                <a16:creationId xmlns:a16="http://schemas.microsoft.com/office/drawing/2014/main" id="{A6361EC3-6968-4535-AA3E-2E7CAFA3F4FC}"/>
              </a:ext>
            </a:extLst>
          </p:cNvPr>
          <p:cNvSpPr>
            <a:spLocks xmlns:a="http://schemas.openxmlformats.org/drawingml/2006/main" noGrp="1"/>
          </p:cNvSpPr>
          <p:nvPr/>
        </p:nvSpPr>
        <p:spPr>
          <a:xfrm xmlns:a="http://schemas.openxmlformats.org/drawingml/2006/main">
            <a:off x="5162550" y="3352800"/>
            <a:ext cx="1762125" cy="83820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E13FF683-570D-4261-AA48-346967CBEB09}"/>
              </a:ext>
            </a:extLst>
          </p:cNvPr>
          <p:cNvSpPr>
            <a:spLocks xmlns:a="http://schemas.openxmlformats.org/drawingml/2006/main" noGrp="1"/>
          </p:cNvSpPr>
          <p:nvPr/>
        </p:nvSpPr>
        <p:spPr>
          <a:xfrm xmlns:a="http://schemas.openxmlformats.org/drawingml/2006/main">
            <a:off x="5276850" y="3495675"/>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notifications</a:t>
            </a:r>
          </a:p>
        </p:txBody>
      </p:sp>
      <p:sp>
        <p:nvSpPr>
          <p:cNvPr id="32" name="">
            <a:extLst xmlns:a="http://schemas.openxmlformats.org/drawingml/2006/main">
              <a:ext uri="{FF2B5EF4-FFF2-40B4-BE49-F238E27FC236}">
                <a16:creationId xmlns:a16="http://schemas.microsoft.com/office/drawing/2014/main" id="{B5091D38-39D7-4FCE-9787-F2B42A732552}"/>
              </a:ext>
            </a:extLst>
          </p:cNvPr>
          <p:cNvSpPr>
            <a:spLocks xmlns:a="http://schemas.openxmlformats.org/drawingml/2006/main" noGrp="1"/>
          </p:cNvSpPr>
          <p:nvPr/>
        </p:nvSpPr>
        <p:spPr>
          <a:xfrm xmlns:a="http://schemas.openxmlformats.org/drawingml/2006/main">
            <a:off x="5295900" y="3762375"/>
            <a:ext cx="1495425"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F3F4F6"/>
                </a:solidFill>
                <a:latin typeface="Aptos"/>
                <a:ea typeface="Aptos"/>
                <a:cs typeface="Aptos"/>
              </a:defRPr>
            </a:pPr>
            <a:r>
              <a:rPr sz="900" b="0">
                <a:solidFill>
                  <a:srgbClr val="F3F4F6"/>
                </a:solidFill>
                <a:latin typeface="Aptos"/>
                <a:ea typeface="Aptos"/>
                <a:cs typeface="Aptos"/>
              </a:rPr>
              <a:t>thông báo hệ thống</a:t>
            </a:r>
          </a:p>
        </p:txBody>
      </p:sp>
      <p:sp>
        <p:nvSpPr>
          <p:cNvPr id="33" name="">
            <a:extLst xmlns:a="http://schemas.openxmlformats.org/drawingml/2006/main">
              <a:ext uri="{FF2B5EF4-FFF2-40B4-BE49-F238E27FC236}">
                <a16:creationId xmlns:a16="http://schemas.microsoft.com/office/drawing/2014/main" id="{06637F9F-86C5-471A-A472-6301EBA52AFF}"/>
              </a:ext>
            </a:extLst>
          </p:cNvPr>
          <p:cNvSpPr>
            <a:spLocks xmlns:a="http://schemas.openxmlformats.org/drawingml/2006/main" noGrp="1"/>
          </p:cNvSpPr>
          <p:nvPr/>
        </p:nvSpPr>
        <p:spPr>
          <a:xfrm xmlns:a="http://schemas.openxmlformats.org/drawingml/2006/main">
            <a:off x="7372350" y="3352800"/>
            <a:ext cx="1762125" cy="838200"/>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FCB009AA-68A6-4E8B-9872-D3949B403D0E}"/>
              </a:ext>
            </a:extLst>
          </p:cNvPr>
          <p:cNvSpPr>
            <a:spLocks xmlns:a="http://schemas.openxmlformats.org/drawingml/2006/main" noGrp="1"/>
          </p:cNvSpPr>
          <p:nvPr/>
        </p:nvSpPr>
        <p:spPr>
          <a:xfrm xmlns:a="http://schemas.openxmlformats.org/drawingml/2006/main">
            <a:off x="7486650" y="3495675"/>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notification_reads</a:t>
            </a:r>
          </a:p>
        </p:txBody>
      </p:sp>
      <p:sp>
        <p:nvSpPr>
          <p:cNvPr id="35" name="">
            <a:extLst xmlns:a="http://schemas.openxmlformats.org/drawingml/2006/main">
              <a:ext uri="{FF2B5EF4-FFF2-40B4-BE49-F238E27FC236}">
                <a16:creationId xmlns:a16="http://schemas.microsoft.com/office/drawing/2014/main" id="{7AD006C3-57A6-4796-AD27-F96269194422}"/>
              </a:ext>
            </a:extLst>
          </p:cNvPr>
          <p:cNvSpPr>
            <a:spLocks xmlns:a="http://schemas.openxmlformats.org/drawingml/2006/main" noGrp="1"/>
          </p:cNvSpPr>
          <p:nvPr/>
        </p:nvSpPr>
        <p:spPr>
          <a:xfrm xmlns:a="http://schemas.openxmlformats.org/drawingml/2006/main">
            <a:off x="7505700" y="3762375"/>
            <a:ext cx="1495425"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F3F4F6"/>
                </a:solidFill>
                <a:latin typeface="Aptos"/>
                <a:ea typeface="Aptos"/>
                <a:cs typeface="Aptos"/>
              </a:defRPr>
            </a:pPr>
            <a:r>
              <a:rPr sz="900" b="0">
                <a:solidFill>
                  <a:srgbClr val="F3F4F6"/>
                </a:solidFill>
                <a:latin typeface="Aptos"/>
                <a:ea typeface="Aptos"/>
                <a:cs typeface="Aptos"/>
              </a:rPr>
              <a:t>trạng thái đã đọc</a:t>
            </a:r>
          </a:p>
        </p:txBody>
      </p:sp>
      <p:sp>
        <p:nvSpPr>
          <p:cNvPr id="36" name="">
            <a:extLst xmlns:a="http://schemas.openxmlformats.org/drawingml/2006/main">
              <a:ext uri="{FF2B5EF4-FFF2-40B4-BE49-F238E27FC236}">
                <a16:creationId xmlns:a16="http://schemas.microsoft.com/office/drawing/2014/main" id="{732B3AA5-7D2B-4007-BC93-DE8ADB53BCB9}"/>
              </a:ext>
            </a:extLst>
          </p:cNvPr>
          <p:cNvSpPr>
            <a:spLocks xmlns:a="http://schemas.openxmlformats.org/drawingml/2006/main" noGrp="1"/>
          </p:cNvSpPr>
          <p:nvPr/>
        </p:nvSpPr>
        <p:spPr>
          <a:xfrm xmlns:a="http://schemas.openxmlformats.org/drawingml/2006/main">
            <a:off x="9582150" y="3352800"/>
            <a:ext cx="1762125" cy="83820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B502EDC0-E58B-4D3A-8515-2191505EA755}"/>
              </a:ext>
            </a:extLst>
          </p:cNvPr>
          <p:cNvSpPr>
            <a:spLocks xmlns:a="http://schemas.openxmlformats.org/drawingml/2006/main" noGrp="1"/>
          </p:cNvSpPr>
          <p:nvPr/>
        </p:nvSpPr>
        <p:spPr>
          <a:xfrm xmlns:a="http://schemas.openxmlformats.org/drawingml/2006/main">
            <a:off x="9696450" y="3495675"/>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savings_jars</a:t>
            </a:r>
          </a:p>
        </p:txBody>
      </p:sp>
      <p:sp>
        <p:nvSpPr>
          <p:cNvPr id="38" name="">
            <a:extLst xmlns:a="http://schemas.openxmlformats.org/drawingml/2006/main">
              <a:ext uri="{FF2B5EF4-FFF2-40B4-BE49-F238E27FC236}">
                <a16:creationId xmlns:a16="http://schemas.microsoft.com/office/drawing/2014/main" id="{7DB45A99-4C2E-48FA-9F99-7A62C3E65901}"/>
              </a:ext>
            </a:extLst>
          </p:cNvPr>
          <p:cNvSpPr>
            <a:spLocks xmlns:a="http://schemas.openxmlformats.org/drawingml/2006/main" noGrp="1"/>
          </p:cNvSpPr>
          <p:nvPr/>
        </p:nvSpPr>
        <p:spPr>
          <a:xfrm xmlns:a="http://schemas.openxmlformats.org/drawingml/2006/main">
            <a:off x="9715500" y="3762375"/>
            <a:ext cx="1495425"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F3F4F6"/>
                </a:solidFill>
                <a:latin typeface="Aptos"/>
                <a:ea typeface="Aptos"/>
                <a:cs typeface="Aptos"/>
              </a:defRPr>
            </a:pPr>
            <a:r>
              <a:rPr sz="900" b="0">
                <a:solidFill>
                  <a:srgbClr val="F3F4F6"/>
                </a:solidFill>
                <a:latin typeface="Aptos"/>
                <a:ea typeface="Aptos"/>
                <a:cs typeface="Aptos"/>
              </a:rPr>
              <a:t>hũ tiết kiệm cá nhân</a:t>
            </a:r>
          </a:p>
        </p:txBody>
      </p:sp>
      <p:sp>
        <p:nvSpPr>
          <p:cNvPr id="39" name="">
            <a:extLst xmlns:a="http://schemas.openxmlformats.org/drawingml/2006/main">
              <a:ext uri="{FF2B5EF4-FFF2-40B4-BE49-F238E27FC236}">
                <a16:creationId xmlns:a16="http://schemas.microsoft.com/office/drawing/2014/main" id="{D15C8BA5-5FC3-49B6-AA56-C29554920AFF}"/>
              </a:ext>
            </a:extLst>
          </p:cNvPr>
          <p:cNvSpPr>
            <a:spLocks xmlns:a="http://schemas.openxmlformats.org/drawingml/2006/main" noGrp="1"/>
          </p:cNvSpPr>
          <p:nvPr/>
        </p:nvSpPr>
        <p:spPr>
          <a:xfrm xmlns:a="http://schemas.openxmlformats.org/drawingml/2006/main">
            <a:off x="1924050" y="4905375"/>
            <a:ext cx="8343900" cy="19050"/>
          </a:xfrm>
          <a:prstGeom xmlns:a="http://schemas.openxmlformats.org/drawingml/2006/main" prst="rect">
            <a:avLst/>
          </a:prstGeom>
          <a:solidFill xmlns:a="http://schemas.openxmlformats.org/drawingml/2006/main">
            <a:srgbClr val="EEF1F5"/>
          </a:solidFill>
          <a:ln xmlns:a="http://schemas.openxmlformats.org/drawingml/2006/main" w="0">
            <a:solidFill>
              <a:srgbClr val="000000">
                <a:alpha val="0"/>
              </a:srgbClr>
            </a:solidFill>
            <a:prstDash val="solid"/>
          </a:ln>
        </p:spPr>
      </p:sp>
      <p:sp>
        <p:nvSpPr>
          <p:cNvPr id="40" name="">
            <a:extLst xmlns:a="http://schemas.openxmlformats.org/drawingml/2006/main">
              <a:ext uri="{FF2B5EF4-FFF2-40B4-BE49-F238E27FC236}">
                <a16:creationId xmlns:a16="http://schemas.microsoft.com/office/drawing/2014/main" id="{DD00B5F1-81D4-4F3C-9F29-2008EE4F35AE}"/>
              </a:ext>
            </a:extLst>
          </p:cNvPr>
          <p:cNvSpPr>
            <a:spLocks xmlns:a="http://schemas.openxmlformats.org/drawingml/2006/main" noGrp="1"/>
          </p:cNvSpPr>
          <p:nvPr/>
        </p:nvSpPr>
        <p:spPr>
          <a:xfrm xmlns:a="http://schemas.openxmlformats.org/drawingml/2006/main">
            <a:off x="2000250" y="5191125"/>
            <a:ext cx="8191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202631"/>
                </a:solidFill>
                <a:latin typeface="Aptos"/>
                <a:ea typeface="Aptos"/>
                <a:cs typeface="Aptos"/>
              </a:defRPr>
            </a:pPr>
            <a:r>
              <a:rPr sz="1350" b="1">
                <a:solidFill>
                  <a:srgbClr val="202631"/>
                </a:solidFill>
                <a:latin typeface="Aptos"/>
                <a:ea typeface="Aptos"/>
                <a:cs typeface="Aptos"/>
              </a:rPr>
              <a:t>Trọng tâm dữ liệu: mỗi ví gắn với một người dùng; mọi nghiệp vụ tiền tạo transaction để phục vụ lịch sử, thống kê và kiểm soát.</a:t>
            </a:r>
          </a:p>
        </p:txBody>
      </p:sp>
    </p:spTree>
    <p:extLst>
      <p:ext uri="{BB962C8B-B14F-4D97-AF65-F5344CB8AC3E}">
        <p14:creationId xmlns:p14="http://schemas.microsoft.com/office/powerpoint/2010/main" val="213215225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43CFB94-19F7-451C-852A-9FA5A287D05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BFBF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227B109-A0FC-4978-9EED-3DC1D6002418}"/>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D543C14F-EFAE-49DA-A49A-546B1CA36023}"/>
              </a:ext>
            </a:extLst>
          </p:cNvPr>
          <p:cNvSpPr>
            <a:spLocks xmlns:a="http://schemas.openxmlformats.org/drawingml/2006/main" noGrp="1"/>
          </p:cNvSpPr>
          <p:nvPr/>
        </p:nvSpPr>
        <p:spPr>
          <a:xfrm xmlns:a="http://schemas.openxmlformats.org/drawingml/2006/main">
            <a:off x="0" y="6191250"/>
            <a:ext cx="12192000" cy="9525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D6E6EF1E-93A3-401A-BB58-3EA9D8C19BD8}"/>
              </a:ext>
            </a:extLst>
          </p:cNvPr>
          <p:cNvSpPr>
            <a:spLocks xmlns:a="http://schemas.openxmlformats.org/drawingml/2006/main" noGrp="1"/>
          </p:cNvSpPr>
          <p:nvPr/>
        </p:nvSpPr>
        <p:spPr>
          <a:xfrm xmlns:a="http://schemas.openxmlformats.org/drawingml/2006/main">
            <a:off x="171450" y="6429375"/>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9AA1AA"/>
                </a:solidFill>
                <a:latin typeface="Aptos"/>
                <a:ea typeface="Aptos"/>
                <a:cs typeface="Aptos"/>
              </a:defRPr>
            </a:pPr>
            <a:r>
              <a:rPr sz="600" b="0">
                <a:solidFill>
                  <a:srgbClr val="9AA1AA"/>
                </a:solidFill>
                <a:latin typeface="Aptos"/>
                <a:ea typeface="Aptos"/>
                <a:cs typeface="Aptos"/>
              </a:rPr>
              <a:t>Slide 08</a:t>
            </a:r>
          </a:p>
        </p:txBody>
      </p:sp>
      <p:sp>
        <p:nvSpPr>
          <p:cNvPr id="5" name="">
            <a:extLst xmlns:a="http://schemas.openxmlformats.org/drawingml/2006/main">
              <a:ext uri="{FF2B5EF4-FFF2-40B4-BE49-F238E27FC236}">
                <a16:creationId xmlns:a16="http://schemas.microsoft.com/office/drawing/2014/main" id="{21E2A0CE-7A3C-4D9E-95D6-6F02EE0D1E5E}"/>
              </a:ext>
            </a:extLst>
          </p:cNvPr>
          <p:cNvSpPr>
            <a:spLocks xmlns:a="http://schemas.openxmlformats.org/drawingml/2006/main" noGrp="1"/>
          </p:cNvSpPr>
          <p:nvPr/>
        </p:nvSpPr>
        <p:spPr>
          <a:xfrm xmlns:a="http://schemas.openxmlformats.org/drawingml/2006/main">
            <a:off x="0" y="514350"/>
            <a:ext cx="12192000" cy="53340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9042E67D-502E-4B3F-8AF5-A930179DBA5D}"/>
              </a:ext>
            </a:extLst>
          </p:cNvPr>
          <p:cNvSpPr>
            <a:spLocks xmlns:a="http://schemas.openxmlformats.org/drawingml/2006/main" noGrp="1"/>
          </p:cNvSpPr>
          <p:nvPr/>
        </p:nvSpPr>
        <p:spPr>
          <a:xfrm xmlns:a="http://schemas.openxmlformats.org/drawingml/2006/main">
            <a:off x="685800" y="361950"/>
            <a:ext cx="304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B7280"/>
                </a:solidFill>
                <a:latin typeface="Aptos"/>
                <a:ea typeface="Aptos"/>
                <a:cs typeface="Aptos"/>
              </a:defRPr>
            </a:pPr>
            <a:r>
              <a:rPr sz="900" b="1">
                <a:solidFill>
                  <a:srgbClr val="6B7280"/>
                </a:solidFill>
                <a:latin typeface="Aptos"/>
                <a:ea typeface="Aptos"/>
                <a:cs typeface="Aptos"/>
              </a:rPr>
              <a:t>TRIỂN KHAI IOS</a:t>
            </a:r>
          </a:p>
        </p:txBody>
      </p:sp>
      <p:sp>
        <p:nvSpPr>
          <p:cNvPr id="7" name="">
            <a:extLst xmlns:a="http://schemas.openxmlformats.org/drawingml/2006/main">
              <a:ext uri="{FF2B5EF4-FFF2-40B4-BE49-F238E27FC236}">
                <a16:creationId xmlns:a16="http://schemas.microsoft.com/office/drawing/2014/main" id="{7602E828-9338-4E69-BAD0-F098118A2794}"/>
              </a:ext>
            </a:extLst>
          </p:cNvPr>
          <p:cNvSpPr>
            <a:spLocks xmlns:a="http://schemas.openxmlformats.org/drawingml/2006/main" noGrp="1"/>
          </p:cNvSpPr>
          <p:nvPr/>
        </p:nvSpPr>
        <p:spPr>
          <a:xfrm xmlns:a="http://schemas.openxmlformats.org/drawingml/2006/main">
            <a:off x="685800" y="628650"/>
            <a:ext cx="10287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ptos"/>
                <a:ea typeface="Aptos"/>
                <a:cs typeface="Aptos"/>
              </a:defRPr>
            </a:pPr>
            <a:r>
              <a:rPr sz="1800" b="1">
                <a:solidFill>
                  <a:srgbClr val="FFFFFF"/>
                </a:solidFill>
                <a:latin typeface="Aptos"/>
                <a:ea typeface="Aptos"/>
                <a:cs typeface="Aptos"/>
              </a:rPr>
              <a:t>Ứng dụng sinh viên đã có các màn hình cốt lõi từ đăng nhập đến thanh toán.</a:t>
            </a:r>
          </a:p>
        </p:txBody>
      </p:sp>
      <p:sp>
        <p:nvSpPr>
          <p:cNvPr id="8" name="">
            <a:extLst xmlns:a="http://schemas.openxmlformats.org/drawingml/2006/main">
              <a:ext uri="{FF2B5EF4-FFF2-40B4-BE49-F238E27FC236}">
                <a16:creationId xmlns:a16="http://schemas.microsoft.com/office/drawing/2014/main" id="{E0C59508-B575-413F-ABC6-808F3FF1AF53}"/>
              </a:ext>
            </a:extLst>
          </p:cNvPr>
          <p:cNvSpPr>
            <a:spLocks xmlns:a="http://schemas.openxmlformats.org/drawingml/2006/main" noGrp="1"/>
          </p:cNvSpPr>
          <p:nvPr/>
        </p:nvSpPr>
        <p:spPr>
          <a:xfrm xmlns:a="http://schemas.openxmlformats.org/drawingml/2006/main">
            <a:off x="609600" y="1333500"/>
            <a:ext cx="1466850" cy="34290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ee35ee430b244e5"/>
          <a:stretch xmlns:a="http://schemas.openxmlformats.org/drawingml/2006/main"/>
        </p:blipFill>
        <p:spPr>
          <a:xfrm xmlns:a="http://schemas.openxmlformats.org/drawingml/2006/main">
            <a:off x="647700" y="1419189"/>
            <a:ext cx="1390650" cy="3009973"/>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9DFE7C19-7F9F-4842-945F-1C8286A86B1B}"/>
              </a:ext>
            </a:extLst>
          </p:cNvPr>
          <p:cNvSpPr>
            <a:spLocks xmlns:a="http://schemas.openxmlformats.org/drawingml/2006/main" noGrp="1"/>
          </p:cNvSpPr>
          <p:nvPr/>
        </p:nvSpPr>
        <p:spPr>
          <a:xfrm xmlns:a="http://schemas.openxmlformats.org/drawingml/2006/main">
            <a:off x="685800" y="4533900"/>
            <a:ext cx="1314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6B7280"/>
                </a:solidFill>
                <a:latin typeface="Aptos"/>
                <a:ea typeface="Aptos"/>
                <a:cs typeface="Aptos"/>
              </a:defRPr>
            </a:pPr>
            <a:r>
              <a:rPr sz="825" b="0">
                <a:solidFill>
                  <a:srgbClr val="6B7280"/>
                </a:solidFill>
                <a:latin typeface="Aptos"/>
                <a:ea typeface="Aptos"/>
                <a:cs typeface="Aptos"/>
              </a:rPr>
              <a:t>Đăng nhập</a:t>
            </a:r>
          </a:p>
        </p:txBody>
      </p:sp>
      <p:sp>
        <p:nvSpPr>
          <p:cNvPr id="11" name="">
            <a:extLst xmlns:a="http://schemas.openxmlformats.org/drawingml/2006/main">
              <a:ext uri="{FF2B5EF4-FFF2-40B4-BE49-F238E27FC236}">
                <a16:creationId xmlns:a16="http://schemas.microsoft.com/office/drawing/2014/main" id="{8452D0F3-B31B-4F86-B27A-1E7EC645057A}"/>
              </a:ext>
            </a:extLst>
          </p:cNvPr>
          <p:cNvSpPr>
            <a:spLocks xmlns:a="http://schemas.openxmlformats.org/drawingml/2006/main" noGrp="1"/>
          </p:cNvSpPr>
          <p:nvPr/>
        </p:nvSpPr>
        <p:spPr>
          <a:xfrm xmlns:a="http://schemas.openxmlformats.org/drawingml/2006/main">
            <a:off x="2247900" y="1333500"/>
            <a:ext cx="1466850" cy="34290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0121bcc6a33416a"/>
          <a:stretch xmlns:a="http://schemas.openxmlformats.org/drawingml/2006/main"/>
        </p:blipFill>
        <p:spPr>
          <a:xfrm xmlns:a="http://schemas.openxmlformats.org/drawingml/2006/main">
            <a:off x="2286000" y="1417898"/>
            <a:ext cx="1390650" cy="3012554"/>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BD7FBEFD-ACD5-4090-B1B4-92F0607480DD}"/>
              </a:ext>
            </a:extLst>
          </p:cNvPr>
          <p:cNvSpPr>
            <a:spLocks xmlns:a="http://schemas.openxmlformats.org/drawingml/2006/main" noGrp="1"/>
          </p:cNvSpPr>
          <p:nvPr/>
        </p:nvSpPr>
        <p:spPr>
          <a:xfrm xmlns:a="http://schemas.openxmlformats.org/drawingml/2006/main">
            <a:off x="2324100" y="4533900"/>
            <a:ext cx="1314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6B7280"/>
                </a:solidFill>
                <a:latin typeface="Aptos"/>
                <a:ea typeface="Aptos"/>
                <a:cs typeface="Aptos"/>
              </a:defRPr>
            </a:pPr>
            <a:r>
              <a:rPr sz="825" b="0">
                <a:solidFill>
                  <a:srgbClr val="6B7280"/>
                </a:solidFill>
                <a:latin typeface="Aptos"/>
                <a:ea typeface="Aptos"/>
                <a:cs typeface="Aptos"/>
              </a:rPr>
              <a:t>Trang chủ ví</a:t>
            </a:r>
          </a:p>
        </p:txBody>
      </p:sp>
      <p:sp>
        <p:nvSpPr>
          <p:cNvPr id="14" name="">
            <a:extLst xmlns:a="http://schemas.openxmlformats.org/drawingml/2006/main">
              <a:ext uri="{FF2B5EF4-FFF2-40B4-BE49-F238E27FC236}">
                <a16:creationId xmlns:a16="http://schemas.microsoft.com/office/drawing/2014/main" id="{88E7580B-1CFB-40D8-B693-65171E153498}"/>
              </a:ext>
            </a:extLst>
          </p:cNvPr>
          <p:cNvSpPr>
            <a:spLocks xmlns:a="http://schemas.openxmlformats.org/drawingml/2006/main" noGrp="1"/>
          </p:cNvSpPr>
          <p:nvPr/>
        </p:nvSpPr>
        <p:spPr>
          <a:xfrm xmlns:a="http://schemas.openxmlformats.org/drawingml/2006/main">
            <a:off x="3886200" y="1333500"/>
            <a:ext cx="1466850" cy="34290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6b34b7b71724b90"/>
          <a:stretch xmlns:a="http://schemas.openxmlformats.org/drawingml/2006/main"/>
        </p:blipFill>
        <p:spPr>
          <a:xfrm xmlns:a="http://schemas.openxmlformats.org/drawingml/2006/main">
            <a:off x="3924300" y="1419477"/>
            <a:ext cx="1390650" cy="3009396"/>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12FA64EE-01CC-4E05-889C-5E92950AA73F}"/>
              </a:ext>
            </a:extLst>
          </p:cNvPr>
          <p:cNvSpPr>
            <a:spLocks xmlns:a="http://schemas.openxmlformats.org/drawingml/2006/main" noGrp="1"/>
          </p:cNvSpPr>
          <p:nvPr/>
        </p:nvSpPr>
        <p:spPr>
          <a:xfrm xmlns:a="http://schemas.openxmlformats.org/drawingml/2006/main">
            <a:off x="3962400" y="4533900"/>
            <a:ext cx="1314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6B7280"/>
                </a:solidFill>
                <a:latin typeface="Aptos"/>
                <a:ea typeface="Aptos"/>
                <a:cs typeface="Aptos"/>
              </a:defRPr>
            </a:pPr>
            <a:r>
              <a:rPr sz="825" b="0">
                <a:solidFill>
                  <a:srgbClr val="6B7280"/>
                </a:solidFill>
                <a:latin typeface="Aptos"/>
                <a:ea typeface="Aptos"/>
                <a:cs typeface="Aptos"/>
              </a:rPr>
              <a:t>Chuyển tiền</a:t>
            </a:r>
          </a:p>
        </p:txBody>
      </p:sp>
      <p:sp>
        <p:nvSpPr>
          <p:cNvPr id="17" name="">
            <a:extLst xmlns:a="http://schemas.openxmlformats.org/drawingml/2006/main">
              <a:ext uri="{FF2B5EF4-FFF2-40B4-BE49-F238E27FC236}">
                <a16:creationId xmlns:a16="http://schemas.microsoft.com/office/drawing/2014/main" id="{BACC643C-172F-4A6A-B661-CDD6E44978E6}"/>
              </a:ext>
            </a:extLst>
          </p:cNvPr>
          <p:cNvSpPr>
            <a:spLocks xmlns:a="http://schemas.openxmlformats.org/drawingml/2006/main" noGrp="1"/>
          </p:cNvSpPr>
          <p:nvPr/>
        </p:nvSpPr>
        <p:spPr>
          <a:xfrm xmlns:a="http://schemas.openxmlformats.org/drawingml/2006/main">
            <a:off x="5524500" y="1333500"/>
            <a:ext cx="1466850" cy="34290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af4695b636f4b74"/>
          <a:stretch xmlns:a="http://schemas.openxmlformats.org/drawingml/2006/main"/>
        </p:blipFill>
        <p:spPr>
          <a:xfrm xmlns:a="http://schemas.openxmlformats.org/drawingml/2006/main">
            <a:off x="5562600" y="1421833"/>
            <a:ext cx="1390650" cy="3004685"/>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9F2387EA-80AE-479D-A703-3CF211811A13}"/>
              </a:ext>
            </a:extLst>
          </p:cNvPr>
          <p:cNvSpPr>
            <a:spLocks xmlns:a="http://schemas.openxmlformats.org/drawingml/2006/main" noGrp="1"/>
          </p:cNvSpPr>
          <p:nvPr/>
        </p:nvSpPr>
        <p:spPr>
          <a:xfrm xmlns:a="http://schemas.openxmlformats.org/drawingml/2006/main">
            <a:off x="5600700" y="4533900"/>
            <a:ext cx="1314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6B7280"/>
                </a:solidFill>
                <a:latin typeface="Aptos"/>
                <a:ea typeface="Aptos"/>
                <a:cs typeface="Aptos"/>
              </a:defRPr>
            </a:pPr>
            <a:r>
              <a:rPr sz="825" b="0">
                <a:solidFill>
                  <a:srgbClr val="6B7280"/>
                </a:solidFill>
                <a:latin typeface="Aptos"/>
                <a:ea typeface="Aptos"/>
                <a:cs typeface="Aptos"/>
              </a:rPr>
              <a:t>Lịch sử</a:t>
            </a:r>
          </a:p>
        </p:txBody>
      </p:sp>
      <p:sp>
        <p:nvSpPr>
          <p:cNvPr id="20" name="">
            <a:extLst xmlns:a="http://schemas.openxmlformats.org/drawingml/2006/main">
              <a:ext uri="{FF2B5EF4-FFF2-40B4-BE49-F238E27FC236}">
                <a16:creationId xmlns:a16="http://schemas.microsoft.com/office/drawing/2014/main" id="{646380A9-4068-45AF-AD61-018664BC99E8}"/>
              </a:ext>
            </a:extLst>
          </p:cNvPr>
          <p:cNvSpPr>
            <a:spLocks xmlns:a="http://schemas.openxmlformats.org/drawingml/2006/main" noGrp="1"/>
          </p:cNvSpPr>
          <p:nvPr/>
        </p:nvSpPr>
        <p:spPr>
          <a:xfrm xmlns:a="http://schemas.openxmlformats.org/drawingml/2006/main">
            <a:off x="7162800" y="1333500"/>
            <a:ext cx="1466850" cy="34290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f8ae68710f44345"/>
          <a:stretch xmlns:a="http://schemas.openxmlformats.org/drawingml/2006/main"/>
        </p:blipFill>
        <p:spPr>
          <a:xfrm xmlns:a="http://schemas.openxmlformats.org/drawingml/2006/main">
            <a:off x="7200900" y="1420579"/>
            <a:ext cx="1390650" cy="3007192"/>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B65797CB-8EA4-4D62-8081-AE3915034978}"/>
              </a:ext>
            </a:extLst>
          </p:cNvPr>
          <p:cNvSpPr>
            <a:spLocks xmlns:a="http://schemas.openxmlformats.org/drawingml/2006/main" noGrp="1"/>
          </p:cNvSpPr>
          <p:nvPr/>
        </p:nvSpPr>
        <p:spPr>
          <a:xfrm xmlns:a="http://schemas.openxmlformats.org/drawingml/2006/main">
            <a:off x="7239000" y="4533900"/>
            <a:ext cx="1314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6B7280"/>
                </a:solidFill>
                <a:latin typeface="Aptos"/>
                <a:ea typeface="Aptos"/>
                <a:cs typeface="Aptos"/>
              </a:defRPr>
            </a:pPr>
            <a:r>
              <a:rPr sz="825" b="0">
                <a:solidFill>
                  <a:srgbClr val="6B7280"/>
                </a:solidFill>
                <a:latin typeface="Aptos"/>
                <a:ea typeface="Aptos"/>
                <a:cs typeface="Aptos"/>
              </a:rPr>
              <a:t>Thanh toán dịch vụ</a:t>
            </a:r>
          </a:p>
        </p:txBody>
      </p:sp>
      <p:sp>
        <p:nvSpPr>
          <p:cNvPr id="23" name="">
            <a:extLst xmlns:a="http://schemas.openxmlformats.org/drawingml/2006/main">
              <a:ext uri="{FF2B5EF4-FFF2-40B4-BE49-F238E27FC236}">
                <a16:creationId xmlns:a16="http://schemas.microsoft.com/office/drawing/2014/main" id="{C915DF3A-1E91-4F46-8D6C-570C569F8929}"/>
              </a:ext>
            </a:extLst>
          </p:cNvPr>
          <p:cNvSpPr>
            <a:spLocks xmlns:a="http://schemas.openxmlformats.org/drawingml/2006/main" noGrp="1"/>
          </p:cNvSpPr>
          <p:nvPr/>
        </p:nvSpPr>
        <p:spPr>
          <a:xfrm xmlns:a="http://schemas.openxmlformats.org/drawingml/2006/main">
            <a:off x="8801100" y="1333500"/>
            <a:ext cx="1466850" cy="34290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b582207d1b74965"/>
          <a:stretch xmlns:a="http://schemas.openxmlformats.org/drawingml/2006/main"/>
        </p:blipFill>
        <p:spPr>
          <a:xfrm xmlns:a="http://schemas.openxmlformats.org/drawingml/2006/main">
            <a:off x="8839200" y="1418247"/>
            <a:ext cx="1390650" cy="3011855"/>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DFA1E157-1F97-473F-ADF9-597277A3E406}"/>
              </a:ext>
            </a:extLst>
          </p:cNvPr>
          <p:cNvSpPr>
            <a:spLocks xmlns:a="http://schemas.openxmlformats.org/drawingml/2006/main" noGrp="1"/>
          </p:cNvSpPr>
          <p:nvPr/>
        </p:nvSpPr>
        <p:spPr>
          <a:xfrm xmlns:a="http://schemas.openxmlformats.org/drawingml/2006/main">
            <a:off x="8877300" y="4533900"/>
            <a:ext cx="1314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6B7280"/>
                </a:solidFill>
                <a:latin typeface="Aptos"/>
                <a:ea typeface="Aptos"/>
                <a:cs typeface="Aptos"/>
              </a:defRPr>
            </a:pPr>
            <a:r>
              <a:rPr sz="825" b="0">
                <a:solidFill>
                  <a:srgbClr val="6B7280"/>
                </a:solidFill>
                <a:latin typeface="Aptos"/>
                <a:ea typeface="Aptos"/>
                <a:cs typeface="Aptos"/>
              </a:rPr>
              <a:t>Hũ tiết kiệm</a:t>
            </a:r>
          </a:p>
        </p:txBody>
      </p:sp>
      <p:sp>
        <p:nvSpPr>
          <p:cNvPr id="26" name="">
            <a:extLst xmlns:a="http://schemas.openxmlformats.org/drawingml/2006/main">
              <a:ext uri="{FF2B5EF4-FFF2-40B4-BE49-F238E27FC236}">
                <a16:creationId xmlns:a16="http://schemas.microsoft.com/office/drawing/2014/main" id="{D966CD4D-AF63-4268-B45A-757D94CB9AF3}"/>
              </a:ext>
            </a:extLst>
          </p:cNvPr>
          <p:cNvSpPr>
            <a:spLocks xmlns:a="http://schemas.openxmlformats.org/drawingml/2006/main" noGrp="1"/>
          </p:cNvSpPr>
          <p:nvPr/>
        </p:nvSpPr>
        <p:spPr>
          <a:xfrm xmlns:a="http://schemas.openxmlformats.org/drawingml/2006/main">
            <a:off x="1047750" y="5105400"/>
            <a:ext cx="2571750" cy="742950"/>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5BFF579F-AD2C-4352-A882-5BBF40889C22}"/>
              </a:ext>
            </a:extLst>
          </p:cNvPr>
          <p:cNvSpPr>
            <a:spLocks xmlns:a="http://schemas.openxmlformats.org/drawingml/2006/main" noGrp="1"/>
          </p:cNvSpPr>
          <p:nvPr/>
        </p:nvSpPr>
        <p:spPr>
          <a:xfrm xmlns:a="http://schemas.openxmlformats.org/drawingml/2006/main">
            <a:off x="1200150" y="5219700"/>
            <a:ext cx="2266950" cy="312039"/>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ptos"/>
                <a:ea typeface="Aptos"/>
                <a:cs typeface="Aptos"/>
              </a:defRPr>
            </a:pPr>
            <a:r>
              <a:rPr sz="1800" b="1">
                <a:solidFill>
                  <a:srgbClr val="FFFFFF"/>
                </a:solidFill>
                <a:latin typeface="Aptos"/>
                <a:ea typeface="Aptos"/>
                <a:cs typeface="Aptos"/>
              </a:rPr>
              <a:t>14+</a:t>
            </a:r>
          </a:p>
        </p:txBody>
      </p:sp>
      <p:sp>
        <p:nvSpPr>
          <p:cNvPr id="28" name="">
            <a:extLst xmlns:a="http://schemas.openxmlformats.org/drawingml/2006/main">
              <a:ext uri="{FF2B5EF4-FFF2-40B4-BE49-F238E27FC236}">
                <a16:creationId xmlns:a16="http://schemas.microsoft.com/office/drawing/2014/main" id="{CEA2AD17-1C34-4913-8F71-BBF7B3E12964}"/>
              </a:ext>
            </a:extLst>
          </p:cNvPr>
          <p:cNvSpPr>
            <a:spLocks xmlns:a="http://schemas.openxmlformats.org/drawingml/2006/main" noGrp="1"/>
          </p:cNvSpPr>
          <p:nvPr/>
        </p:nvSpPr>
        <p:spPr>
          <a:xfrm xmlns:a="http://schemas.openxmlformats.org/drawingml/2006/main">
            <a:off x="1200150" y="5588889"/>
            <a:ext cx="2266950" cy="183261"/>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DBE1EA"/>
                </a:solidFill>
                <a:latin typeface="Aptos"/>
                <a:ea typeface="Aptos"/>
                <a:cs typeface="Aptos"/>
              </a:defRPr>
            </a:pPr>
            <a:r>
              <a:rPr sz="900" b="0">
                <a:solidFill>
                  <a:srgbClr val="DBE1EA"/>
                </a:solidFill>
                <a:latin typeface="Aptos"/>
                <a:ea typeface="Aptos"/>
                <a:cs typeface="Aptos"/>
              </a:rPr>
              <a:t>màn hình người dùng trong báo cáo</a:t>
            </a:r>
          </a:p>
        </p:txBody>
      </p:sp>
      <p:sp>
        <p:nvSpPr>
          <p:cNvPr id="29" name="">
            <a:extLst xmlns:a="http://schemas.openxmlformats.org/drawingml/2006/main">
              <a:ext uri="{FF2B5EF4-FFF2-40B4-BE49-F238E27FC236}">
                <a16:creationId xmlns:a16="http://schemas.microsoft.com/office/drawing/2014/main" id="{DA4F811C-C517-4884-BF13-12CE0A5D2229}"/>
              </a:ext>
            </a:extLst>
          </p:cNvPr>
          <p:cNvSpPr>
            <a:spLocks xmlns:a="http://schemas.openxmlformats.org/drawingml/2006/main" noGrp="1"/>
          </p:cNvSpPr>
          <p:nvPr/>
        </p:nvSpPr>
        <p:spPr>
          <a:xfrm xmlns:a="http://schemas.openxmlformats.org/drawingml/2006/main">
            <a:off x="4810125" y="5105400"/>
            <a:ext cx="2571750" cy="74295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330BCD6B-BE88-479D-B9EC-2331FDAA2872}"/>
              </a:ext>
            </a:extLst>
          </p:cNvPr>
          <p:cNvSpPr>
            <a:spLocks xmlns:a="http://schemas.openxmlformats.org/drawingml/2006/main" noGrp="1"/>
          </p:cNvSpPr>
          <p:nvPr/>
        </p:nvSpPr>
        <p:spPr>
          <a:xfrm xmlns:a="http://schemas.openxmlformats.org/drawingml/2006/main">
            <a:off x="4962525" y="5219700"/>
            <a:ext cx="2266950" cy="312039"/>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ptos"/>
                <a:ea typeface="Aptos"/>
                <a:cs typeface="Aptos"/>
              </a:defRPr>
            </a:pPr>
            <a:r>
              <a:rPr sz="1800" b="1">
                <a:solidFill>
                  <a:srgbClr val="FFFFFF"/>
                </a:solidFill>
                <a:latin typeface="Aptos"/>
                <a:ea typeface="Aptos"/>
                <a:cs typeface="Aptos"/>
              </a:rPr>
              <a:t>REST</a:t>
            </a:r>
          </a:p>
        </p:txBody>
      </p:sp>
      <p:sp>
        <p:nvSpPr>
          <p:cNvPr id="31" name="">
            <a:extLst xmlns:a="http://schemas.openxmlformats.org/drawingml/2006/main">
              <a:ext uri="{FF2B5EF4-FFF2-40B4-BE49-F238E27FC236}">
                <a16:creationId xmlns:a16="http://schemas.microsoft.com/office/drawing/2014/main" id="{A1C1AAD5-2C36-4D12-8C05-06B36AD99918}"/>
              </a:ext>
            </a:extLst>
          </p:cNvPr>
          <p:cNvSpPr>
            <a:spLocks xmlns:a="http://schemas.openxmlformats.org/drawingml/2006/main" noGrp="1"/>
          </p:cNvSpPr>
          <p:nvPr/>
        </p:nvSpPr>
        <p:spPr>
          <a:xfrm xmlns:a="http://schemas.openxmlformats.org/drawingml/2006/main">
            <a:off x="4962525" y="5588889"/>
            <a:ext cx="2266950" cy="183261"/>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DBE1EA"/>
                </a:solidFill>
                <a:latin typeface="Aptos"/>
                <a:ea typeface="Aptos"/>
                <a:cs typeface="Aptos"/>
              </a:defRPr>
            </a:pPr>
            <a:r>
              <a:rPr sz="900" b="0">
                <a:solidFill>
                  <a:srgbClr val="DBE1EA"/>
                </a:solidFill>
                <a:latin typeface="Aptos"/>
                <a:ea typeface="Aptos"/>
                <a:cs typeface="Aptos"/>
              </a:rPr>
              <a:t>endpoint tập trung trong APIEndpoint.swift</a:t>
            </a:r>
          </a:p>
        </p:txBody>
      </p:sp>
      <p:sp>
        <p:nvSpPr>
          <p:cNvPr id="32" name="">
            <a:extLst xmlns:a="http://schemas.openxmlformats.org/drawingml/2006/main">
              <a:ext uri="{FF2B5EF4-FFF2-40B4-BE49-F238E27FC236}">
                <a16:creationId xmlns:a16="http://schemas.microsoft.com/office/drawing/2014/main" id="{E11CD7B1-F065-4F05-B289-F2C5872322D9}"/>
              </a:ext>
            </a:extLst>
          </p:cNvPr>
          <p:cNvSpPr>
            <a:spLocks xmlns:a="http://schemas.openxmlformats.org/drawingml/2006/main" noGrp="1"/>
          </p:cNvSpPr>
          <p:nvPr/>
        </p:nvSpPr>
        <p:spPr>
          <a:xfrm xmlns:a="http://schemas.openxmlformats.org/drawingml/2006/main">
            <a:off x="8572500" y="5105400"/>
            <a:ext cx="2571750" cy="742950"/>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8499432A-CBBF-4DF4-9E44-4ED60A43AAF1}"/>
              </a:ext>
            </a:extLst>
          </p:cNvPr>
          <p:cNvSpPr>
            <a:spLocks xmlns:a="http://schemas.openxmlformats.org/drawingml/2006/main" noGrp="1"/>
          </p:cNvSpPr>
          <p:nvPr/>
        </p:nvSpPr>
        <p:spPr>
          <a:xfrm xmlns:a="http://schemas.openxmlformats.org/drawingml/2006/main">
            <a:off x="8724900" y="5219700"/>
            <a:ext cx="2266950" cy="312039"/>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ptos"/>
                <a:ea typeface="Aptos"/>
                <a:cs typeface="Aptos"/>
              </a:defRPr>
            </a:pPr>
            <a:r>
              <a:rPr sz="1800" b="1">
                <a:solidFill>
                  <a:srgbClr val="FFFFFF"/>
                </a:solidFill>
                <a:latin typeface="Aptos"/>
                <a:ea typeface="Aptos"/>
                <a:cs typeface="Aptos"/>
              </a:rPr>
              <a:t>JWT + PIN</a:t>
            </a:r>
          </a:p>
        </p:txBody>
      </p:sp>
      <p:sp>
        <p:nvSpPr>
          <p:cNvPr id="34" name="">
            <a:extLst xmlns:a="http://schemas.openxmlformats.org/drawingml/2006/main">
              <a:ext uri="{FF2B5EF4-FFF2-40B4-BE49-F238E27FC236}">
                <a16:creationId xmlns:a16="http://schemas.microsoft.com/office/drawing/2014/main" id="{1DFE0E53-BC88-4CCF-899F-03867A538F44}"/>
              </a:ext>
            </a:extLst>
          </p:cNvPr>
          <p:cNvSpPr>
            <a:spLocks xmlns:a="http://schemas.openxmlformats.org/drawingml/2006/main" noGrp="1"/>
          </p:cNvSpPr>
          <p:nvPr/>
        </p:nvSpPr>
        <p:spPr>
          <a:xfrm xmlns:a="http://schemas.openxmlformats.org/drawingml/2006/main">
            <a:off x="8724900" y="5588889"/>
            <a:ext cx="2266950" cy="183261"/>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0">
                <a:solidFill>
                  <a:srgbClr val="DBE1EA"/>
                </a:solidFill>
                <a:latin typeface="Aptos"/>
                <a:ea typeface="Aptos"/>
                <a:cs typeface="Aptos"/>
              </a:defRPr>
            </a:pPr>
            <a:r>
              <a:rPr sz="900" b="0">
                <a:solidFill>
                  <a:srgbClr val="DBE1EA"/>
                </a:solidFill>
                <a:latin typeface="Aptos"/>
                <a:ea typeface="Aptos"/>
                <a:cs typeface="Aptos"/>
              </a:rPr>
              <a:t>xác thực phiên và xác nhận giao dịch</a:t>
            </a:r>
          </a:p>
        </p:txBody>
      </p:sp>
    </p:spTree>
    <p:extLst>
      <p:ext uri="{BB962C8B-B14F-4D97-AF65-F5344CB8AC3E}">
        <p14:creationId xmlns:p14="http://schemas.microsoft.com/office/powerpoint/2010/main" val="95225769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16C5DED-C3EA-4957-B1ED-37FC49242E8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BFBF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CF13064-8FFB-4D58-BFB1-FF44DD57CD5A}"/>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3D11425-238D-4466-81CC-B23759628EC4}"/>
              </a:ext>
            </a:extLst>
          </p:cNvPr>
          <p:cNvSpPr>
            <a:spLocks xmlns:a="http://schemas.openxmlformats.org/drawingml/2006/main" noGrp="1"/>
          </p:cNvSpPr>
          <p:nvPr/>
        </p:nvSpPr>
        <p:spPr>
          <a:xfrm xmlns:a="http://schemas.openxmlformats.org/drawingml/2006/main">
            <a:off x="0" y="6191250"/>
            <a:ext cx="12192000" cy="9525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7193EA38-A232-4EF2-B945-DBF3076550F9}"/>
              </a:ext>
            </a:extLst>
          </p:cNvPr>
          <p:cNvSpPr>
            <a:spLocks xmlns:a="http://schemas.openxmlformats.org/drawingml/2006/main" noGrp="1"/>
          </p:cNvSpPr>
          <p:nvPr/>
        </p:nvSpPr>
        <p:spPr>
          <a:xfrm xmlns:a="http://schemas.openxmlformats.org/drawingml/2006/main">
            <a:off x="171450" y="6429375"/>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9AA1AA"/>
                </a:solidFill>
                <a:latin typeface="Aptos"/>
                <a:ea typeface="Aptos"/>
                <a:cs typeface="Aptos"/>
              </a:defRPr>
            </a:pPr>
            <a:r>
              <a:rPr sz="600" b="0">
                <a:solidFill>
                  <a:srgbClr val="9AA1AA"/>
                </a:solidFill>
                <a:latin typeface="Aptos"/>
                <a:ea typeface="Aptos"/>
                <a:cs typeface="Aptos"/>
              </a:rPr>
              <a:t>Slide 09</a:t>
            </a:r>
          </a:p>
        </p:txBody>
      </p:sp>
      <p:sp>
        <p:nvSpPr>
          <p:cNvPr id="5" name="">
            <a:extLst xmlns:a="http://schemas.openxmlformats.org/drawingml/2006/main">
              <a:ext uri="{FF2B5EF4-FFF2-40B4-BE49-F238E27FC236}">
                <a16:creationId xmlns:a16="http://schemas.microsoft.com/office/drawing/2014/main" id="{37B412C1-B12E-466F-B2AC-7C13F22737E0}"/>
              </a:ext>
            </a:extLst>
          </p:cNvPr>
          <p:cNvSpPr>
            <a:spLocks xmlns:a="http://schemas.openxmlformats.org/drawingml/2006/main" noGrp="1"/>
          </p:cNvSpPr>
          <p:nvPr/>
        </p:nvSpPr>
        <p:spPr>
          <a:xfrm xmlns:a="http://schemas.openxmlformats.org/drawingml/2006/main">
            <a:off x="685800" y="447675"/>
            <a:ext cx="152400" cy="15240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1FD1BEF6-B0A1-4105-9838-9C82878FFFB6}"/>
              </a:ext>
            </a:extLst>
          </p:cNvPr>
          <p:cNvSpPr>
            <a:spLocks xmlns:a="http://schemas.openxmlformats.org/drawingml/2006/main" noGrp="1"/>
          </p:cNvSpPr>
          <p:nvPr/>
        </p:nvSpPr>
        <p:spPr>
          <a:xfrm xmlns:a="http://schemas.openxmlformats.org/drawingml/2006/main">
            <a:off x="933450" y="400050"/>
            <a:ext cx="3143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6B7280"/>
                </a:solidFill>
                <a:latin typeface="Aptos"/>
                <a:ea typeface="Aptos"/>
                <a:cs typeface="Aptos"/>
              </a:defRPr>
            </a:pPr>
            <a:r>
              <a:rPr sz="975" b="1">
                <a:solidFill>
                  <a:srgbClr val="6B7280"/>
                </a:solidFill>
                <a:latin typeface="Aptos"/>
                <a:ea typeface="Aptos"/>
                <a:cs typeface="Aptos"/>
              </a:rPr>
              <a:t>GIAO DỊCH</a:t>
            </a:r>
          </a:p>
        </p:txBody>
      </p:sp>
      <p:sp>
        <p:nvSpPr>
          <p:cNvPr id="7" name="">
            <a:extLst xmlns:a="http://schemas.openxmlformats.org/drawingml/2006/main">
              <a:ext uri="{FF2B5EF4-FFF2-40B4-BE49-F238E27FC236}">
                <a16:creationId xmlns:a16="http://schemas.microsoft.com/office/drawing/2014/main" id="{F3C2C14D-6C63-4884-B89D-E06C5A905873}"/>
              </a:ext>
            </a:extLst>
          </p:cNvPr>
          <p:cNvSpPr>
            <a:spLocks xmlns:a="http://schemas.openxmlformats.org/drawingml/2006/main" noGrp="1"/>
          </p:cNvSpPr>
          <p:nvPr/>
        </p:nvSpPr>
        <p:spPr>
          <a:xfrm xmlns:a="http://schemas.openxmlformats.org/drawingml/2006/main">
            <a:off x="685800" y="685800"/>
            <a:ext cx="93345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45B63"/>
                </a:solidFill>
                <a:latin typeface="Aptos Display"/>
                <a:ea typeface="Aptos Display"/>
                <a:cs typeface="Aptos Display"/>
              </a:defRPr>
            </a:pPr>
            <a:r>
              <a:rPr sz="2550" b="1">
                <a:solidFill>
                  <a:srgbClr val="F45B63"/>
                </a:solidFill>
                <a:latin typeface="Aptos Display"/>
                <a:ea typeface="Aptos Display"/>
                <a:cs typeface="Aptos Display"/>
              </a:rPr>
              <a:t>Mỗi thao tác tiền đi qua xác thực PIN, kiểm tra số dư và ghi nhận lịch sử.</a:t>
            </a:r>
          </a:p>
        </p:txBody>
      </p:sp>
      <p:sp>
        <p:nvSpPr>
          <p:cNvPr id="8" name="">
            <a:extLst xmlns:a="http://schemas.openxmlformats.org/drawingml/2006/main">
              <a:ext uri="{FF2B5EF4-FFF2-40B4-BE49-F238E27FC236}">
                <a16:creationId xmlns:a16="http://schemas.microsoft.com/office/drawing/2014/main" id="{04CFB97C-EE82-4E0B-8421-1DC730207F85}"/>
              </a:ext>
            </a:extLst>
          </p:cNvPr>
          <p:cNvSpPr>
            <a:spLocks xmlns:a="http://schemas.openxmlformats.org/drawingml/2006/main" noGrp="1"/>
          </p:cNvSpPr>
          <p:nvPr/>
        </p:nvSpPr>
        <p:spPr>
          <a:xfrm xmlns:a="http://schemas.openxmlformats.org/drawingml/2006/main">
            <a:off x="685800" y="1485900"/>
            <a:ext cx="10763250" cy="19050"/>
          </a:xfrm>
          <a:prstGeom xmlns:a="http://schemas.openxmlformats.org/drawingml/2006/main" prst="rect">
            <a:avLst/>
          </a:prstGeom>
          <a:solidFill xmlns:a="http://schemas.openxmlformats.org/drawingml/2006/main">
            <a:srgbClr val="EEF1F5"/>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190D05BF-53A1-476D-A19F-4BBC24D83760}"/>
              </a:ext>
            </a:extLst>
          </p:cNvPr>
          <p:cNvSpPr>
            <a:spLocks xmlns:a="http://schemas.openxmlformats.org/drawingml/2006/main" noGrp="1"/>
          </p:cNvSpPr>
          <p:nvPr/>
        </p:nvSpPr>
        <p:spPr>
          <a:xfrm xmlns:a="http://schemas.openxmlformats.org/drawingml/2006/main">
            <a:off x="819150" y="2190750"/>
            <a:ext cx="1428750" cy="83820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41C77C10-C3D5-4F8E-9492-A3404D560EAC}"/>
              </a:ext>
            </a:extLst>
          </p:cNvPr>
          <p:cNvSpPr>
            <a:spLocks xmlns:a="http://schemas.openxmlformats.org/drawingml/2006/main" noGrp="1"/>
          </p:cNvSpPr>
          <p:nvPr/>
        </p:nvSpPr>
        <p:spPr>
          <a:xfrm xmlns:a="http://schemas.openxmlformats.org/drawingml/2006/main">
            <a:off x="1371600" y="3257550"/>
            <a:ext cx="323850" cy="323850"/>
          </a:xfrm>
          <a:prstGeom xmlns:a="http://schemas.openxmlformats.org/drawingml/2006/main" prst="rect">
            <a:avLst/>
          </a:prstGeom>
          <a:solidFill xmlns:a="http://schemas.openxmlformats.org/drawingml/2006/main">
            <a:srgbClr val="FFFFFF"/>
          </a:solidFill>
          <a:ln xmlns:a="http://schemas.openxmlformats.org/drawingml/2006/main" w="28575">
            <a:solidFill>
              <a:srgbClr val="F45B63"/>
            </a:solidFill>
            <a:prstDash val="solid"/>
          </a:ln>
        </p:spPr>
      </p:sp>
      <p:sp>
        <p:nvSpPr>
          <p:cNvPr id="11" name="">
            <a:extLst xmlns:a="http://schemas.openxmlformats.org/drawingml/2006/main">
              <a:ext uri="{FF2B5EF4-FFF2-40B4-BE49-F238E27FC236}">
                <a16:creationId xmlns:a16="http://schemas.microsoft.com/office/drawing/2014/main" id="{58F98305-2E1E-4E60-96B3-6E461761EC66}"/>
              </a:ext>
            </a:extLst>
          </p:cNvPr>
          <p:cNvSpPr>
            <a:spLocks xmlns:a="http://schemas.openxmlformats.org/drawingml/2006/main" noGrp="1"/>
          </p:cNvSpPr>
          <p:nvPr/>
        </p:nvSpPr>
        <p:spPr>
          <a:xfrm xmlns:a="http://schemas.openxmlformats.org/drawingml/2006/main">
            <a:off x="1428750" y="3333750"/>
            <a:ext cx="209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45B63"/>
                </a:solidFill>
                <a:latin typeface="Aptos"/>
                <a:ea typeface="Aptos"/>
                <a:cs typeface="Aptos"/>
              </a:defRPr>
            </a:pPr>
            <a:r>
              <a:rPr sz="1200" b="1">
                <a:solidFill>
                  <a:srgbClr val="F45B63"/>
                </a:solidFill>
                <a:latin typeface="Aptos"/>
                <a:ea typeface="Aptos"/>
                <a:cs typeface="Aptos"/>
              </a:rPr>
              <a:t>1</a:t>
            </a:r>
          </a:p>
        </p:txBody>
      </p:sp>
      <p:sp>
        <p:nvSpPr>
          <p:cNvPr id="12" name="">
            <a:extLst xmlns:a="http://schemas.openxmlformats.org/drawingml/2006/main">
              <a:ext uri="{FF2B5EF4-FFF2-40B4-BE49-F238E27FC236}">
                <a16:creationId xmlns:a16="http://schemas.microsoft.com/office/drawing/2014/main" id="{E9AA94DF-18FA-45FF-9D38-74BBDD8EF1EA}"/>
              </a:ext>
            </a:extLst>
          </p:cNvPr>
          <p:cNvSpPr>
            <a:spLocks xmlns:a="http://schemas.openxmlformats.org/drawingml/2006/main" noGrp="1"/>
          </p:cNvSpPr>
          <p:nvPr/>
        </p:nvSpPr>
        <p:spPr>
          <a:xfrm xmlns:a="http://schemas.openxmlformats.org/drawingml/2006/main">
            <a:off x="933450" y="2381250"/>
            <a:ext cx="12001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Nhập thông tin</a:t>
            </a:r>
          </a:p>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người nhận/dịch vụ/số tiền</a:t>
            </a:r>
          </a:p>
        </p:txBody>
      </p:sp>
      <p:sp>
        <p:nvSpPr>
          <p:cNvPr id="13" name="">
            <a:extLst xmlns:a="http://schemas.openxmlformats.org/drawingml/2006/main">
              <a:ext uri="{FF2B5EF4-FFF2-40B4-BE49-F238E27FC236}">
                <a16:creationId xmlns:a16="http://schemas.microsoft.com/office/drawing/2014/main" id="{644E74B5-0AF0-4E1B-8D5A-DEE03DFFF634}"/>
              </a:ext>
            </a:extLst>
          </p:cNvPr>
          <p:cNvSpPr>
            <a:spLocks xmlns:a="http://schemas.openxmlformats.org/drawingml/2006/main" noGrp="1"/>
          </p:cNvSpPr>
          <p:nvPr/>
        </p:nvSpPr>
        <p:spPr>
          <a:xfrm xmlns:a="http://schemas.openxmlformats.org/drawingml/2006/main">
            <a:off x="2247900" y="2609850"/>
            <a:ext cx="723900" cy="28575"/>
          </a:xfrm>
          <a:prstGeom xmlns:a="http://schemas.openxmlformats.org/drawingml/2006/main" prst="rect">
            <a:avLst/>
          </a:prstGeom>
          <a:solidFill xmlns:a="http://schemas.openxmlformats.org/drawingml/2006/main">
            <a:srgbClr val="6B7280"/>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93597AAE-3016-4FAA-9F26-028296AAFFEF}"/>
              </a:ext>
            </a:extLst>
          </p:cNvPr>
          <p:cNvSpPr>
            <a:spLocks xmlns:a="http://schemas.openxmlformats.org/drawingml/2006/main" noGrp="1"/>
          </p:cNvSpPr>
          <p:nvPr/>
        </p:nvSpPr>
        <p:spPr>
          <a:xfrm xmlns:a="http://schemas.openxmlformats.org/drawingml/2006/main">
            <a:off x="2971800" y="2190750"/>
            <a:ext cx="1428750" cy="838200"/>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625A68AA-2D34-4F19-A3E3-5B20436527C9}"/>
              </a:ext>
            </a:extLst>
          </p:cNvPr>
          <p:cNvSpPr>
            <a:spLocks xmlns:a="http://schemas.openxmlformats.org/drawingml/2006/main" noGrp="1"/>
          </p:cNvSpPr>
          <p:nvPr/>
        </p:nvSpPr>
        <p:spPr>
          <a:xfrm xmlns:a="http://schemas.openxmlformats.org/drawingml/2006/main">
            <a:off x="3524250" y="3257550"/>
            <a:ext cx="323850" cy="323850"/>
          </a:xfrm>
          <a:prstGeom xmlns:a="http://schemas.openxmlformats.org/drawingml/2006/main" prst="rect">
            <a:avLst/>
          </a:prstGeom>
          <a:solidFill xmlns:a="http://schemas.openxmlformats.org/drawingml/2006/main">
            <a:srgbClr val="FFFFFF"/>
          </a:solidFill>
          <a:ln xmlns:a="http://schemas.openxmlformats.org/drawingml/2006/main" w="28575">
            <a:solidFill>
              <a:srgbClr val="18202C"/>
            </a:solidFill>
            <a:prstDash val="solid"/>
          </a:ln>
        </p:spPr>
      </p:sp>
      <p:sp>
        <p:nvSpPr>
          <p:cNvPr id="16" name="">
            <a:extLst xmlns:a="http://schemas.openxmlformats.org/drawingml/2006/main">
              <a:ext uri="{FF2B5EF4-FFF2-40B4-BE49-F238E27FC236}">
                <a16:creationId xmlns:a16="http://schemas.microsoft.com/office/drawing/2014/main" id="{3C1F4410-EECC-4DA7-B687-5494F3868A39}"/>
              </a:ext>
            </a:extLst>
          </p:cNvPr>
          <p:cNvSpPr>
            <a:spLocks xmlns:a="http://schemas.openxmlformats.org/drawingml/2006/main" noGrp="1"/>
          </p:cNvSpPr>
          <p:nvPr/>
        </p:nvSpPr>
        <p:spPr>
          <a:xfrm xmlns:a="http://schemas.openxmlformats.org/drawingml/2006/main">
            <a:off x="3581400" y="3333750"/>
            <a:ext cx="209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18202C"/>
                </a:solidFill>
                <a:latin typeface="Aptos"/>
                <a:ea typeface="Aptos"/>
                <a:cs typeface="Aptos"/>
              </a:defRPr>
            </a:pPr>
            <a:r>
              <a:rPr sz="1200" b="1">
                <a:solidFill>
                  <a:srgbClr val="18202C"/>
                </a:solidFill>
                <a:latin typeface="Aptos"/>
                <a:ea typeface="Aptos"/>
                <a:cs typeface="Aptos"/>
              </a:rPr>
              <a:t>2</a:t>
            </a:r>
          </a:p>
        </p:txBody>
      </p:sp>
      <p:sp>
        <p:nvSpPr>
          <p:cNvPr id="17" name="">
            <a:extLst xmlns:a="http://schemas.openxmlformats.org/drawingml/2006/main">
              <a:ext uri="{FF2B5EF4-FFF2-40B4-BE49-F238E27FC236}">
                <a16:creationId xmlns:a16="http://schemas.microsoft.com/office/drawing/2014/main" id="{2F698BED-2812-44A6-BB9B-71A6FDE10883}"/>
              </a:ext>
            </a:extLst>
          </p:cNvPr>
          <p:cNvSpPr>
            <a:spLocks xmlns:a="http://schemas.openxmlformats.org/drawingml/2006/main" noGrp="1"/>
          </p:cNvSpPr>
          <p:nvPr/>
        </p:nvSpPr>
        <p:spPr>
          <a:xfrm xmlns:a="http://schemas.openxmlformats.org/drawingml/2006/main">
            <a:off x="3086100" y="2381250"/>
            <a:ext cx="12001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Xác nhận</a:t>
            </a:r>
          </a:p>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thông tin giao dịch</a:t>
            </a:r>
          </a:p>
        </p:txBody>
      </p:sp>
      <p:sp>
        <p:nvSpPr>
          <p:cNvPr id="18" name="">
            <a:extLst xmlns:a="http://schemas.openxmlformats.org/drawingml/2006/main">
              <a:ext uri="{FF2B5EF4-FFF2-40B4-BE49-F238E27FC236}">
                <a16:creationId xmlns:a16="http://schemas.microsoft.com/office/drawing/2014/main" id="{69D631D1-3D28-4209-8CCB-8EAE6D93FF08}"/>
              </a:ext>
            </a:extLst>
          </p:cNvPr>
          <p:cNvSpPr>
            <a:spLocks xmlns:a="http://schemas.openxmlformats.org/drawingml/2006/main" noGrp="1"/>
          </p:cNvSpPr>
          <p:nvPr/>
        </p:nvSpPr>
        <p:spPr>
          <a:xfrm xmlns:a="http://schemas.openxmlformats.org/drawingml/2006/main">
            <a:off x="4400550" y="2609850"/>
            <a:ext cx="723900" cy="28575"/>
          </a:xfrm>
          <a:prstGeom xmlns:a="http://schemas.openxmlformats.org/drawingml/2006/main" prst="rect">
            <a:avLst/>
          </a:prstGeom>
          <a:solidFill xmlns:a="http://schemas.openxmlformats.org/drawingml/2006/main">
            <a:srgbClr val="6B7280"/>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D00BD408-67A4-4A44-BC69-E85D38386CC7}"/>
              </a:ext>
            </a:extLst>
          </p:cNvPr>
          <p:cNvSpPr>
            <a:spLocks xmlns:a="http://schemas.openxmlformats.org/drawingml/2006/main" noGrp="1"/>
          </p:cNvSpPr>
          <p:nvPr/>
        </p:nvSpPr>
        <p:spPr>
          <a:xfrm xmlns:a="http://schemas.openxmlformats.org/drawingml/2006/main">
            <a:off x="5124450" y="2190750"/>
            <a:ext cx="1428750" cy="83820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76935939-02B5-4776-A053-9A63774A5E61}"/>
              </a:ext>
            </a:extLst>
          </p:cNvPr>
          <p:cNvSpPr>
            <a:spLocks xmlns:a="http://schemas.openxmlformats.org/drawingml/2006/main" noGrp="1"/>
          </p:cNvSpPr>
          <p:nvPr/>
        </p:nvSpPr>
        <p:spPr>
          <a:xfrm xmlns:a="http://schemas.openxmlformats.org/drawingml/2006/main">
            <a:off x="5676900" y="3257550"/>
            <a:ext cx="323850" cy="323850"/>
          </a:xfrm>
          <a:prstGeom xmlns:a="http://schemas.openxmlformats.org/drawingml/2006/main" prst="rect">
            <a:avLst/>
          </a:prstGeom>
          <a:solidFill xmlns:a="http://schemas.openxmlformats.org/drawingml/2006/main">
            <a:srgbClr val="FFFFFF"/>
          </a:solidFill>
          <a:ln xmlns:a="http://schemas.openxmlformats.org/drawingml/2006/main" w="28575">
            <a:solidFill>
              <a:srgbClr val="F45B63"/>
            </a:solidFill>
            <a:prstDash val="solid"/>
          </a:ln>
        </p:spPr>
      </p:sp>
      <p:sp>
        <p:nvSpPr>
          <p:cNvPr id="21" name="">
            <a:extLst xmlns:a="http://schemas.openxmlformats.org/drawingml/2006/main">
              <a:ext uri="{FF2B5EF4-FFF2-40B4-BE49-F238E27FC236}">
                <a16:creationId xmlns:a16="http://schemas.microsoft.com/office/drawing/2014/main" id="{944D80FA-49B1-4D20-9B80-72EABF071913}"/>
              </a:ext>
            </a:extLst>
          </p:cNvPr>
          <p:cNvSpPr>
            <a:spLocks xmlns:a="http://schemas.openxmlformats.org/drawingml/2006/main" noGrp="1"/>
          </p:cNvSpPr>
          <p:nvPr/>
        </p:nvSpPr>
        <p:spPr>
          <a:xfrm xmlns:a="http://schemas.openxmlformats.org/drawingml/2006/main">
            <a:off x="5734050" y="3333750"/>
            <a:ext cx="209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45B63"/>
                </a:solidFill>
                <a:latin typeface="Aptos"/>
                <a:ea typeface="Aptos"/>
                <a:cs typeface="Aptos"/>
              </a:defRPr>
            </a:pPr>
            <a:r>
              <a:rPr sz="1200" b="1">
                <a:solidFill>
                  <a:srgbClr val="F45B63"/>
                </a:solidFill>
                <a:latin typeface="Aptos"/>
                <a:ea typeface="Aptos"/>
                <a:cs typeface="Aptos"/>
              </a:rPr>
              <a:t>3</a:t>
            </a:r>
          </a:p>
        </p:txBody>
      </p:sp>
      <p:sp>
        <p:nvSpPr>
          <p:cNvPr id="22" name="">
            <a:extLst xmlns:a="http://schemas.openxmlformats.org/drawingml/2006/main">
              <a:ext uri="{FF2B5EF4-FFF2-40B4-BE49-F238E27FC236}">
                <a16:creationId xmlns:a16="http://schemas.microsoft.com/office/drawing/2014/main" id="{E535BECC-9E68-48BC-B356-EDD2FF741778}"/>
              </a:ext>
            </a:extLst>
          </p:cNvPr>
          <p:cNvSpPr>
            <a:spLocks xmlns:a="http://schemas.openxmlformats.org/drawingml/2006/main" noGrp="1"/>
          </p:cNvSpPr>
          <p:nvPr/>
        </p:nvSpPr>
        <p:spPr>
          <a:xfrm xmlns:a="http://schemas.openxmlformats.org/drawingml/2006/main">
            <a:off x="5238750" y="2381250"/>
            <a:ext cx="12001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Nhập PIN</a:t>
            </a:r>
          </a:p>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bảo mật ví</a:t>
            </a:r>
          </a:p>
        </p:txBody>
      </p:sp>
      <p:sp>
        <p:nvSpPr>
          <p:cNvPr id="23" name="">
            <a:extLst xmlns:a="http://schemas.openxmlformats.org/drawingml/2006/main">
              <a:ext uri="{FF2B5EF4-FFF2-40B4-BE49-F238E27FC236}">
                <a16:creationId xmlns:a16="http://schemas.microsoft.com/office/drawing/2014/main" id="{72E75B03-74D6-443D-8A67-D4520C159C7D}"/>
              </a:ext>
            </a:extLst>
          </p:cNvPr>
          <p:cNvSpPr>
            <a:spLocks xmlns:a="http://schemas.openxmlformats.org/drawingml/2006/main" noGrp="1"/>
          </p:cNvSpPr>
          <p:nvPr/>
        </p:nvSpPr>
        <p:spPr>
          <a:xfrm xmlns:a="http://schemas.openxmlformats.org/drawingml/2006/main">
            <a:off x="6553200" y="2609850"/>
            <a:ext cx="723900" cy="28575"/>
          </a:xfrm>
          <a:prstGeom xmlns:a="http://schemas.openxmlformats.org/drawingml/2006/main" prst="rect">
            <a:avLst/>
          </a:prstGeom>
          <a:solidFill xmlns:a="http://schemas.openxmlformats.org/drawingml/2006/main">
            <a:srgbClr val="6B7280"/>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4BC79A2B-1484-463C-9B45-B128D515FE52}"/>
              </a:ext>
            </a:extLst>
          </p:cNvPr>
          <p:cNvSpPr>
            <a:spLocks xmlns:a="http://schemas.openxmlformats.org/drawingml/2006/main" noGrp="1"/>
          </p:cNvSpPr>
          <p:nvPr/>
        </p:nvSpPr>
        <p:spPr>
          <a:xfrm xmlns:a="http://schemas.openxmlformats.org/drawingml/2006/main">
            <a:off x="7277100" y="2190750"/>
            <a:ext cx="1428750" cy="838200"/>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A099AAD2-76B8-4A77-877B-49A657ED3CEB}"/>
              </a:ext>
            </a:extLst>
          </p:cNvPr>
          <p:cNvSpPr>
            <a:spLocks xmlns:a="http://schemas.openxmlformats.org/drawingml/2006/main" noGrp="1"/>
          </p:cNvSpPr>
          <p:nvPr/>
        </p:nvSpPr>
        <p:spPr>
          <a:xfrm xmlns:a="http://schemas.openxmlformats.org/drawingml/2006/main">
            <a:off x="7829550" y="3257550"/>
            <a:ext cx="323850" cy="323850"/>
          </a:xfrm>
          <a:prstGeom xmlns:a="http://schemas.openxmlformats.org/drawingml/2006/main" prst="rect">
            <a:avLst/>
          </a:prstGeom>
          <a:solidFill xmlns:a="http://schemas.openxmlformats.org/drawingml/2006/main">
            <a:srgbClr val="FFFFFF"/>
          </a:solidFill>
          <a:ln xmlns:a="http://schemas.openxmlformats.org/drawingml/2006/main" w="28575">
            <a:solidFill>
              <a:srgbClr val="18202C"/>
            </a:solidFill>
            <a:prstDash val="solid"/>
          </a:ln>
        </p:spPr>
      </p:sp>
      <p:sp>
        <p:nvSpPr>
          <p:cNvPr id="26" name="">
            <a:extLst xmlns:a="http://schemas.openxmlformats.org/drawingml/2006/main">
              <a:ext uri="{FF2B5EF4-FFF2-40B4-BE49-F238E27FC236}">
                <a16:creationId xmlns:a16="http://schemas.microsoft.com/office/drawing/2014/main" id="{848353D7-D137-4506-90FD-773605AF5E5B}"/>
              </a:ext>
            </a:extLst>
          </p:cNvPr>
          <p:cNvSpPr>
            <a:spLocks xmlns:a="http://schemas.openxmlformats.org/drawingml/2006/main" noGrp="1"/>
          </p:cNvSpPr>
          <p:nvPr/>
        </p:nvSpPr>
        <p:spPr>
          <a:xfrm xmlns:a="http://schemas.openxmlformats.org/drawingml/2006/main">
            <a:off x="7886700" y="3333750"/>
            <a:ext cx="209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18202C"/>
                </a:solidFill>
                <a:latin typeface="Aptos"/>
                <a:ea typeface="Aptos"/>
                <a:cs typeface="Aptos"/>
              </a:defRPr>
            </a:pPr>
            <a:r>
              <a:rPr sz="1200" b="1">
                <a:solidFill>
                  <a:srgbClr val="18202C"/>
                </a:solidFill>
                <a:latin typeface="Aptos"/>
                <a:ea typeface="Aptos"/>
                <a:cs typeface="Aptos"/>
              </a:rPr>
              <a:t>4</a:t>
            </a:r>
          </a:p>
        </p:txBody>
      </p:sp>
      <p:sp>
        <p:nvSpPr>
          <p:cNvPr id="27" name="">
            <a:extLst xmlns:a="http://schemas.openxmlformats.org/drawingml/2006/main">
              <a:ext uri="{FF2B5EF4-FFF2-40B4-BE49-F238E27FC236}">
                <a16:creationId xmlns:a16="http://schemas.microsoft.com/office/drawing/2014/main" id="{EF48DFEB-D9CC-4D9D-80B6-D60AEACF79BC}"/>
              </a:ext>
            </a:extLst>
          </p:cNvPr>
          <p:cNvSpPr>
            <a:spLocks xmlns:a="http://schemas.openxmlformats.org/drawingml/2006/main" noGrp="1"/>
          </p:cNvSpPr>
          <p:nvPr/>
        </p:nvSpPr>
        <p:spPr>
          <a:xfrm xmlns:a="http://schemas.openxmlformats.org/drawingml/2006/main">
            <a:off x="7391400" y="2381250"/>
            <a:ext cx="12001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API kiểm tra</a:t>
            </a:r>
          </a:p>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PIN + số dư + trạng thái</a:t>
            </a:r>
          </a:p>
        </p:txBody>
      </p:sp>
      <p:sp>
        <p:nvSpPr>
          <p:cNvPr id="28" name="">
            <a:extLst xmlns:a="http://schemas.openxmlformats.org/drawingml/2006/main">
              <a:ext uri="{FF2B5EF4-FFF2-40B4-BE49-F238E27FC236}">
                <a16:creationId xmlns:a16="http://schemas.microsoft.com/office/drawing/2014/main" id="{DB74D48C-8126-45DA-9566-D5F30E046ADC}"/>
              </a:ext>
            </a:extLst>
          </p:cNvPr>
          <p:cNvSpPr>
            <a:spLocks xmlns:a="http://schemas.openxmlformats.org/drawingml/2006/main" noGrp="1"/>
          </p:cNvSpPr>
          <p:nvPr/>
        </p:nvSpPr>
        <p:spPr>
          <a:xfrm xmlns:a="http://schemas.openxmlformats.org/drawingml/2006/main">
            <a:off x="8705850" y="2609850"/>
            <a:ext cx="723900" cy="28575"/>
          </a:xfrm>
          <a:prstGeom xmlns:a="http://schemas.openxmlformats.org/drawingml/2006/main" prst="rect">
            <a:avLst/>
          </a:prstGeom>
          <a:solidFill xmlns:a="http://schemas.openxmlformats.org/drawingml/2006/main">
            <a:srgbClr val="6B7280"/>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E4919E76-85F3-44E6-966E-C53AF3DF47CC}"/>
              </a:ext>
            </a:extLst>
          </p:cNvPr>
          <p:cNvSpPr>
            <a:spLocks xmlns:a="http://schemas.openxmlformats.org/drawingml/2006/main" noGrp="1"/>
          </p:cNvSpPr>
          <p:nvPr/>
        </p:nvSpPr>
        <p:spPr>
          <a:xfrm xmlns:a="http://schemas.openxmlformats.org/drawingml/2006/main">
            <a:off x="9429750" y="2190750"/>
            <a:ext cx="1428750" cy="83820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20E5EE5C-F228-4026-BBB5-1744115968C3}"/>
              </a:ext>
            </a:extLst>
          </p:cNvPr>
          <p:cNvSpPr>
            <a:spLocks xmlns:a="http://schemas.openxmlformats.org/drawingml/2006/main" noGrp="1"/>
          </p:cNvSpPr>
          <p:nvPr/>
        </p:nvSpPr>
        <p:spPr>
          <a:xfrm xmlns:a="http://schemas.openxmlformats.org/drawingml/2006/main">
            <a:off x="9982200" y="3257550"/>
            <a:ext cx="323850" cy="323850"/>
          </a:xfrm>
          <a:prstGeom xmlns:a="http://schemas.openxmlformats.org/drawingml/2006/main" prst="rect">
            <a:avLst/>
          </a:prstGeom>
          <a:solidFill xmlns:a="http://schemas.openxmlformats.org/drawingml/2006/main">
            <a:srgbClr val="FFFFFF"/>
          </a:solidFill>
          <a:ln xmlns:a="http://schemas.openxmlformats.org/drawingml/2006/main" w="28575">
            <a:solidFill>
              <a:srgbClr val="F45B63"/>
            </a:solidFill>
            <a:prstDash val="solid"/>
          </a:ln>
        </p:spPr>
      </p:sp>
      <p:sp>
        <p:nvSpPr>
          <p:cNvPr id="31" name="">
            <a:extLst xmlns:a="http://schemas.openxmlformats.org/drawingml/2006/main">
              <a:ext uri="{FF2B5EF4-FFF2-40B4-BE49-F238E27FC236}">
                <a16:creationId xmlns:a16="http://schemas.microsoft.com/office/drawing/2014/main" id="{4C079569-4594-44A2-B90B-3B7BE0F217B8}"/>
              </a:ext>
            </a:extLst>
          </p:cNvPr>
          <p:cNvSpPr>
            <a:spLocks xmlns:a="http://schemas.openxmlformats.org/drawingml/2006/main" noGrp="1"/>
          </p:cNvSpPr>
          <p:nvPr/>
        </p:nvSpPr>
        <p:spPr>
          <a:xfrm xmlns:a="http://schemas.openxmlformats.org/drawingml/2006/main">
            <a:off x="10039350" y="3333750"/>
            <a:ext cx="209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45B63"/>
                </a:solidFill>
                <a:latin typeface="Aptos"/>
                <a:ea typeface="Aptos"/>
                <a:cs typeface="Aptos"/>
              </a:defRPr>
            </a:pPr>
            <a:r>
              <a:rPr sz="1200" b="1">
                <a:solidFill>
                  <a:srgbClr val="F45B63"/>
                </a:solidFill>
                <a:latin typeface="Aptos"/>
                <a:ea typeface="Aptos"/>
                <a:cs typeface="Aptos"/>
              </a:rPr>
              <a:t>5</a:t>
            </a:r>
          </a:p>
        </p:txBody>
      </p:sp>
      <p:sp>
        <p:nvSpPr>
          <p:cNvPr id="32" name="">
            <a:extLst xmlns:a="http://schemas.openxmlformats.org/drawingml/2006/main">
              <a:ext uri="{FF2B5EF4-FFF2-40B4-BE49-F238E27FC236}">
                <a16:creationId xmlns:a16="http://schemas.microsoft.com/office/drawing/2014/main" id="{D16DC832-E406-46E4-B2AC-4F67F3FCB6B1}"/>
              </a:ext>
            </a:extLst>
          </p:cNvPr>
          <p:cNvSpPr>
            <a:spLocks xmlns:a="http://schemas.openxmlformats.org/drawingml/2006/main" noGrp="1"/>
          </p:cNvSpPr>
          <p:nvPr/>
        </p:nvSpPr>
        <p:spPr>
          <a:xfrm xmlns:a="http://schemas.openxmlformats.org/drawingml/2006/main">
            <a:off x="9544050" y="2381250"/>
            <a:ext cx="12001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Cập nhật ví</a:t>
            </a:r>
          </a:p>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và tạo transaction</a:t>
            </a:r>
          </a:p>
        </p:txBody>
      </p:sp>
      <p:sp>
        <p:nvSpPr>
          <p:cNvPr id="33" name="">
            <a:extLst xmlns:a="http://schemas.openxmlformats.org/drawingml/2006/main">
              <a:ext uri="{FF2B5EF4-FFF2-40B4-BE49-F238E27FC236}">
                <a16:creationId xmlns:a16="http://schemas.microsoft.com/office/drawing/2014/main" id="{A5E9700F-EF1A-4890-80F8-A5D483721FA1}"/>
              </a:ext>
            </a:extLst>
          </p:cNvPr>
          <p:cNvSpPr>
            <a:spLocks xmlns:a="http://schemas.openxmlformats.org/drawingml/2006/main" noGrp="1"/>
          </p:cNvSpPr>
          <p:nvPr/>
        </p:nvSpPr>
        <p:spPr>
          <a:xfrm xmlns:a="http://schemas.openxmlformats.org/drawingml/2006/main">
            <a:off x="1285875" y="4457700"/>
            <a:ext cx="3429000" cy="990600"/>
          </a:xfrm>
          <a:prstGeom xmlns:a="http://schemas.openxmlformats.org/drawingml/2006/main" prst="rect">
            <a:avLst/>
          </a:prstGeom>
          <a:solidFill xmlns:a="http://schemas.openxmlformats.org/drawingml/2006/main">
            <a:srgbClr val="FFFFFF"/>
          </a:solidFill>
          <a:ln xmlns:a="http://schemas.openxmlformats.org/drawingml/2006/main" w="9525">
            <a:solidFill>
              <a:srgbClr val="EEF1F5"/>
            </a:solidFill>
            <a:prstDash val="solid"/>
          </a:ln>
        </p:spPr>
      </p:sp>
      <p:sp>
        <p:nvSpPr>
          <p:cNvPr id="34" name="">
            <a:extLst xmlns:a="http://schemas.openxmlformats.org/drawingml/2006/main">
              <a:ext uri="{FF2B5EF4-FFF2-40B4-BE49-F238E27FC236}">
                <a16:creationId xmlns:a16="http://schemas.microsoft.com/office/drawing/2014/main" id="{641D5D4E-D70A-4C18-A6BF-BDCAF994EAB2}"/>
              </a:ext>
            </a:extLst>
          </p:cNvPr>
          <p:cNvSpPr>
            <a:spLocks xmlns:a="http://schemas.openxmlformats.org/drawingml/2006/main" noGrp="1"/>
          </p:cNvSpPr>
          <p:nvPr/>
        </p:nvSpPr>
        <p:spPr>
          <a:xfrm xmlns:a="http://schemas.openxmlformats.org/drawingml/2006/main">
            <a:off x="1457325" y="4591050"/>
            <a:ext cx="30861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F45B63"/>
                </a:solidFill>
                <a:latin typeface="Aptos"/>
                <a:ea typeface="Aptos"/>
                <a:cs typeface="Aptos"/>
              </a:defRPr>
            </a:pPr>
            <a:r>
              <a:rPr sz="1200" b="1">
                <a:solidFill>
                  <a:srgbClr val="F45B63"/>
                </a:solidFill>
                <a:latin typeface="Aptos"/>
                <a:ea typeface="Aptos"/>
                <a:cs typeface="Aptos"/>
              </a:rPr>
              <a:t>Các loại giao dịch</a:t>
            </a:r>
          </a:p>
        </p:txBody>
      </p:sp>
      <p:sp>
        <p:nvSpPr>
          <p:cNvPr id="35" name="">
            <a:extLst xmlns:a="http://schemas.openxmlformats.org/drawingml/2006/main">
              <a:ext uri="{FF2B5EF4-FFF2-40B4-BE49-F238E27FC236}">
                <a16:creationId xmlns:a16="http://schemas.microsoft.com/office/drawing/2014/main" id="{82DA849D-4A9C-475A-BB83-3A2DC453189F}"/>
              </a:ext>
            </a:extLst>
          </p:cNvPr>
          <p:cNvSpPr>
            <a:spLocks xmlns:a="http://schemas.openxmlformats.org/drawingml/2006/main" noGrp="1"/>
          </p:cNvSpPr>
          <p:nvPr/>
        </p:nvSpPr>
        <p:spPr>
          <a:xfrm xmlns:a="http://schemas.openxmlformats.org/drawingml/2006/main">
            <a:off x="1457325" y="4895850"/>
            <a:ext cx="30861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202631"/>
                </a:solidFill>
                <a:latin typeface="Aptos"/>
                <a:ea typeface="Aptos"/>
                <a:cs typeface="Aptos"/>
              </a:defRPr>
            </a:pPr>
            <a:r>
              <a:rPr sz="1350" b="0">
                <a:solidFill>
                  <a:srgbClr val="202631"/>
                </a:solidFill>
                <a:latin typeface="Aptos"/>
                <a:ea typeface="Aptos"/>
                <a:cs typeface="Aptos"/>
              </a:rPr>
              <a:t>topup, payment, transfer, refund, savings_deposit, savings_withdraw</a:t>
            </a:r>
          </a:p>
        </p:txBody>
      </p:sp>
      <p:sp>
        <p:nvSpPr>
          <p:cNvPr id="36" name="">
            <a:extLst xmlns:a="http://schemas.openxmlformats.org/drawingml/2006/main">
              <a:ext uri="{FF2B5EF4-FFF2-40B4-BE49-F238E27FC236}">
                <a16:creationId xmlns:a16="http://schemas.microsoft.com/office/drawing/2014/main" id="{6A6A834C-928A-4F0F-9A9A-612237239693}"/>
              </a:ext>
            </a:extLst>
          </p:cNvPr>
          <p:cNvSpPr>
            <a:spLocks xmlns:a="http://schemas.openxmlformats.org/drawingml/2006/main" noGrp="1"/>
          </p:cNvSpPr>
          <p:nvPr/>
        </p:nvSpPr>
        <p:spPr>
          <a:xfrm xmlns:a="http://schemas.openxmlformats.org/drawingml/2006/main">
            <a:off x="5219700" y="4457700"/>
            <a:ext cx="5572125" cy="990600"/>
          </a:xfrm>
          <a:prstGeom xmlns:a="http://schemas.openxmlformats.org/drawingml/2006/main" prst="rect">
            <a:avLst/>
          </a:prstGeom>
          <a:solidFill xmlns:a="http://schemas.openxmlformats.org/drawingml/2006/main">
            <a:srgbClr val="18202C"/>
          </a:solidFill>
          <a:ln xmlns:a="http://schemas.openxmlformats.org/drawingml/2006/main" w="9525">
            <a:solidFill>
              <a:srgbClr val="18202C"/>
            </a:solidFill>
            <a:prstDash val="solid"/>
          </a:ln>
        </p:spPr>
      </p:sp>
      <p:sp>
        <p:nvSpPr>
          <p:cNvPr id="37" name="">
            <a:extLst xmlns:a="http://schemas.openxmlformats.org/drawingml/2006/main">
              <a:ext uri="{FF2B5EF4-FFF2-40B4-BE49-F238E27FC236}">
                <a16:creationId xmlns:a16="http://schemas.microsoft.com/office/drawing/2014/main" id="{07FFA498-9CBD-4881-B0C7-BA3ADFA0AB23}"/>
              </a:ext>
            </a:extLst>
          </p:cNvPr>
          <p:cNvSpPr>
            <a:spLocks xmlns:a="http://schemas.openxmlformats.org/drawingml/2006/main" noGrp="1"/>
          </p:cNvSpPr>
          <p:nvPr/>
        </p:nvSpPr>
        <p:spPr>
          <a:xfrm xmlns:a="http://schemas.openxmlformats.org/drawingml/2006/main">
            <a:off x="5391150" y="4591050"/>
            <a:ext cx="52292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F45B63"/>
                </a:solidFill>
                <a:latin typeface="Aptos"/>
                <a:ea typeface="Aptos"/>
                <a:cs typeface="Aptos"/>
              </a:defRPr>
            </a:pPr>
            <a:r>
              <a:rPr sz="1200" b="1">
                <a:solidFill>
                  <a:srgbClr val="F45B63"/>
                </a:solidFill>
                <a:latin typeface="Aptos"/>
                <a:ea typeface="Aptos"/>
                <a:cs typeface="Aptos"/>
              </a:rPr>
              <a:t>Ràng buộc chính</a:t>
            </a:r>
          </a:p>
        </p:txBody>
      </p:sp>
      <p:sp>
        <p:nvSpPr>
          <p:cNvPr id="38" name="">
            <a:extLst xmlns:a="http://schemas.openxmlformats.org/drawingml/2006/main">
              <a:ext uri="{FF2B5EF4-FFF2-40B4-BE49-F238E27FC236}">
                <a16:creationId xmlns:a16="http://schemas.microsoft.com/office/drawing/2014/main" id="{73302DC8-16FD-4720-83E7-4E1A5070B74F}"/>
              </a:ext>
            </a:extLst>
          </p:cNvPr>
          <p:cNvSpPr>
            <a:spLocks xmlns:a="http://schemas.openxmlformats.org/drawingml/2006/main" noGrp="1"/>
          </p:cNvSpPr>
          <p:nvPr/>
        </p:nvSpPr>
        <p:spPr>
          <a:xfrm xmlns:a="http://schemas.openxmlformats.org/drawingml/2006/main">
            <a:off x="5391150" y="4895850"/>
            <a:ext cx="5229225"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FFFFF"/>
                </a:solidFill>
                <a:latin typeface="Aptos"/>
                <a:ea typeface="Aptos"/>
                <a:cs typeface="Aptos"/>
              </a:defRPr>
            </a:pPr>
            <a:r>
              <a:rPr sz="1200" b="0">
                <a:solidFill>
                  <a:srgbClr val="FFFFFF"/>
                </a:solidFill>
                <a:latin typeface="Aptos"/>
                <a:ea typeface="Aptos"/>
                <a:cs typeface="Aptos"/>
              </a:rPr>
              <a:t>Ví có balance, currency, PIN và status; transaction có type, status, receiverWalletId, amount, description.</a:t>
            </a:r>
          </a:p>
        </p:txBody>
      </p:sp>
    </p:spTree>
    <p:extLst>
      <p:ext uri="{BB962C8B-B14F-4D97-AF65-F5344CB8AC3E}">
        <p14:creationId xmlns:p14="http://schemas.microsoft.com/office/powerpoint/2010/main" val="190726410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0334690-760D-4A70-916F-8575922A70B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BFBF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A35D2A7-2597-49C2-BBA1-3084F94182CA}"/>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984CFE6-BEAB-473C-B41F-E2624D1A9526}"/>
              </a:ext>
            </a:extLst>
          </p:cNvPr>
          <p:cNvSpPr>
            <a:spLocks xmlns:a="http://schemas.openxmlformats.org/drawingml/2006/main" noGrp="1"/>
          </p:cNvSpPr>
          <p:nvPr/>
        </p:nvSpPr>
        <p:spPr>
          <a:xfrm xmlns:a="http://schemas.openxmlformats.org/drawingml/2006/main">
            <a:off x="0" y="6191250"/>
            <a:ext cx="12192000" cy="9525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A08CCF5A-41F6-4B40-9F24-062CD80D34F1}"/>
              </a:ext>
            </a:extLst>
          </p:cNvPr>
          <p:cNvSpPr>
            <a:spLocks xmlns:a="http://schemas.openxmlformats.org/drawingml/2006/main" noGrp="1"/>
          </p:cNvSpPr>
          <p:nvPr/>
        </p:nvSpPr>
        <p:spPr>
          <a:xfrm xmlns:a="http://schemas.openxmlformats.org/drawingml/2006/main">
            <a:off x="171450" y="6429375"/>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9AA1AA"/>
                </a:solidFill>
                <a:latin typeface="Aptos"/>
                <a:ea typeface="Aptos"/>
                <a:cs typeface="Aptos"/>
              </a:defRPr>
            </a:pPr>
            <a:r>
              <a:rPr sz="600" b="0">
                <a:solidFill>
                  <a:srgbClr val="9AA1AA"/>
                </a:solidFill>
                <a:latin typeface="Aptos"/>
                <a:ea typeface="Aptos"/>
                <a:cs typeface="Aptos"/>
              </a:rPr>
              <a:t>Slide 10</a:t>
            </a:r>
          </a:p>
        </p:txBody>
      </p:sp>
      <p:sp>
        <p:nvSpPr>
          <p:cNvPr id="5" name="">
            <a:extLst xmlns:a="http://schemas.openxmlformats.org/drawingml/2006/main">
              <a:ext uri="{FF2B5EF4-FFF2-40B4-BE49-F238E27FC236}">
                <a16:creationId xmlns:a16="http://schemas.microsoft.com/office/drawing/2014/main" id="{D97B4E6F-B682-4F43-BDD9-C91DAF27BFBA}"/>
              </a:ext>
            </a:extLst>
          </p:cNvPr>
          <p:cNvSpPr>
            <a:spLocks xmlns:a="http://schemas.openxmlformats.org/drawingml/2006/main" noGrp="1"/>
          </p:cNvSpPr>
          <p:nvPr/>
        </p:nvSpPr>
        <p:spPr>
          <a:xfrm xmlns:a="http://schemas.openxmlformats.org/drawingml/2006/main">
            <a:off x="0" y="514350"/>
            <a:ext cx="12192000" cy="53340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8F14BBAA-C5E5-4A1A-B133-97008917D98F}"/>
              </a:ext>
            </a:extLst>
          </p:cNvPr>
          <p:cNvSpPr>
            <a:spLocks xmlns:a="http://schemas.openxmlformats.org/drawingml/2006/main" noGrp="1"/>
          </p:cNvSpPr>
          <p:nvPr/>
        </p:nvSpPr>
        <p:spPr>
          <a:xfrm xmlns:a="http://schemas.openxmlformats.org/drawingml/2006/main">
            <a:off x="685800" y="361950"/>
            <a:ext cx="304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B7280"/>
                </a:solidFill>
                <a:latin typeface="Aptos"/>
                <a:ea typeface="Aptos"/>
                <a:cs typeface="Aptos"/>
              </a:defRPr>
            </a:pPr>
            <a:r>
              <a:rPr sz="900" b="1">
                <a:solidFill>
                  <a:srgbClr val="6B7280"/>
                </a:solidFill>
                <a:latin typeface="Aptos"/>
                <a:ea typeface="Aptos"/>
                <a:cs typeface="Aptos"/>
              </a:rPr>
              <a:t>THỐNG KÊ &amp; AI</a:t>
            </a:r>
          </a:p>
        </p:txBody>
      </p:sp>
      <p:sp>
        <p:nvSpPr>
          <p:cNvPr id="7" name="">
            <a:extLst xmlns:a="http://schemas.openxmlformats.org/drawingml/2006/main">
              <a:ext uri="{FF2B5EF4-FFF2-40B4-BE49-F238E27FC236}">
                <a16:creationId xmlns:a16="http://schemas.microsoft.com/office/drawing/2014/main" id="{A2E34E6A-6048-4156-BC86-F48D7D40377C}"/>
              </a:ext>
            </a:extLst>
          </p:cNvPr>
          <p:cNvSpPr>
            <a:spLocks xmlns:a="http://schemas.openxmlformats.org/drawingml/2006/main" noGrp="1"/>
          </p:cNvSpPr>
          <p:nvPr/>
        </p:nvSpPr>
        <p:spPr>
          <a:xfrm xmlns:a="http://schemas.openxmlformats.org/drawingml/2006/main">
            <a:off x="685800" y="628650"/>
            <a:ext cx="10287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ptos"/>
                <a:ea typeface="Aptos"/>
                <a:cs typeface="Aptos"/>
              </a:defRPr>
            </a:pPr>
            <a:r>
              <a:rPr sz="1800" b="1">
                <a:solidFill>
                  <a:srgbClr val="FFFFFF"/>
                </a:solidFill>
                <a:latin typeface="Aptos"/>
                <a:ea typeface="Aptos"/>
                <a:cs typeface="Aptos"/>
              </a:rPr>
              <a:t>Chi tiêu không chỉ được ghi nhận, mà còn được diễn giải thành gợi ý hành động.</a:t>
            </a:r>
          </a:p>
        </p:txBody>
      </p:sp>
      <p:sp>
        <p:nvSpPr>
          <p:cNvPr id="8" name="">
            <a:extLst xmlns:a="http://schemas.openxmlformats.org/drawingml/2006/main">
              <a:ext uri="{FF2B5EF4-FFF2-40B4-BE49-F238E27FC236}">
                <a16:creationId xmlns:a16="http://schemas.microsoft.com/office/drawing/2014/main" id="{28511E97-1CB8-49E0-A181-D8F237533266}"/>
              </a:ext>
            </a:extLst>
          </p:cNvPr>
          <p:cNvSpPr>
            <a:spLocks xmlns:a="http://schemas.openxmlformats.org/drawingml/2006/main" noGrp="1"/>
          </p:cNvSpPr>
          <p:nvPr/>
        </p:nvSpPr>
        <p:spPr>
          <a:xfrm xmlns:a="http://schemas.openxmlformats.org/drawingml/2006/main">
            <a:off x="914400" y="1428750"/>
            <a:ext cx="2333625" cy="37147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01462fa438c4b62"/>
          <a:stretch xmlns:a="http://schemas.openxmlformats.org/drawingml/2006/main"/>
        </p:blipFill>
        <p:spPr>
          <a:xfrm xmlns:a="http://schemas.openxmlformats.org/drawingml/2006/main">
            <a:off x="1297762" y="1466850"/>
            <a:ext cx="1566902" cy="33909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BF458C5-4AD5-4447-B5E2-29CAD8068A86}"/>
              </a:ext>
            </a:extLst>
          </p:cNvPr>
          <p:cNvSpPr>
            <a:spLocks xmlns:a="http://schemas.openxmlformats.org/drawingml/2006/main" noGrp="1"/>
          </p:cNvSpPr>
          <p:nvPr/>
        </p:nvSpPr>
        <p:spPr>
          <a:xfrm xmlns:a="http://schemas.openxmlformats.org/drawingml/2006/main">
            <a:off x="990600" y="4914900"/>
            <a:ext cx="2181225"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6B7280"/>
                </a:solidFill>
                <a:latin typeface="Aptos"/>
                <a:ea typeface="Aptos"/>
                <a:cs typeface="Aptos"/>
              </a:defRPr>
            </a:pPr>
            <a:r>
              <a:rPr sz="825" b="0">
                <a:solidFill>
                  <a:srgbClr val="6B7280"/>
                </a:solidFill>
                <a:latin typeface="Aptos"/>
                <a:ea typeface="Aptos"/>
                <a:cs typeface="Aptos"/>
              </a:rPr>
              <a:t>Biểu đồ chi tiêu</a:t>
            </a:r>
          </a:p>
        </p:txBody>
      </p:sp>
      <p:sp>
        <p:nvSpPr>
          <p:cNvPr id="11" name="">
            <a:extLst xmlns:a="http://schemas.openxmlformats.org/drawingml/2006/main">
              <a:ext uri="{FF2B5EF4-FFF2-40B4-BE49-F238E27FC236}">
                <a16:creationId xmlns:a16="http://schemas.microsoft.com/office/drawing/2014/main" id="{89AA402E-AE94-4118-BCCB-F0B5881C6250}"/>
              </a:ext>
            </a:extLst>
          </p:cNvPr>
          <p:cNvSpPr>
            <a:spLocks xmlns:a="http://schemas.openxmlformats.org/drawingml/2006/main" noGrp="1"/>
          </p:cNvSpPr>
          <p:nvPr/>
        </p:nvSpPr>
        <p:spPr>
          <a:xfrm xmlns:a="http://schemas.openxmlformats.org/drawingml/2006/main">
            <a:off x="3600450" y="1428750"/>
            <a:ext cx="2333625" cy="37147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a28e74451be4a06"/>
          <a:stretch xmlns:a="http://schemas.openxmlformats.org/drawingml/2006/main"/>
        </p:blipFill>
        <p:spPr>
          <a:xfrm xmlns:a="http://schemas.openxmlformats.org/drawingml/2006/main">
            <a:off x="3984612" y="1466850"/>
            <a:ext cx="1565301" cy="33909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0B93392A-B488-47E2-8A91-73959D189084}"/>
              </a:ext>
            </a:extLst>
          </p:cNvPr>
          <p:cNvSpPr>
            <a:spLocks xmlns:a="http://schemas.openxmlformats.org/drawingml/2006/main" noGrp="1"/>
          </p:cNvSpPr>
          <p:nvPr/>
        </p:nvSpPr>
        <p:spPr>
          <a:xfrm xmlns:a="http://schemas.openxmlformats.org/drawingml/2006/main">
            <a:off x="3676650" y="4914900"/>
            <a:ext cx="2181225"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6B7280"/>
                </a:solidFill>
                <a:latin typeface="Aptos"/>
                <a:ea typeface="Aptos"/>
                <a:cs typeface="Aptos"/>
              </a:defRPr>
            </a:pPr>
            <a:r>
              <a:rPr sz="825" b="0">
                <a:solidFill>
                  <a:srgbClr val="6B7280"/>
                </a:solidFill>
                <a:latin typeface="Aptos"/>
                <a:ea typeface="Aptos"/>
                <a:cs typeface="Aptos"/>
              </a:rPr>
              <a:t>AI gợi ý quản lý tiền</a:t>
            </a:r>
          </a:p>
        </p:txBody>
      </p:sp>
      <p:sp>
        <p:nvSpPr>
          <p:cNvPr id="14" name="">
            <a:extLst xmlns:a="http://schemas.openxmlformats.org/drawingml/2006/main">
              <a:ext uri="{FF2B5EF4-FFF2-40B4-BE49-F238E27FC236}">
                <a16:creationId xmlns:a16="http://schemas.microsoft.com/office/drawing/2014/main" id="{A2DCA00E-3A1A-488B-B083-CD35D6E92BFE}"/>
              </a:ext>
            </a:extLst>
          </p:cNvPr>
          <p:cNvSpPr>
            <a:spLocks xmlns:a="http://schemas.openxmlformats.org/drawingml/2006/main" noGrp="1"/>
          </p:cNvSpPr>
          <p:nvPr/>
        </p:nvSpPr>
        <p:spPr>
          <a:xfrm xmlns:a="http://schemas.openxmlformats.org/drawingml/2006/main">
            <a:off x="6896100" y="1657350"/>
            <a:ext cx="2000250" cy="2000250"/>
          </a:xfrm>
          <a:prstGeom xmlns:a="http://schemas.openxmlformats.org/drawingml/2006/main" prst="rect">
            <a:avLst/>
          </a:prstGeom>
          <a:solidFill xmlns:a="http://schemas.openxmlformats.org/drawingml/2006/main">
            <a:srgbClr val="EEF1F5"/>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81CCA34B-B17D-40AE-88F9-A0EFBE75351E}"/>
              </a:ext>
            </a:extLst>
          </p:cNvPr>
          <p:cNvSpPr>
            <a:spLocks xmlns:a="http://schemas.openxmlformats.org/drawingml/2006/main" noGrp="1"/>
          </p:cNvSpPr>
          <p:nvPr/>
        </p:nvSpPr>
        <p:spPr>
          <a:xfrm xmlns:a="http://schemas.openxmlformats.org/drawingml/2006/main">
            <a:off x="7239000" y="2000250"/>
            <a:ext cx="1314450" cy="131445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B3D5A3EE-070C-46F6-AD87-D94BE27BDC01}"/>
              </a:ext>
            </a:extLst>
          </p:cNvPr>
          <p:cNvSpPr>
            <a:spLocks xmlns:a="http://schemas.openxmlformats.org/drawingml/2006/main" noGrp="1"/>
          </p:cNvSpPr>
          <p:nvPr/>
        </p:nvSpPr>
        <p:spPr>
          <a:xfrm xmlns:a="http://schemas.openxmlformats.org/drawingml/2006/main">
            <a:off x="7562850" y="2324100"/>
            <a:ext cx="666750" cy="666750"/>
          </a:xfrm>
          <a:prstGeom xmlns:a="http://schemas.openxmlformats.org/drawingml/2006/main" prst="rect">
            <a:avLst/>
          </a:prstGeom>
          <a:solidFill xmlns:a="http://schemas.openxmlformats.org/drawingml/2006/main">
            <a:srgbClr val="FBFBFA"/>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20C9326A-469A-470D-8DBA-F2398C64E518}"/>
              </a:ext>
            </a:extLst>
          </p:cNvPr>
          <p:cNvSpPr>
            <a:spLocks xmlns:a="http://schemas.openxmlformats.org/drawingml/2006/main" noGrp="1"/>
          </p:cNvSpPr>
          <p:nvPr/>
        </p:nvSpPr>
        <p:spPr>
          <a:xfrm xmlns:a="http://schemas.openxmlformats.org/drawingml/2006/main">
            <a:off x="7620000" y="2457450"/>
            <a:ext cx="5524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18202C"/>
                </a:solidFill>
                <a:latin typeface="Aptos"/>
                <a:ea typeface="Aptos"/>
                <a:cs typeface="Aptos"/>
              </a:defRPr>
            </a:pPr>
            <a:r>
              <a:rPr sz="2550" b="1">
                <a:solidFill>
                  <a:srgbClr val="18202C"/>
                </a:solidFill>
                <a:latin typeface="Aptos"/>
                <a:ea typeface="Aptos"/>
                <a:cs typeface="Aptos"/>
              </a:rPr>
              <a:t>AI</a:t>
            </a:r>
          </a:p>
        </p:txBody>
      </p:sp>
      <p:sp>
        <p:nvSpPr>
          <p:cNvPr id="18" name="">
            <a:extLst xmlns:a="http://schemas.openxmlformats.org/drawingml/2006/main">
              <a:ext uri="{FF2B5EF4-FFF2-40B4-BE49-F238E27FC236}">
                <a16:creationId xmlns:a16="http://schemas.microsoft.com/office/drawing/2014/main" id="{8F67DAC8-1C8A-42AC-9BB3-762FC7D9A84B}"/>
              </a:ext>
            </a:extLst>
          </p:cNvPr>
          <p:cNvSpPr>
            <a:spLocks xmlns:a="http://schemas.openxmlformats.org/drawingml/2006/main" noGrp="1"/>
          </p:cNvSpPr>
          <p:nvPr/>
        </p:nvSpPr>
        <p:spPr>
          <a:xfrm xmlns:a="http://schemas.openxmlformats.org/drawingml/2006/main">
            <a:off x="9353550" y="2000250"/>
            <a:ext cx="1219200" cy="9525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73605A9F-B703-45E9-901A-99399E0A8871}"/>
              </a:ext>
            </a:extLst>
          </p:cNvPr>
          <p:cNvSpPr>
            <a:spLocks xmlns:a="http://schemas.openxmlformats.org/drawingml/2006/main" noGrp="1"/>
          </p:cNvSpPr>
          <p:nvPr/>
        </p:nvSpPr>
        <p:spPr>
          <a:xfrm xmlns:a="http://schemas.openxmlformats.org/drawingml/2006/main">
            <a:off x="9353550" y="21431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B7280"/>
                </a:solidFill>
                <a:latin typeface="Aptos"/>
                <a:ea typeface="Aptos"/>
                <a:cs typeface="Aptos"/>
              </a:defRPr>
            </a:pPr>
            <a:r>
              <a:rPr sz="825" b="0">
                <a:solidFill>
                  <a:srgbClr val="6B7280"/>
                </a:solidFill>
                <a:latin typeface="Aptos"/>
                <a:ea typeface="Aptos"/>
                <a:cs typeface="Aptos"/>
              </a:rPr>
              <a:t>Theo tuần/tháng</a:t>
            </a:r>
          </a:p>
        </p:txBody>
      </p:sp>
      <p:sp>
        <p:nvSpPr>
          <p:cNvPr id="20" name="">
            <a:extLst xmlns:a="http://schemas.openxmlformats.org/drawingml/2006/main">
              <a:ext uri="{FF2B5EF4-FFF2-40B4-BE49-F238E27FC236}">
                <a16:creationId xmlns:a16="http://schemas.microsoft.com/office/drawing/2014/main" id="{D5EF6D33-F09C-4363-85E6-4D50DF7BBFD0}"/>
              </a:ext>
            </a:extLst>
          </p:cNvPr>
          <p:cNvSpPr>
            <a:spLocks xmlns:a="http://schemas.openxmlformats.org/drawingml/2006/main" noGrp="1"/>
          </p:cNvSpPr>
          <p:nvPr/>
        </p:nvSpPr>
        <p:spPr>
          <a:xfrm xmlns:a="http://schemas.openxmlformats.org/drawingml/2006/main">
            <a:off x="9353550" y="2647950"/>
            <a:ext cx="876300" cy="95250"/>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E4A8CBA9-2764-4108-8C9C-50700503C919}"/>
              </a:ext>
            </a:extLst>
          </p:cNvPr>
          <p:cNvSpPr>
            <a:spLocks xmlns:a="http://schemas.openxmlformats.org/drawingml/2006/main" noGrp="1"/>
          </p:cNvSpPr>
          <p:nvPr/>
        </p:nvSpPr>
        <p:spPr>
          <a:xfrm xmlns:a="http://schemas.openxmlformats.org/drawingml/2006/main">
            <a:off x="9353550" y="27908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B7280"/>
                </a:solidFill>
                <a:latin typeface="Aptos"/>
                <a:ea typeface="Aptos"/>
                <a:cs typeface="Aptos"/>
              </a:defRPr>
            </a:pPr>
            <a:r>
              <a:rPr sz="825" b="0">
                <a:solidFill>
                  <a:srgbClr val="6B7280"/>
                </a:solidFill>
                <a:latin typeface="Aptos"/>
                <a:ea typeface="Aptos"/>
                <a:cs typeface="Aptos"/>
              </a:rPr>
              <a:t>Cơ cấu chi tiêu</a:t>
            </a:r>
          </a:p>
        </p:txBody>
      </p:sp>
      <p:sp>
        <p:nvSpPr>
          <p:cNvPr id="22" name="">
            <a:extLst xmlns:a="http://schemas.openxmlformats.org/drawingml/2006/main">
              <a:ext uri="{FF2B5EF4-FFF2-40B4-BE49-F238E27FC236}">
                <a16:creationId xmlns:a16="http://schemas.microsoft.com/office/drawing/2014/main" id="{D7204EE6-3E53-485A-B3AA-6543BD295D6A}"/>
              </a:ext>
            </a:extLst>
          </p:cNvPr>
          <p:cNvSpPr>
            <a:spLocks xmlns:a="http://schemas.openxmlformats.org/drawingml/2006/main" noGrp="1"/>
          </p:cNvSpPr>
          <p:nvPr/>
        </p:nvSpPr>
        <p:spPr>
          <a:xfrm xmlns:a="http://schemas.openxmlformats.org/drawingml/2006/main">
            <a:off x="9353550" y="3295650"/>
            <a:ext cx="1428750" cy="95250"/>
          </a:xfrm>
          <a:prstGeom xmlns:a="http://schemas.openxmlformats.org/drawingml/2006/main" prst="rect">
            <a:avLst/>
          </a:prstGeom>
          <a:solidFill xmlns:a="http://schemas.openxmlformats.org/drawingml/2006/main">
            <a:srgbClr val="14B88A"/>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CC4FF2A9-73C6-4733-BEB9-F464164AA82D}"/>
              </a:ext>
            </a:extLst>
          </p:cNvPr>
          <p:cNvSpPr>
            <a:spLocks xmlns:a="http://schemas.openxmlformats.org/drawingml/2006/main" noGrp="1"/>
          </p:cNvSpPr>
          <p:nvPr/>
        </p:nvSpPr>
        <p:spPr>
          <a:xfrm xmlns:a="http://schemas.openxmlformats.org/drawingml/2006/main">
            <a:off x="9353550" y="3438525"/>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6B7280"/>
                </a:solidFill>
                <a:latin typeface="Aptos"/>
                <a:ea typeface="Aptos"/>
                <a:cs typeface="Aptos"/>
              </a:defRPr>
            </a:pPr>
            <a:r>
              <a:rPr sz="825" b="0">
                <a:solidFill>
                  <a:srgbClr val="6B7280"/>
                </a:solidFill>
                <a:latin typeface="Aptos"/>
                <a:ea typeface="Aptos"/>
                <a:cs typeface="Aptos"/>
              </a:rPr>
              <a:t>Gợi ý tiết kiệm</a:t>
            </a:r>
          </a:p>
        </p:txBody>
      </p:sp>
      <p:sp>
        <p:nvSpPr>
          <p:cNvPr id="24" name="">
            <a:extLst xmlns:a="http://schemas.openxmlformats.org/drawingml/2006/main">
              <a:ext uri="{FF2B5EF4-FFF2-40B4-BE49-F238E27FC236}">
                <a16:creationId xmlns:a16="http://schemas.microsoft.com/office/drawing/2014/main" id="{20BDC067-6D0F-42A8-B472-AF1CD0D3438D}"/>
              </a:ext>
            </a:extLst>
          </p:cNvPr>
          <p:cNvSpPr>
            <a:spLocks xmlns:a="http://schemas.openxmlformats.org/drawingml/2006/main" noGrp="1"/>
          </p:cNvSpPr>
          <p:nvPr/>
        </p:nvSpPr>
        <p:spPr>
          <a:xfrm xmlns:a="http://schemas.openxmlformats.org/drawingml/2006/main">
            <a:off x="6715125" y="4229100"/>
            <a:ext cx="4238625"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txBody>
          <a:bodyPr xmlns:a="http://schemas.openxmlformats.org/drawingml/2006/main" lIns="152400" tIns="114300" rIns="133350" bIns="95250" anchor="t"/>
          <a:lstStyle xmlns:a="http://schemas.openxmlformats.org/drawingml/2006/main"/>
          <a:p xmlns:a="http://schemas.openxmlformats.org/drawingml/2006/main">
            <a:pPr algn="l">
              <a:defRPr sz="1200" b="0">
                <a:solidFill>
                  <a:srgbClr val="202631"/>
                </a:solidFill>
                <a:latin typeface="Aptos"/>
                <a:ea typeface="Aptos"/>
                <a:cs typeface="Aptos"/>
              </a:defRPr>
            </a:pPr>
            <a:r>
              <a:rPr sz="1200" b="0">
                <a:solidFill>
                  <a:srgbClr val="202631"/>
                </a:solidFill>
                <a:latin typeface="Aptos"/>
                <a:ea typeface="Aptos"/>
                <a:cs typeface="Aptos"/>
              </a:rPr>
              <a:t>- Thống kê giao dịch theo kỳ để người dùng nhìn được thói quen chi tiêu.</a:t>
            </a:r>
          </a:p>
          <a:p xmlns:a="http://schemas.openxmlformats.org/drawingml/2006/main">
            <a:pPr algn="l">
              <a:defRPr sz="1200" b="0">
                <a:solidFill>
                  <a:srgbClr val="202631"/>
                </a:solidFill>
                <a:latin typeface="Aptos"/>
                <a:ea typeface="Aptos"/>
                <a:cs typeface="Aptos"/>
              </a:defRPr>
            </a:pPr>
            <a:r>
              <a:rPr sz="1200" b="0">
                <a:solidFill>
                  <a:srgbClr val="202631"/>
                </a:solidFill>
                <a:latin typeface="Aptos"/>
                <a:ea typeface="Aptos"/>
                <a:cs typeface="Aptos"/>
              </a:rPr>
              <a:t>- AI engine tạo nhận xét và gợi ý dựa trên lịch sử chi tiêu.</a:t>
            </a:r>
          </a:p>
          <a:p xmlns:a="http://schemas.openxmlformats.org/drawingml/2006/main">
            <a:pPr algn="l">
              <a:defRPr sz="1200" b="0">
                <a:solidFill>
                  <a:srgbClr val="202631"/>
                </a:solidFill>
                <a:latin typeface="Aptos"/>
                <a:ea typeface="Aptos"/>
                <a:cs typeface="Aptos"/>
              </a:defRPr>
            </a:pPr>
            <a:r>
              <a:rPr sz="1200" b="0">
                <a:solidFill>
                  <a:srgbClr val="202631"/>
                </a:solidFill>
                <a:latin typeface="Aptos"/>
                <a:ea typeface="Aptos"/>
                <a:cs typeface="Aptos"/>
              </a:rPr>
              <a:t>- Thông tin được đưa về giao diện iOS qua endpoint analytics.</a:t>
            </a:r>
          </a:p>
        </p:txBody>
      </p:sp>
    </p:spTree>
    <p:extLst>
      <p:ext uri="{BB962C8B-B14F-4D97-AF65-F5344CB8AC3E}">
        <p14:creationId xmlns:p14="http://schemas.microsoft.com/office/powerpoint/2010/main" val="68107309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DC47695-7D0E-4863-8D81-6CC5B556A5D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BFBF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D453FB2-778C-40BB-BA79-B1DBD0CFD77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A78E8A2-A809-43C9-A9E0-8797990A542F}"/>
              </a:ext>
            </a:extLst>
          </p:cNvPr>
          <p:cNvSpPr>
            <a:spLocks xmlns:a="http://schemas.openxmlformats.org/drawingml/2006/main" noGrp="1"/>
          </p:cNvSpPr>
          <p:nvPr/>
        </p:nvSpPr>
        <p:spPr>
          <a:xfrm xmlns:a="http://schemas.openxmlformats.org/drawingml/2006/main">
            <a:off x="0" y="6191250"/>
            <a:ext cx="12192000" cy="9525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6618154F-27A9-46C8-B600-FCFE851B4679}"/>
              </a:ext>
            </a:extLst>
          </p:cNvPr>
          <p:cNvSpPr>
            <a:spLocks xmlns:a="http://schemas.openxmlformats.org/drawingml/2006/main" noGrp="1"/>
          </p:cNvSpPr>
          <p:nvPr/>
        </p:nvSpPr>
        <p:spPr>
          <a:xfrm xmlns:a="http://schemas.openxmlformats.org/drawingml/2006/main">
            <a:off x="171450" y="6429375"/>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9AA1AA"/>
                </a:solidFill>
                <a:latin typeface="Aptos"/>
                <a:ea typeface="Aptos"/>
                <a:cs typeface="Aptos"/>
              </a:defRPr>
            </a:pPr>
            <a:r>
              <a:rPr sz="600" b="0">
                <a:solidFill>
                  <a:srgbClr val="9AA1AA"/>
                </a:solidFill>
                <a:latin typeface="Aptos"/>
                <a:ea typeface="Aptos"/>
                <a:cs typeface="Aptos"/>
              </a:rPr>
              <a:t>Slide 11</a:t>
            </a:r>
          </a:p>
        </p:txBody>
      </p:sp>
      <p:sp>
        <p:nvSpPr>
          <p:cNvPr id="5" name="">
            <a:extLst xmlns:a="http://schemas.openxmlformats.org/drawingml/2006/main">
              <a:ext uri="{FF2B5EF4-FFF2-40B4-BE49-F238E27FC236}">
                <a16:creationId xmlns:a16="http://schemas.microsoft.com/office/drawing/2014/main" id="{B52D36E9-0FEA-44D3-AB3A-477156C309FE}"/>
              </a:ext>
            </a:extLst>
          </p:cNvPr>
          <p:cNvSpPr>
            <a:spLocks xmlns:a="http://schemas.openxmlformats.org/drawingml/2006/main" noGrp="1"/>
          </p:cNvSpPr>
          <p:nvPr/>
        </p:nvSpPr>
        <p:spPr>
          <a:xfrm xmlns:a="http://schemas.openxmlformats.org/drawingml/2006/main">
            <a:off x="685800" y="447675"/>
            <a:ext cx="152400" cy="15240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E73A0608-3AFF-4CB7-B69E-2CEEC42ED92E}"/>
              </a:ext>
            </a:extLst>
          </p:cNvPr>
          <p:cNvSpPr>
            <a:spLocks xmlns:a="http://schemas.openxmlformats.org/drawingml/2006/main" noGrp="1"/>
          </p:cNvSpPr>
          <p:nvPr/>
        </p:nvSpPr>
        <p:spPr>
          <a:xfrm xmlns:a="http://schemas.openxmlformats.org/drawingml/2006/main">
            <a:off x="933450" y="400050"/>
            <a:ext cx="3143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75" b="1">
                <a:solidFill>
                  <a:srgbClr val="6B7280"/>
                </a:solidFill>
                <a:latin typeface="Aptos"/>
                <a:ea typeface="Aptos"/>
                <a:cs typeface="Aptos"/>
              </a:defRPr>
            </a:pPr>
            <a:r>
              <a:rPr sz="975" b="1">
                <a:solidFill>
                  <a:srgbClr val="6B7280"/>
                </a:solidFill>
                <a:latin typeface="Aptos"/>
                <a:ea typeface="Aptos"/>
                <a:cs typeface="Aptos"/>
              </a:rPr>
              <a:t>QUẢN TRỊ</a:t>
            </a:r>
          </a:p>
        </p:txBody>
      </p:sp>
      <p:sp>
        <p:nvSpPr>
          <p:cNvPr id="7" name="">
            <a:extLst xmlns:a="http://schemas.openxmlformats.org/drawingml/2006/main">
              <a:ext uri="{FF2B5EF4-FFF2-40B4-BE49-F238E27FC236}">
                <a16:creationId xmlns:a16="http://schemas.microsoft.com/office/drawing/2014/main" id="{BFBFD820-47FE-4E26-916B-1F87446E181C}"/>
              </a:ext>
            </a:extLst>
          </p:cNvPr>
          <p:cNvSpPr>
            <a:spLocks xmlns:a="http://schemas.openxmlformats.org/drawingml/2006/main" noGrp="1"/>
          </p:cNvSpPr>
          <p:nvPr/>
        </p:nvSpPr>
        <p:spPr>
          <a:xfrm xmlns:a="http://schemas.openxmlformats.org/drawingml/2006/main">
            <a:off x="685800" y="685800"/>
            <a:ext cx="93345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45B63"/>
                </a:solidFill>
                <a:latin typeface="Aptos Display"/>
                <a:ea typeface="Aptos Display"/>
                <a:cs typeface="Aptos Display"/>
              </a:defRPr>
            </a:pPr>
            <a:r>
              <a:rPr sz="2550" b="1">
                <a:solidFill>
                  <a:srgbClr val="F45B63"/>
                </a:solidFill>
                <a:latin typeface="Aptos Display"/>
                <a:ea typeface="Aptos Display"/>
                <a:cs typeface="Aptos Display"/>
              </a:rPr>
              <a:t>Admin web giúp nhà trường theo dõi vận hành và quản lý dữ liệu nghiệp vụ.</a:t>
            </a:r>
          </a:p>
        </p:txBody>
      </p:sp>
      <p:sp>
        <p:nvSpPr>
          <p:cNvPr id="8" name="">
            <a:extLst xmlns:a="http://schemas.openxmlformats.org/drawingml/2006/main">
              <a:ext uri="{FF2B5EF4-FFF2-40B4-BE49-F238E27FC236}">
                <a16:creationId xmlns:a16="http://schemas.microsoft.com/office/drawing/2014/main" id="{AC3692E9-B9DE-4C83-A725-806554BEFC74}"/>
              </a:ext>
            </a:extLst>
          </p:cNvPr>
          <p:cNvSpPr>
            <a:spLocks xmlns:a="http://schemas.openxmlformats.org/drawingml/2006/main" noGrp="1"/>
          </p:cNvSpPr>
          <p:nvPr/>
        </p:nvSpPr>
        <p:spPr>
          <a:xfrm xmlns:a="http://schemas.openxmlformats.org/drawingml/2006/main">
            <a:off x="685800" y="1485900"/>
            <a:ext cx="10763250" cy="19050"/>
          </a:xfrm>
          <a:prstGeom xmlns:a="http://schemas.openxmlformats.org/drawingml/2006/main" prst="rect">
            <a:avLst/>
          </a:prstGeom>
          <a:solidFill xmlns:a="http://schemas.openxmlformats.org/drawingml/2006/main">
            <a:srgbClr val="EEF1F5"/>
          </a:solidFill>
          <a:ln xmlns:a="http://schemas.openxmlformats.org/drawingml/2006/main" w="0">
            <a:solidFill>
              <a:srgbClr val="000000">
                <a:alpha val="0"/>
              </a:srgbClr>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c8878af1ad349ac"/>
          <a:stretch xmlns:a="http://schemas.openxmlformats.org/drawingml/2006/main"/>
        </p:blipFill>
        <p:spPr>
          <a:xfrm xmlns:a="http://schemas.openxmlformats.org/drawingml/2006/main">
            <a:off x="704850" y="1963999"/>
            <a:ext cx="3429000" cy="1653651"/>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41f8d94e7e74d8e"/>
          <a:stretch xmlns:a="http://schemas.openxmlformats.org/drawingml/2006/main"/>
        </p:blipFill>
        <p:spPr>
          <a:xfrm xmlns:a="http://schemas.openxmlformats.org/drawingml/2006/main">
            <a:off x="4438650" y="1961613"/>
            <a:ext cx="3429000" cy="1658424"/>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bd41d0581664604"/>
          <a:stretch xmlns:a="http://schemas.openxmlformats.org/drawingml/2006/main"/>
        </p:blipFill>
        <p:spPr>
          <a:xfrm xmlns:a="http://schemas.openxmlformats.org/drawingml/2006/main">
            <a:off x="8172450" y="1960420"/>
            <a:ext cx="3429000" cy="166081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B460D54-0F86-4054-BDF6-0A9A73F1A24F}"/>
              </a:ext>
            </a:extLst>
          </p:cNvPr>
          <p:cNvSpPr>
            <a:spLocks xmlns:a="http://schemas.openxmlformats.org/drawingml/2006/main" noGrp="1"/>
          </p:cNvSpPr>
          <p:nvPr/>
        </p:nvSpPr>
        <p:spPr>
          <a:xfrm xmlns:a="http://schemas.openxmlformats.org/drawingml/2006/main">
            <a:off x="838200" y="4238625"/>
            <a:ext cx="295275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EEF1F5"/>
            </a:solidFill>
            <a:prstDash val="solid"/>
          </a:ln>
        </p:spPr>
      </p:sp>
      <p:sp>
        <p:nvSpPr>
          <p:cNvPr id="13" name="">
            <a:extLst xmlns:a="http://schemas.openxmlformats.org/drawingml/2006/main">
              <a:ext uri="{FF2B5EF4-FFF2-40B4-BE49-F238E27FC236}">
                <a16:creationId xmlns:a16="http://schemas.microsoft.com/office/drawing/2014/main" id="{31C03837-B29D-40B9-B756-9E24334A6148}"/>
              </a:ext>
            </a:extLst>
          </p:cNvPr>
          <p:cNvSpPr>
            <a:spLocks xmlns:a="http://schemas.openxmlformats.org/drawingml/2006/main" noGrp="1"/>
          </p:cNvSpPr>
          <p:nvPr/>
        </p:nvSpPr>
        <p:spPr>
          <a:xfrm xmlns:a="http://schemas.openxmlformats.org/drawingml/2006/main">
            <a:off x="1009650" y="4371975"/>
            <a:ext cx="2609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F45B63"/>
                </a:solidFill>
                <a:latin typeface="Aptos"/>
                <a:ea typeface="Aptos"/>
                <a:cs typeface="Aptos"/>
              </a:defRPr>
            </a:pPr>
            <a:r>
              <a:rPr sz="1200" b="1">
                <a:solidFill>
                  <a:srgbClr val="F45B63"/>
                </a:solidFill>
                <a:latin typeface="Aptos"/>
                <a:ea typeface="Aptos"/>
                <a:cs typeface="Aptos"/>
              </a:rPr>
              <a:t>Dashboard</a:t>
            </a:r>
          </a:p>
        </p:txBody>
      </p:sp>
      <p:sp>
        <p:nvSpPr>
          <p:cNvPr id="14" name="">
            <a:extLst xmlns:a="http://schemas.openxmlformats.org/drawingml/2006/main">
              <a:ext uri="{FF2B5EF4-FFF2-40B4-BE49-F238E27FC236}">
                <a16:creationId xmlns:a16="http://schemas.microsoft.com/office/drawing/2014/main" id="{C6D59D09-BA9D-4C1B-A761-E64F8CDBD150}"/>
              </a:ext>
            </a:extLst>
          </p:cNvPr>
          <p:cNvSpPr>
            <a:spLocks xmlns:a="http://schemas.openxmlformats.org/drawingml/2006/main" noGrp="1"/>
          </p:cNvSpPr>
          <p:nvPr/>
        </p:nvSpPr>
        <p:spPr>
          <a:xfrm xmlns:a="http://schemas.openxmlformats.org/drawingml/2006/main">
            <a:off x="1009650" y="4676775"/>
            <a:ext cx="2609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202631"/>
                </a:solidFill>
                <a:latin typeface="Aptos"/>
                <a:ea typeface="Aptos"/>
                <a:cs typeface="Aptos"/>
              </a:defRPr>
            </a:pPr>
            <a:r>
              <a:rPr sz="1050" b="0">
                <a:solidFill>
                  <a:srgbClr val="202631"/>
                </a:solidFill>
                <a:latin typeface="Aptos"/>
                <a:ea typeface="Aptos"/>
                <a:cs typeface="Aptos"/>
              </a:rPr>
              <a:t>Theo dõi người dùng, sinh viên, dịch vụ, giao dịch và số dư hệ thống.</a:t>
            </a:r>
          </a:p>
        </p:txBody>
      </p:sp>
      <p:sp>
        <p:nvSpPr>
          <p:cNvPr id="15" name="">
            <a:extLst xmlns:a="http://schemas.openxmlformats.org/drawingml/2006/main">
              <a:ext uri="{FF2B5EF4-FFF2-40B4-BE49-F238E27FC236}">
                <a16:creationId xmlns:a16="http://schemas.microsoft.com/office/drawing/2014/main" id="{6D3D03E5-EBC9-4F13-9FA1-386D35C05824}"/>
              </a:ext>
            </a:extLst>
          </p:cNvPr>
          <p:cNvSpPr>
            <a:spLocks xmlns:a="http://schemas.openxmlformats.org/drawingml/2006/main" noGrp="1"/>
          </p:cNvSpPr>
          <p:nvPr/>
        </p:nvSpPr>
        <p:spPr>
          <a:xfrm xmlns:a="http://schemas.openxmlformats.org/drawingml/2006/main">
            <a:off x="4572000" y="4238625"/>
            <a:ext cx="295275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EEF1F5"/>
            </a:solidFill>
            <a:prstDash val="solid"/>
          </a:ln>
        </p:spPr>
      </p:sp>
      <p:sp>
        <p:nvSpPr>
          <p:cNvPr id="16" name="">
            <a:extLst xmlns:a="http://schemas.openxmlformats.org/drawingml/2006/main">
              <a:ext uri="{FF2B5EF4-FFF2-40B4-BE49-F238E27FC236}">
                <a16:creationId xmlns:a16="http://schemas.microsoft.com/office/drawing/2014/main" id="{4457F039-2492-4594-98FB-D2440E661273}"/>
              </a:ext>
            </a:extLst>
          </p:cNvPr>
          <p:cNvSpPr>
            <a:spLocks xmlns:a="http://schemas.openxmlformats.org/drawingml/2006/main" noGrp="1"/>
          </p:cNvSpPr>
          <p:nvPr/>
        </p:nvSpPr>
        <p:spPr>
          <a:xfrm xmlns:a="http://schemas.openxmlformats.org/drawingml/2006/main">
            <a:off x="4743450" y="4371975"/>
            <a:ext cx="2609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F45B63"/>
                </a:solidFill>
                <a:latin typeface="Aptos"/>
                <a:ea typeface="Aptos"/>
                <a:cs typeface="Aptos"/>
              </a:defRPr>
            </a:pPr>
            <a:r>
              <a:rPr sz="1200" b="1">
                <a:solidFill>
                  <a:srgbClr val="F45B63"/>
                </a:solidFill>
                <a:latin typeface="Aptos"/>
                <a:ea typeface="Aptos"/>
                <a:cs typeface="Aptos"/>
              </a:rPr>
              <a:t>Người dùng &amp; sinh viên</a:t>
            </a:r>
          </a:p>
        </p:txBody>
      </p:sp>
      <p:sp>
        <p:nvSpPr>
          <p:cNvPr id="17" name="">
            <a:extLst xmlns:a="http://schemas.openxmlformats.org/drawingml/2006/main">
              <a:ext uri="{FF2B5EF4-FFF2-40B4-BE49-F238E27FC236}">
                <a16:creationId xmlns:a16="http://schemas.microsoft.com/office/drawing/2014/main" id="{B49549DF-50EB-47C5-AF23-2BDD47D02F60}"/>
              </a:ext>
            </a:extLst>
          </p:cNvPr>
          <p:cNvSpPr>
            <a:spLocks xmlns:a="http://schemas.openxmlformats.org/drawingml/2006/main" noGrp="1"/>
          </p:cNvSpPr>
          <p:nvPr/>
        </p:nvSpPr>
        <p:spPr>
          <a:xfrm xmlns:a="http://schemas.openxmlformats.org/drawingml/2006/main">
            <a:off x="4743450" y="4676775"/>
            <a:ext cx="2609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202631"/>
                </a:solidFill>
                <a:latin typeface="Aptos"/>
                <a:ea typeface="Aptos"/>
                <a:cs typeface="Aptos"/>
              </a:defRPr>
            </a:pPr>
            <a:r>
              <a:rPr sz="1050" b="0">
                <a:solidFill>
                  <a:srgbClr val="202631"/>
                </a:solidFill>
                <a:latin typeface="Aptos"/>
                <a:ea typeface="Aptos"/>
                <a:cs typeface="Aptos"/>
              </a:rPr>
              <a:t>Tra cứu, lọc, cập nhật trạng thái, hỗ trợ dữ liệu xác thực sinh viên.</a:t>
            </a:r>
          </a:p>
        </p:txBody>
      </p:sp>
      <p:sp>
        <p:nvSpPr>
          <p:cNvPr id="18" name="">
            <a:extLst xmlns:a="http://schemas.openxmlformats.org/drawingml/2006/main">
              <a:ext uri="{FF2B5EF4-FFF2-40B4-BE49-F238E27FC236}">
                <a16:creationId xmlns:a16="http://schemas.microsoft.com/office/drawing/2014/main" id="{93CB212F-5305-43F7-B429-DD705D119A34}"/>
              </a:ext>
            </a:extLst>
          </p:cNvPr>
          <p:cNvSpPr>
            <a:spLocks xmlns:a="http://schemas.openxmlformats.org/drawingml/2006/main" noGrp="1"/>
          </p:cNvSpPr>
          <p:nvPr/>
        </p:nvSpPr>
        <p:spPr>
          <a:xfrm xmlns:a="http://schemas.openxmlformats.org/drawingml/2006/main">
            <a:off x="8305800" y="4238625"/>
            <a:ext cx="295275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EEF1F5"/>
            </a:solidFill>
            <a:prstDash val="solid"/>
          </a:ln>
        </p:spPr>
      </p:sp>
      <p:sp>
        <p:nvSpPr>
          <p:cNvPr id="19" name="">
            <a:extLst xmlns:a="http://schemas.openxmlformats.org/drawingml/2006/main">
              <a:ext uri="{FF2B5EF4-FFF2-40B4-BE49-F238E27FC236}">
                <a16:creationId xmlns:a16="http://schemas.microsoft.com/office/drawing/2014/main" id="{50248A67-7574-4BE6-9589-4C08AB25E95D}"/>
              </a:ext>
            </a:extLst>
          </p:cNvPr>
          <p:cNvSpPr>
            <a:spLocks xmlns:a="http://schemas.openxmlformats.org/drawingml/2006/main" noGrp="1"/>
          </p:cNvSpPr>
          <p:nvPr/>
        </p:nvSpPr>
        <p:spPr>
          <a:xfrm xmlns:a="http://schemas.openxmlformats.org/drawingml/2006/main">
            <a:off x="8477250" y="4371975"/>
            <a:ext cx="2609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F45B63"/>
                </a:solidFill>
                <a:latin typeface="Aptos"/>
                <a:ea typeface="Aptos"/>
                <a:cs typeface="Aptos"/>
              </a:defRPr>
            </a:pPr>
            <a:r>
              <a:rPr sz="1200" b="1">
                <a:solidFill>
                  <a:srgbClr val="F45B63"/>
                </a:solidFill>
                <a:latin typeface="Aptos"/>
                <a:ea typeface="Aptos"/>
                <a:cs typeface="Aptos"/>
              </a:rPr>
              <a:t>Dịch vụ &amp; thông báo</a:t>
            </a:r>
          </a:p>
        </p:txBody>
      </p:sp>
      <p:sp>
        <p:nvSpPr>
          <p:cNvPr id="20" name="">
            <a:extLst xmlns:a="http://schemas.openxmlformats.org/drawingml/2006/main">
              <a:ext uri="{FF2B5EF4-FFF2-40B4-BE49-F238E27FC236}">
                <a16:creationId xmlns:a16="http://schemas.microsoft.com/office/drawing/2014/main" id="{4181CD66-FE76-4DFD-9DD2-644BD1A61EB1}"/>
              </a:ext>
            </a:extLst>
          </p:cNvPr>
          <p:cNvSpPr>
            <a:spLocks xmlns:a="http://schemas.openxmlformats.org/drawingml/2006/main" noGrp="1"/>
          </p:cNvSpPr>
          <p:nvPr/>
        </p:nvSpPr>
        <p:spPr>
          <a:xfrm xmlns:a="http://schemas.openxmlformats.org/drawingml/2006/main">
            <a:off x="8477250" y="4676775"/>
            <a:ext cx="2609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202631"/>
                </a:solidFill>
                <a:latin typeface="Aptos"/>
                <a:ea typeface="Aptos"/>
                <a:cs typeface="Aptos"/>
              </a:defRPr>
            </a:pPr>
            <a:r>
              <a:rPr sz="1050" b="0">
                <a:solidFill>
                  <a:srgbClr val="202631"/>
                </a:solidFill>
                <a:latin typeface="Aptos"/>
                <a:ea typeface="Aptos"/>
                <a:cs typeface="Aptos"/>
              </a:rPr>
              <a:t>Quản lý khoản cần thanh toán và gửi thông báo đến sinh viên.</a:t>
            </a:r>
          </a:p>
        </p:txBody>
      </p:sp>
    </p:spTree>
    <p:extLst>
      <p:ext uri="{BB962C8B-B14F-4D97-AF65-F5344CB8AC3E}">
        <p14:creationId xmlns:p14="http://schemas.microsoft.com/office/powerpoint/2010/main" val="17480362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EF1F261-9D86-4AC4-AE66-C9374868B7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BFBF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38E0B99-345C-4B95-BEBB-4D209A108A6B}"/>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36030B4-34C8-4B8A-8BEE-E27136C833CA}"/>
              </a:ext>
            </a:extLst>
          </p:cNvPr>
          <p:cNvSpPr>
            <a:spLocks xmlns:a="http://schemas.openxmlformats.org/drawingml/2006/main" noGrp="1"/>
          </p:cNvSpPr>
          <p:nvPr/>
        </p:nvSpPr>
        <p:spPr>
          <a:xfrm xmlns:a="http://schemas.openxmlformats.org/drawingml/2006/main">
            <a:off x="0" y="6191250"/>
            <a:ext cx="12192000" cy="9525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E7D08A88-8E3B-4A74-9991-3D3FE2394273}"/>
              </a:ext>
            </a:extLst>
          </p:cNvPr>
          <p:cNvSpPr>
            <a:spLocks xmlns:a="http://schemas.openxmlformats.org/drawingml/2006/main" noGrp="1"/>
          </p:cNvSpPr>
          <p:nvPr/>
        </p:nvSpPr>
        <p:spPr>
          <a:xfrm xmlns:a="http://schemas.openxmlformats.org/drawingml/2006/main">
            <a:off x="171450" y="6429375"/>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9AA1AA"/>
                </a:solidFill>
                <a:latin typeface="Aptos"/>
                <a:ea typeface="Aptos"/>
                <a:cs typeface="Aptos"/>
              </a:defRPr>
            </a:pPr>
            <a:r>
              <a:rPr sz="600" b="0">
                <a:solidFill>
                  <a:srgbClr val="9AA1AA"/>
                </a:solidFill>
                <a:latin typeface="Aptos"/>
                <a:ea typeface="Aptos"/>
                <a:cs typeface="Aptos"/>
              </a:rPr>
              <a:t>Slide 12</a:t>
            </a:r>
          </a:p>
        </p:txBody>
      </p:sp>
      <p:sp>
        <p:nvSpPr>
          <p:cNvPr id="5" name="">
            <a:extLst xmlns:a="http://schemas.openxmlformats.org/drawingml/2006/main">
              <a:ext uri="{FF2B5EF4-FFF2-40B4-BE49-F238E27FC236}">
                <a16:creationId xmlns:a16="http://schemas.microsoft.com/office/drawing/2014/main" id="{7589C01C-2429-45A3-86B7-F895D5311BF5}"/>
              </a:ext>
            </a:extLst>
          </p:cNvPr>
          <p:cNvSpPr>
            <a:spLocks xmlns:a="http://schemas.openxmlformats.org/drawingml/2006/main" noGrp="1"/>
          </p:cNvSpPr>
          <p:nvPr/>
        </p:nvSpPr>
        <p:spPr>
          <a:xfrm xmlns:a="http://schemas.openxmlformats.org/drawingml/2006/main">
            <a:off x="0" y="514350"/>
            <a:ext cx="12192000" cy="53340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2EB188D9-CAA5-4C04-AD4E-4789484AFF84}"/>
              </a:ext>
            </a:extLst>
          </p:cNvPr>
          <p:cNvSpPr>
            <a:spLocks xmlns:a="http://schemas.openxmlformats.org/drawingml/2006/main" noGrp="1"/>
          </p:cNvSpPr>
          <p:nvPr/>
        </p:nvSpPr>
        <p:spPr>
          <a:xfrm xmlns:a="http://schemas.openxmlformats.org/drawingml/2006/main">
            <a:off x="685800" y="361950"/>
            <a:ext cx="304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B7280"/>
                </a:solidFill>
                <a:latin typeface="Aptos"/>
                <a:ea typeface="Aptos"/>
                <a:cs typeface="Aptos"/>
              </a:defRPr>
            </a:pPr>
            <a:r>
              <a:rPr sz="900" b="1">
                <a:solidFill>
                  <a:srgbClr val="6B7280"/>
                </a:solidFill>
                <a:latin typeface="Aptos"/>
                <a:ea typeface="Aptos"/>
                <a:cs typeface="Aptos"/>
              </a:rPr>
              <a:t>KẾT QUẢ</a:t>
            </a:r>
          </a:p>
        </p:txBody>
      </p:sp>
      <p:sp>
        <p:nvSpPr>
          <p:cNvPr id="7" name="">
            <a:extLst xmlns:a="http://schemas.openxmlformats.org/drawingml/2006/main">
              <a:ext uri="{FF2B5EF4-FFF2-40B4-BE49-F238E27FC236}">
                <a16:creationId xmlns:a16="http://schemas.microsoft.com/office/drawing/2014/main" id="{4DBCEC61-2AA4-4E1C-827A-456E2511B99C}"/>
              </a:ext>
            </a:extLst>
          </p:cNvPr>
          <p:cNvSpPr>
            <a:spLocks xmlns:a="http://schemas.openxmlformats.org/drawingml/2006/main" noGrp="1"/>
          </p:cNvSpPr>
          <p:nvPr/>
        </p:nvSpPr>
        <p:spPr>
          <a:xfrm xmlns:a="http://schemas.openxmlformats.org/drawingml/2006/main">
            <a:off x="685800" y="628650"/>
            <a:ext cx="10287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800" b="1">
                <a:solidFill>
                  <a:srgbClr val="FFFFFF"/>
                </a:solidFill>
                <a:latin typeface="Aptos"/>
                <a:ea typeface="Aptos"/>
                <a:cs typeface="Aptos"/>
              </a:defRPr>
            </a:pPr>
            <a:r>
              <a:rPr sz="1800" b="1">
                <a:solidFill>
                  <a:srgbClr val="FFFFFF"/>
                </a:solidFill>
                <a:latin typeface="Aptos"/>
                <a:ea typeface="Aptos"/>
                <a:cs typeface="Aptos"/>
              </a:rPr>
              <a:t>Hệ thống đã hoàn thành lõi nghiệp vụ, còn các tích hợp thật là hướng mở rộng.</a:t>
            </a:r>
          </a:p>
        </p:txBody>
      </p:sp>
      <p:sp>
        <p:nvSpPr>
          <p:cNvPr id="8" name="">
            <a:extLst xmlns:a="http://schemas.openxmlformats.org/drawingml/2006/main">
              <a:ext uri="{FF2B5EF4-FFF2-40B4-BE49-F238E27FC236}">
                <a16:creationId xmlns:a16="http://schemas.microsoft.com/office/drawing/2014/main" id="{B89490BD-E4DB-481F-9779-2AE5638B0EDF}"/>
              </a:ext>
            </a:extLst>
          </p:cNvPr>
          <p:cNvSpPr>
            <a:spLocks xmlns:a="http://schemas.openxmlformats.org/drawingml/2006/main" noGrp="1"/>
          </p:cNvSpPr>
          <p:nvPr/>
        </p:nvSpPr>
        <p:spPr>
          <a:xfrm xmlns:a="http://schemas.openxmlformats.org/drawingml/2006/main">
            <a:off x="781050" y="1619250"/>
            <a:ext cx="2952750" cy="51435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C45A7319-0213-4547-92E0-C330F0B44145}"/>
              </a:ext>
            </a:extLst>
          </p:cNvPr>
          <p:cNvSpPr>
            <a:spLocks xmlns:a="http://schemas.openxmlformats.org/drawingml/2006/main" noGrp="1"/>
          </p:cNvSpPr>
          <p:nvPr/>
        </p:nvSpPr>
        <p:spPr>
          <a:xfrm xmlns:a="http://schemas.openxmlformats.org/drawingml/2006/main">
            <a:off x="952500" y="1790700"/>
            <a:ext cx="2609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ĐÃ ĐẠT ĐƯỢC</a:t>
            </a:r>
          </a:p>
        </p:txBody>
      </p:sp>
      <p:sp>
        <p:nvSpPr>
          <p:cNvPr id="10" name="">
            <a:extLst xmlns:a="http://schemas.openxmlformats.org/drawingml/2006/main">
              <a:ext uri="{FF2B5EF4-FFF2-40B4-BE49-F238E27FC236}">
                <a16:creationId xmlns:a16="http://schemas.microsoft.com/office/drawing/2014/main" id="{9694E367-BF73-4939-94CC-A1D5B2548AB3}"/>
              </a:ext>
            </a:extLst>
          </p:cNvPr>
          <p:cNvSpPr>
            <a:spLocks xmlns:a="http://schemas.openxmlformats.org/drawingml/2006/main" noGrp="1"/>
          </p:cNvSpPr>
          <p:nvPr/>
        </p:nvSpPr>
        <p:spPr>
          <a:xfrm xmlns:a="http://schemas.openxmlformats.org/drawingml/2006/main">
            <a:off x="781050" y="2381250"/>
            <a:ext cx="2952750" cy="21907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txBody>
          <a:bodyPr xmlns:a="http://schemas.openxmlformats.org/drawingml/2006/main" lIns="152400" tIns="114300" rIns="133350" bIns="95250" anchor="t"/>
          <a:lstStyle xmlns:a="http://schemas.openxmlformats.org/drawingml/2006/main"/>
          <a:p xmlns:a="http://schemas.openxmlformats.org/drawingml/2006/main">
            <a:pPr algn="l">
              <a:defRPr sz="1200" b="0">
                <a:solidFill>
                  <a:srgbClr val="202631"/>
                </a:solidFill>
                <a:latin typeface="Aptos"/>
                <a:ea typeface="Aptos"/>
                <a:cs typeface="Aptos"/>
              </a:defRPr>
            </a:pPr>
            <a:r>
              <a:rPr sz="1200" b="0">
                <a:solidFill>
                  <a:srgbClr val="202631"/>
                </a:solidFill>
                <a:latin typeface="Aptos"/>
                <a:ea typeface="Aptos"/>
                <a:cs typeface="Aptos"/>
              </a:rPr>
              <a:t>- Phân tích tổng quát chức năng hệ thống.</a:t>
            </a:r>
          </a:p>
          <a:p xmlns:a="http://schemas.openxmlformats.org/drawingml/2006/main">
            <a:pPr algn="l">
              <a:defRPr sz="1200" b="0">
                <a:solidFill>
                  <a:srgbClr val="202631"/>
                </a:solidFill>
                <a:latin typeface="Aptos"/>
                <a:ea typeface="Aptos"/>
                <a:cs typeface="Aptos"/>
              </a:defRPr>
            </a:pPr>
            <a:r>
              <a:rPr sz="1200" b="0">
                <a:solidFill>
                  <a:srgbClr val="202631"/>
                </a:solidFill>
                <a:latin typeface="Aptos"/>
                <a:ea typeface="Aptos"/>
                <a:cs typeface="Aptos"/>
              </a:rPr>
              <a:t>- Xây dựng cơ sở dữ liệu.</a:t>
            </a:r>
          </a:p>
          <a:p xmlns:a="http://schemas.openxmlformats.org/drawingml/2006/main">
            <a:pPr algn="l">
              <a:defRPr sz="1200" b="0">
                <a:solidFill>
                  <a:srgbClr val="202631"/>
                </a:solidFill>
                <a:latin typeface="Aptos"/>
                <a:ea typeface="Aptos"/>
                <a:cs typeface="Aptos"/>
              </a:defRPr>
            </a:pPr>
            <a:r>
              <a:rPr sz="1200" b="0">
                <a:solidFill>
                  <a:srgbClr val="202631"/>
                </a:solidFill>
                <a:latin typeface="Aptos"/>
                <a:ea typeface="Aptos"/>
                <a:cs typeface="Aptos"/>
              </a:rPr>
              <a:t>- Hoàn thiện các luồng nạp tiền, chuyển tiền, thanh toán dịch vụ ở mức mô phỏng.</a:t>
            </a:r>
          </a:p>
        </p:txBody>
      </p:sp>
      <p:sp>
        <p:nvSpPr>
          <p:cNvPr id="11" name="">
            <a:extLst xmlns:a="http://schemas.openxmlformats.org/drawingml/2006/main">
              <a:ext uri="{FF2B5EF4-FFF2-40B4-BE49-F238E27FC236}">
                <a16:creationId xmlns:a16="http://schemas.microsoft.com/office/drawing/2014/main" id="{E245ABDE-772F-4FE2-A4E5-850715AEA8C3}"/>
              </a:ext>
            </a:extLst>
          </p:cNvPr>
          <p:cNvSpPr>
            <a:spLocks xmlns:a="http://schemas.openxmlformats.org/drawingml/2006/main" noGrp="1"/>
          </p:cNvSpPr>
          <p:nvPr/>
        </p:nvSpPr>
        <p:spPr>
          <a:xfrm xmlns:a="http://schemas.openxmlformats.org/drawingml/2006/main">
            <a:off x="4495800" y="1619250"/>
            <a:ext cx="2952750" cy="514350"/>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D4F959BD-CC1E-489B-A6B4-BBAF6571F830}"/>
              </a:ext>
            </a:extLst>
          </p:cNvPr>
          <p:cNvSpPr>
            <a:spLocks xmlns:a="http://schemas.openxmlformats.org/drawingml/2006/main" noGrp="1"/>
          </p:cNvSpPr>
          <p:nvPr/>
        </p:nvSpPr>
        <p:spPr>
          <a:xfrm xmlns:a="http://schemas.openxmlformats.org/drawingml/2006/main">
            <a:off x="4667250" y="1790700"/>
            <a:ext cx="2609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HẠN CHẾ</a:t>
            </a:r>
          </a:p>
        </p:txBody>
      </p:sp>
      <p:sp>
        <p:nvSpPr>
          <p:cNvPr id="13" name="">
            <a:extLst xmlns:a="http://schemas.openxmlformats.org/drawingml/2006/main">
              <a:ext uri="{FF2B5EF4-FFF2-40B4-BE49-F238E27FC236}">
                <a16:creationId xmlns:a16="http://schemas.microsoft.com/office/drawing/2014/main" id="{59EA5F2C-C521-4E2B-8CD8-46A8F9715CB0}"/>
              </a:ext>
            </a:extLst>
          </p:cNvPr>
          <p:cNvSpPr>
            <a:spLocks xmlns:a="http://schemas.openxmlformats.org/drawingml/2006/main" noGrp="1"/>
          </p:cNvSpPr>
          <p:nvPr/>
        </p:nvSpPr>
        <p:spPr>
          <a:xfrm xmlns:a="http://schemas.openxmlformats.org/drawingml/2006/main">
            <a:off x="4495800" y="2381250"/>
            <a:ext cx="2952750" cy="21907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txBody>
          <a:bodyPr xmlns:a="http://schemas.openxmlformats.org/drawingml/2006/main" lIns="152400" tIns="114300" rIns="133350" bIns="95250" anchor="t"/>
          <a:lstStyle xmlns:a="http://schemas.openxmlformats.org/drawingml/2006/main"/>
          <a:p xmlns:a="http://schemas.openxmlformats.org/drawingml/2006/main">
            <a:pPr algn="l">
              <a:defRPr sz="1200" b="0">
                <a:solidFill>
                  <a:srgbClr val="202631"/>
                </a:solidFill>
                <a:latin typeface="Aptos"/>
                <a:ea typeface="Aptos"/>
                <a:cs typeface="Aptos"/>
              </a:defRPr>
            </a:pPr>
            <a:r>
              <a:rPr sz="1200" b="0">
                <a:solidFill>
                  <a:srgbClr val="202631"/>
                </a:solidFill>
                <a:latin typeface="Aptos"/>
                <a:ea typeface="Aptos"/>
                <a:cs typeface="Aptos"/>
              </a:rPr>
              <a:t>- Chưa rút tiền về ngân hàng.</a:t>
            </a:r>
          </a:p>
          <a:p xmlns:a="http://schemas.openxmlformats.org/drawingml/2006/main">
            <a:pPr algn="l">
              <a:defRPr sz="1200" b="0">
                <a:solidFill>
                  <a:srgbClr val="202631"/>
                </a:solidFill>
                <a:latin typeface="Aptos"/>
                <a:ea typeface="Aptos"/>
                <a:cs typeface="Aptos"/>
              </a:defRPr>
            </a:pPr>
            <a:r>
              <a:rPr sz="1200" b="0">
                <a:solidFill>
                  <a:srgbClr val="202631"/>
                </a:solidFill>
                <a:latin typeface="Aptos"/>
                <a:ea typeface="Aptos"/>
                <a:cs typeface="Aptos"/>
              </a:rPr>
              <a:t>- Chưa liên kết ngân hàng.</a:t>
            </a:r>
          </a:p>
          <a:p xmlns:a="http://schemas.openxmlformats.org/drawingml/2006/main">
            <a:pPr algn="l">
              <a:defRPr sz="1200" b="0">
                <a:solidFill>
                  <a:srgbClr val="202631"/>
                </a:solidFill>
                <a:latin typeface="Aptos"/>
                <a:ea typeface="Aptos"/>
                <a:cs typeface="Aptos"/>
              </a:defRPr>
            </a:pPr>
            <a:r>
              <a:rPr sz="1200" b="0">
                <a:solidFill>
                  <a:srgbClr val="202631"/>
                </a:solidFill>
                <a:latin typeface="Aptos"/>
                <a:ea typeface="Aptos"/>
                <a:cs typeface="Aptos"/>
              </a:rPr>
              <a:t>- OTP số điện thoại và xác thực sinh viên chưa kết nối hệ thống thật.</a:t>
            </a:r>
          </a:p>
        </p:txBody>
      </p:sp>
      <p:sp>
        <p:nvSpPr>
          <p:cNvPr id="14" name="">
            <a:extLst xmlns:a="http://schemas.openxmlformats.org/drawingml/2006/main">
              <a:ext uri="{FF2B5EF4-FFF2-40B4-BE49-F238E27FC236}">
                <a16:creationId xmlns:a16="http://schemas.microsoft.com/office/drawing/2014/main" id="{789565C1-C790-45CE-B106-8DBB8A12DA49}"/>
              </a:ext>
            </a:extLst>
          </p:cNvPr>
          <p:cNvSpPr>
            <a:spLocks xmlns:a="http://schemas.openxmlformats.org/drawingml/2006/main" noGrp="1"/>
          </p:cNvSpPr>
          <p:nvPr/>
        </p:nvSpPr>
        <p:spPr>
          <a:xfrm xmlns:a="http://schemas.openxmlformats.org/drawingml/2006/main">
            <a:off x="8210550" y="1619250"/>
            <a:ext cx="2952750" cy="514350"/>
          </a:xfrm>
          <a:prstGeom xmlns:a="http://schemas.openxmlformats.org/drawingml/2006/main" prst="rect">
            <a:avLst/>
          </a:prstGeom>
          <a:solidFill xmlns:a="http://schemas.openxmlformats.org/drawingml/2006/main">
            <a:srgbClr val="14B88A"/>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3C0A77D6-E717-40C7-968C-CA765026FF4F}"/>
              </a:ext>
            </a:extLst>
          </p:cNvPr>
          <p:cNvSpPr>
            <a:spLocks xmlns:a="http://schemas.openxmlformats.org/drawingml/2006/main" noGrp="1"/>
          </p:cNvSpPr>
          <p:nvPr/>
        </p:nvSpPr>
        <p:spPr>
          <a:xfrm xmlns:a="http://schemas.openxmlformats.org/drawingml/2006/main">
            <a:off x="8382000" y="1790700"/>
            <a:ext cx="26098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HƯỚNG PHÁT TRIỂN</a:t>
            </a:r>
          </a:p>
        </p:txBody>
      </p:sp>
      <p:sp>
        <p:nvSpPr>
          <p:cNvPr id="16" name="">
            <a:extLst xmlns:a="http://schemas.openxmlformats.org/drawingml/2006/main">
              <a:ext uri="{FF2B5EF4-FFF2-40B4-BE49-F238E27FC236}">
                <a16:creationId xmlns:a16="http://schemas.microsoft.com/office/drawing/2014/main" id="{3F4257FC-140B-4D7D-B422-CB3FCFAD56CD}"/>
              </a:ext>
            </a:extLst>
          </p:cNvPr>
          <p:cNvSpPr>
            <a:spLocks xmlns:a="http://schemas.openxmlformats.org/drawingml/2006/main" noGrp="1"/>
          </p:cNvSpPr>
          <p:nvPr/>
        </p:nvSpPr>
        <p:spPr>
          <a:xfrm xmlns:a="http://schemas.openxmlformats.org/drawingml/2006/main">
            <a:off x="8210550" y="2381250"/>
            <a:ext cx="2952750" cy="21907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prstDash val="solid"/>
          </a:ln>
        </p:spPr>
        <p:txBody>
          <a:bodyPr xmlns:a="http://schemas.openxmlformats.org/drawingml/2006/main" lIns="152400" tIns="114300" rIns="133350" bIns="95250" anchor="t"/>
          <a:lstStyle xmlns:a="http://schemas.openxmlformats.org/drawingml/2006/main"/>
          <a:p xmlns:a="http://schemas.openxmlformats.org/drawingml/2006/main">
            <a:pPr algn="l">
              <a:defRPr sz="1200" b="0">
                <a:solidFill>
                  <a:srgbClr val="202631"/>
                </a:solidFill>
                <a:latin typeface="Aptos"/>
                <a:ea typeface="Aptos"/>
                <a:cs typeface="Aptos"/>
              </a:defRPr>
            </a:pPr>
            <a:r>
              <a:rPr sz="1200" b="0">
                <a:solidFill>
                  <a:srgbClr val="202631"/>
                </a:solidFill>
                <a:latin typeface="Aptos"/>
                <a:ea typeface="Aptos"/>
                <a:cs typeface="Aptos"/>
              </a:rPr>
              <a:t>- Liên kết ngân hàng và quy trình thanh toán thật.</a:t>
            </a:r>
          </a:p>
          <a:p xmlns:a="http://schemas.openxmlformats.org/drawingml/2006/main">
            <a:pPr algn="l">
              <a:defRPr sz="1200" b="0">
                <a:solidFill>
                  <a:srgbClr val="202631"/>
                </a:solidFill>
                <a:latin typeface="Aptos"/>
                <a:ea typeface="Aptos"/>
                <a:cs typeface="Aptos"/>
              </a:defRPr>
            </a:pPr>
            <a:r>
              <a:rPr sz="1200" b="0">
                <a:solidFill>
                  <a:srgbClr val="202631"/>
                </a:solidFill>
                <a:latin typeface="Aptos"/>
                <a:ea typeface="Aptos"/>
                <a:cs typeface="Aptos"/>
              </a:rPr>
              <a:t>- Kết nối API trường học để xác thực sinh viên.</a:t>
            </a:r>
          </a:p>
          <a:p xmlns:a="http://schemas.openxmlformats.org/drawingml/2006/main">
            <a:pPr algn="l">
              <a:defRPr sz="1200" b="0">
                <a:solidFill>
                  <a:srgbClr val="202631"/>
                </a:solidFill>
                <a:latin typeface="Aptos"/>
                <a:ea typeface="Aptos"/>
                <a:cs typeface="Aptos"/>
              </a:defRPr>
            </a:pPr>
            <a:r>
              <a:rPr sz="1200" b="0">
                <a:solidFill>
                  <a:srgbClr val="202631"/>
                </a:solidFill>
                <a:latin typeface="Aptos"/>
                <a:ea typeface="Aptos"/>
                <a:cs typeface="Aptos"/>
              </a:rPr>
              <a:t>- Tối ưu CSDL và mở rộng dịch vụ.</a:t>
            </a:r>
          </a:p>
        </p:txBody>
      </p:sp>
      <p:sp>
        <p:nvSpPr>
          <p:cNvPr id="17" name="">
            <a:extLst xmlns:a="http://schemas.openxmlformats.org/drawingml/2006/main">
              <a:ext uri="{FF2B5EF4-FFF2-40B4-BE49-F238E27FC236}">
                <a16:creationId xmlns:a16="http://schemas.microsoft.com/office/drawing/2014/main" id="{8CA970B0-F593-4AF6-ABC9-3F99DE11CCC8}"/>
              </a:ext>
            </a:extLst>
          </p:cNvPr>
          <p:cNvSpPr>
            <a:spLocks xmlns:a="http://schemas.openxmlformats.org/drawingml/2006/main" noGrp="1"/>
          </p:cNvSpPr>
          <p:nvPr/>
        </p:nvSpPr>
        <p:spPr>
          <a:xfrm xmlns:a="http://schemas.openxmlformats.org/drawingml/2006/main">
            <a:off x="1428750" y="5219700"/>
            <a:ext cx="93345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425" b="1">
                <a:solidFill>
                  <a:srgbClr val="202631"/>
                </a:solidFill>
                <a:latin typeface="Aptos"/>
                <a:ea typeface="Aptos"/>
                <a:cs typeface="Aptos"/>
              </a:defRPr>
            </a:pPr>
            <a:r>
              <a:rPr sz="1425" b="1">
                <a:solidFill>
                  <a:srgbClr val="202631"/>
                </a:solidFill>
                <a:latin typeface="Aptos"/>
                <a:ea typeface="Aptos"/>
                <a:cs typeface="Aptos"/>
              </a:rPr>
              <a:t>Thông điệp kết luận: Student eWallet chứng minh được quy trình ví điện tử sinh viên từ thiết kế đến triển khai prototype, tạo nền tảng để phát triển thành hệ thống thanh toán trường học thực tế.</a:t>
            </a:r>
          </a:p>
        </p:txBody>
      </p:sp>
    </p:spTree>
    <p:extLst>
      <p:ext uri="{BB962C8B-B14F-4D97-AF65-F5344CB8AC3E}">
        <p14:creationId xmlns:p14="http://schemas.microsoft.com/office/powerpoint/2010/main" val="134836298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5573811-FA7D-43A3-9ED9-F0728DB32BB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BFBF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3D4A030-7802-4158-8F6D-5BA7EF02E390}"/>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18202C"/>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F4A96B2-B4C6-442A-8B07-97C71955BA1D}"/>
              </a:ext>
            </a:extLst>
          </p:cNvPr>
          <p:cNvSpPr>
            <a:spLocks xmlns:a="http://schemas.openxmlformats.org/drawingml/2006/main" noGrp="1"/>
          </p:cNvSpPr>
          <p:nvPr/>
        </p:nvSpPr>
        <p:spPr>
          <a:xfrm xmlns:a="http://schemas.openxmlformats.org/drawingml/2006/main">
            <a:off x="0" y="6191250"/>
            <a:ext cx="12192000" cy="9525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3EF3FC36-3733-4612-A92F-9740716EFB90}"/>
              </a:ext>
            </a:extLst>
          </p:cNvPr>
          <p:cNvSpPr>
            <a:spLocks xmlns:a="http://schemas.openxmlformats.org/drawingml/2006/main" noGrp="1"/>
          </p:cNvSpPr>
          <p:nvPr/>
        </p:nvSpPr>
        <p:spPr>
          <a:xfrm xmlns:a="http://schemas.openxmlformats.org/drawingml/2006/main">
            <a:off x="171450" y="6429375"/>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0" b="0">
                <a:solidFill>
                  <a:srgbClr val="9AA1AA"/>
                </a:solidFill>
                <a:latin typeface="Aptos"/>
                <a:ea typeface="Aptos"/>
                <a:cs typeface="Aptos"/>
              </a:defRPr>
            </a:pPr>
            <a:r>
              <a:rPr sz="600" b="0">
                <a:solidFill>
                  <a:srgbClr val="9AA1AA"/>
                </a:solidFill>
                <a:latin typeface="Aptos"/>
                <a:ea typeface="Aptos"/>
                <a:cs typeface="Aptos"/>
              </a:rPr>
              <a:t>Slide 13</a:t>
            </a:r>
          </a:p>
        </p:txBody>
      </p:sp>
      <p:sp>
        <p:nvSpPr>
          <p:cNvPr id="5" name="">
            <a:extLst xmlns:a="http://schemas.openxmlformats.org/drawingml/2006/main">
              <a:ext uri="{FF2B5EF4-FFF2-40B4-BE49-F238E27FC236}">
                <a16:creationId xmlns:a16="http://schemas.microsoft.com/office/drawing/2014/main" id="{BACF8393-BB62-4F59-95DC-ADDA5B52C0B5}"/>
              </a:ext>
            </a:extLst>
          </p:cNvPr>
          <p:cNvSpPr>
            <a:spLocks xmlns:a="http://schemas.openxmlformats.org/drawingml/2006/main" noGrp="1"/>
          </p:cNvSpPr>
          <p:nvPr/>
        </p:nvSpPr>
        <p:spPr>
          <a:xfrm xmlns:a="http://schemas.openxmlformats.org/drawingml/2006/main">
            <a:off x="6629400" y="971550"/>
            <a:ext cx="3829050" cy="270510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0889E703-F2E5-454F-A3F6-CB911F966527}"/>
              </a:ext>
            </a:extLst>
          </p:cNvPr>
          <p:cNvSpPr>
            <a:spLocks xmlns:a="http://schemas.openxmlformats.org/drawingml/2006/main" noGrp="1"/>
          </p:cNvSpPr>
          <p:nvPr/>
        </p:nvSpPr>
        <p:spPr>
          <a:xfrm xmlns:a="http://schemas.openxmlformats.org/drawingml/2006/main">
            <a:off x="6191250" y="685800"/>
            <a:ext cx="3829050" cy="2705100"/>
          </a:xfrm>
          <a:prstGeom xmlns:a="http://schemas.openxmlformats.org/drawingml/2006/main" prst="rect">
            <a:avLst/>
          </a:prstGeom>
          <a:solidFill xmlns:a="http://schemas.openxmlformats.org/drawingml/2006/main">
            <a:srgbClr val="000000">
              <a:alpha val="0"/>
            </a:srgbClr>
          </a:solidFill>
          <a:ln xmlns:a="http://schemas.openxmlformats.org/drawingml/2006/main" w="9525">
            <a:solidFill>
              <a:srgbClr val="18202C"/>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2968dc2fef546c2"/>
          <a:stretch xmlns:a="http://schemas.openxmlformats.org/drawingml/2006/main"/>
        </p:blipFill>
        <p:spPr>
          <a:xfrm xmlns:a="http://schemas.openxmlformats.org/drawingml/2006/main">
            <a:off x="7379552" y="1257300"/>
            <a:ext cx="1766771" cy="17145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A32594C-E3C3-46B0-AEEE-DE8A6F70D8E2}"/>
              </a:ext>
            </a:extLst>
          </p:cNvPr>
          <p:cNvSpPr>
            <a:spLocks xmlns:a="http://schemas.openxmlformats.org/drawingml/2006/main" noGrp="1"/>
          </p:cNvSpPr>
          <p:nvPr/>
        </p:nvSpPr>
        <p:spPr>
          <a:xfrm xmlns:a="http://schemas.openxmlformats.org/drawingml/2006/main">
            <a:off x="10287000" y="4810125"/>
            <a:ext cx="876300" cy="304800"/>
          </a:xfrm>
          <a:prstGeom xmlns:a="http://schemas.openxmlformats.org/drawingml/2006/main" prst="rect">
            <a:avLst/>
          </a:prstGeom>
          <a:solidFill xmlns:a="http://schemas.openxmlformats.org/drawingml/2006/main">
            <a:srgbClr val="F45B6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50BF410A-FB10-49B5-BC6F-EEEE42E07A80}"/>
              </a:ext>
            </a:extLst>
          </p:cNvPr>
          <p:cNvSpPr>
            <a:spLocks xmlns:a="http://schemas.openxmlformats.org/drawingml/2006/main" noGrp="1"/>
          </p:cNvSpPr>
          <p:nvPr/>
        </p:nvSpPr>
        <p:spPr>
          <a:xfrm xmlns:a="http://schemas.openxmlformats.org/drawingml/2006/main">
            <a:off x="10487025" y="48768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Q&amp;A</a:t>
            </a:r>
          </a:p>
        </p:txBody>
      </p:sp>
      <p:sp>
        <p:nvSpPr>
          <p:cNvPr id="10" name="">
            <a:extLst xmlns:a="http://schemas.openxmlformats.org/drawingml/2006/main">
              <a:ext uri="{FF2B5EF4-FFF2-40B4-BE49-F238E27FC236}">
                <a16:creationId xmlns:a16="http://schemas.microsoft.com/office/drawing/2014/main" id="{66051CB4-E82D-4994-B38D-57C0771F4DF4}"/>
              </a:ext>
            </a:extLst>
          </p:cNvPr>
          <p:cNvSpPr>
            <a:spLocks xmlns:a="http://schemas.openxmlformats.org/drawingml/2006/main" noGrp="1"/>
          </p:cNvSpPr>
          <p:nvPr/>
        </p:nvSpPr>
        <p:spPr>
          <a:xfrm xmlns:a="http://schemas.openxmlformats.org/drawingml/2006/main">
            <a:off x="6191250" y="4076700"/>
            <a:ext cx="4572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F45B63"/>
                </a:solidFill>
                <a:latin typeface="Aptos Display"/>
                <a:ea typeface="Aptos Display"/>
                <a:cs typeface="Aptos Display"/>
              </a:defRPr>
            </a:pPr>
            <a:r>
              <a:rPr sz="1950" b="1">
                <a:solidFill>
                  <a:srgbClr val="F45B63"/>
                </a:solidFill>
                <a:latin typeface="Aptos Display"/>
                <a:ea typeface="Aptos Display"/>
                <a:cs typeface="Aptos Display"/>
              </a:rPr>
              <a:t>CẢM ƠN HỘI ĐỒNG ĐÃ LẮNG NGHE</a:t>
            </a:r>
          </a:p>
        </p:txBody>
      </p:sp>
      <p:sp>
        <p:nvSpPr>
          <p:cNvPr id="11" name="">
            <a:extLst xmlns:a="http://schemas.openxmlformats.org/drawingml/2006/main">
              <a:ext uri="{FF2B5EF4-FFF2-40B4-BE49-F238E27FC236}">
                <a16:creationId xmlns:a16="http://schemas.microsoft.com/office/drawing/2014/main" id="{28C33FD3-CF06-4D51-9DAC-68CDCB064B07}"/>
              </a:ext>
            </a:extLst>
          </p:cNvPr>
          <p:cNvSpPr>
            <a:spLocks xmlns:a="http://schemas.openxmlformats.org/drawingml/2006/main" noGrp="1"/>
          </p:cNvSpPr>
          <p:nvPr/>
        </p:nvSpPr>
        <p:spPr>
          <a:xfrm xmlns:a="http://schemas.openxmlformats.org/drawingml/2006/main">
            <a:off x="6191250" y="4514850"/>
            <a:ext cx="3429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6B7280"/>
                </a:solidFill>
                <a:latin typeface="Aptos"/>
                <a:ea typeface="Aptos"/>
                <a:cs typeface="Aptos"/>
              </a:defRPr>
            </a:pPr>
            <a:r>
              <a:rPr sz="1350" b="0">
                <a:solidFill>
                  <a:srgbClr val="6B7280"/>
                </a:solidFill>
                <a:latin typeface="Aptos"/>
                <a:ea typeface="Aptos"/>
                <a:cs typeface="Aptos"/>
              </a:rPr>
              <a:t>Mạc Văn Vinh - 28211152394</a:t>
            </a:r>
          </a:p>
        </p:txBody>
      </p:sp>
      <p:sp>
        <p:nvSpPr>
          <p:cNvPr id="12" name="">
            <a:extLst xmlns:a="http://schemas.openxmlformats.org/drawingml/2006/main">
              <a:ext uri="{FF2B5EF4-FFF2-40B4-BE49-F238E27FC236}">
                <a16:creationId xmlns:a16="http://schemas.microsoft.com/office/drawing/2014/main" id="{954F211F-711E-4D92-AEFD-1FF3FECAB57C}"/>
              </a:ext>
            </a:extLst>
          </p:cNvPr>
          <p:cNvSpPr>
            <a:spLocks xmlns:a="http://schemas.openxmlformats.org/drawingml/2006/main" noGrp="1"/>
          </p:cNvSpPr>
          <p:nvPr/>
        </p:nvSpPr>
        <p:spPr>
          <a:xfrm xmlns:a="http://schemas.openxmlformats.org/drawingml/2006/main">
            <a:off x="6191250" y="4800600"/>
            <a:ext cx="3714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202631"/>
                </a:solidFill>
                <a:latin typeface="Aptos"/>
                <a:ea typeface="Aptos"/>
                <a:cs typeface="Aptos"/>
              </a:defRPr>
            </a:pPr>
            <a:r>
              <a:rPr sz="1125" b="0">
                <a:solidFill>
                  <a:srgbClr val="202631"/>
                </a:solidFill>
                <a:latin typeface="Aptos"/>
                <a:ea typeface="Aptos"/>
                <a:cs typeface="Aptos"/>
              </a:rPr>
              <a:t>Student eWallet | Khóa luận tốt nghiệp CNTT</a:t>
            </a:r>
          </a:p>
        </p:txBody>
      </p:sp>
    </p:spTree>
    <p:extLst>
      <p:ext uri="{BB962C8B-B14F-4D97-AF65-F5344CB8AC3E}">
        <p14:creationId xmlns:p14="http://schemas.microsoft.com/office/powerpoint/2010/main" val="13043505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2026-05-17T05:58:41.3800000Z</dcterms:created>
  <dcterms:modified xsi:type="dcterms:W3CDTF">2026-05-17T05:58:41.3800000Z</dcterms:modified>
</coreProperties>
</file>